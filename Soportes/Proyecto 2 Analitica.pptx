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9" r:id="rId4"/>
  </p:sldMasterIdLst>
  <p:notesMasterIdLst>
    <p:notesMasterId r:id="rId23"/>
  </p:notesMasterIdLst>
  <p:handoutMasterIdLst>
    <p:handoutMasterId r:id="rId24"/>
  </p:handoutMasterIdLst>
  <p:sldIdLst>
    <p:sldId id="382" r:id="rId5"/>
    <p:sldId id="357" r:id="rId6"/>
    <p:sldId id="398" r:id="rId7"/>
    <p:sldId id="410" r:id="rId8"/>
    <p:sldId id="421" r:id="rId9"/>
    <p:sldId id="414" r:id="rId10"/>
    <p:sldId id="415" r:id="rId11"/>
    <p:sldId id="434" r:id="rId12"/>
    <p:sldId id="362" r:id="rId13"/>
    <p:sldId id="387" r:id="rId14"/>
    <p:sldId id="432" r:id="rId15"/>
    <p:sldId id="389" r:id="rId16"/>
    <p:sldId id="388" r:id="rId17"/>
    <p:sldId id="411" r:id="rId18"/>
    <p:sldId id="366" r:id="rId19"/>
    <p:sldId id="374" r:id="rId20"/>
    <p:sldId id="377" r:id="rId21"/>
    <p:sldId id="36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35D"/>
    <a:srgbClr val="F9E0B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E6C853-56ED-4DB8-A0B3-9B069D648EDA}" v="1400" dt="2026-05-26T00:11:13.111"/>
    <p1510:client id="{D066F702-E068-E223-D384-A62385D090FF}" v="1236" dt="2026-05-25T23:53:04.820"/>
    <p1510:client id="{E3960626-E825-4191-AA57-A481CA43F42D}" v="94" dt="2026-05-25T15:58:23.988"/>
  </p1510:revLst>
</p1510:revInfo>
</file>

<file path=ppt/tableStyles.xml><?xml version="1.0" encoding="utf-8"?>
<a:tblStyleLst xmlns:a="http://schemas.openxmlformats.org/drawingml/2006/main" def="{1E171933-4619-4E11-9A3F-F7608DF75F80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8/10/relationships/authors" Target="author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title>
      <c:tx>
        <c:rich>
          <a:bodyPr/>
          <a:lstStyle/>
          <a:p>
            <a:pPr>
              <a:defRPr sz="1400" b="1">
                <a:solidFill>
                  <a:srgbClr val="1F4E8C"/>
                </a:solidFill>
              </a:defRPr>
            </a:pPr>
            <a:r>
              <a:rPr lang="es-CO" sz="1400" b="1">
                <a:solidFill>
                  <a:srgbClr val="1F4E8C"/>
                </a:solidFill>
              </a:rPr>
              <a:t>Distribución de punt_global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Frecuencia</c:v>
          </c:tx>
          <c:spPr>
            <a:solidFill>
              <a:srgbClr val="3B82C4"/>
            </a:solidFill>
            <a:ln>
              <a:solidFill>
                <a:srgbClr val="1F4E8C"/>
              </a:solidFill>
            </a:ln>
          </c:spPr>
          <c:invertIfNegative val="1"/>
          <c:cat>
            <c:strLit>
              <c:ptCount val="16"/>
              <c:pt idx="0">
                <c:v>140</c:v>
              </c:pt>
              <c:pt idx="1">
                <c:v>150</c:v>
              </c:pt>
              <c:pt idx="2">
                <c:v>160</c:v>
              </c:pt>
              <c:pt idx="3">
                <c:v>170</c:v>
              </c:pt>
              <c:pt idx="4">
                <c:v>180</c:v>
              </c:pt>
              <c:pt idx="5">
                <c:v>190</c:v>
              </c:pt>
              <c:pt idx="6">
                <c:v>200</c:v>
              </c:pt>
              <c:pt idx="7">
                <c:v>210</c:v>
              </c:pt>
              <c:pt idx="8">
                <c:v>220</c:v>
              </c:pt>
              <c:pt idx="9">
                <c:v>230</c:v>
              </c:pt>
              <c:pt idx="10">
                <c:v>240</c:v>
              </c:pt>
              <c:pt idx="11">
                <c:v>250</c:v>
              </c:pt>
              <c:pt idx="12">
                <c:v>260</c:v>
              </c:pt>
              <c:pt idx="13">
                <c:v>270</c:v>
              </c:pt>
              <c:pt idx="14">
                <c:v>280</c:v>
              </c:pt>
              <c:pt idx="15">
                <c:v>290</c:v>
              </c:pt>
            </c:strLit>
          </c:cat>
          <c:val>
            <c:numLit>
              <c:formatCode>General</c:formatCode>
              <c:ptCount val="16"/>
              <c:pt idx="0">
                <c:v>2800</c:v>
              </c:pt>
              <c:pt idx="1">
                <c:v>9900</c:v>
              </c:pt>
              <c:pt idx="2">
                <c:v>16800</c:v>
              </c:pt>
              <c:pt idx="3">
                <c:v>21400</c:v>
              </c:pt>
              <c:pt idx="4">
                <c:v>24200</c:v>
              </c:pt>
              <c:pt idx="5">
                <c:v>24700</c:v>
              </c:pt>
              <c:pt idx="6">
                <c:v>23800</c:v>
              </c:pt>
              <c:pt idx="7">
                <c:v>21100</c:v>
              </c:pt>
              <c:pt idx="8">
                <c:v>17700</c:v>
              </c:pt>
              <c:pt idx="9">
                <c:v>14900</c:v>
              </c:pt>
              <c:pt idx="10">
                <c:v>11100</c:v>
              </c:pt>
              <c:pt idx="11">
                <c:v>9300</c:v>
              </c:pt>
              <c:pt idx="12">
                <c:v>5700</c:v>
              </c:pt>
              <c:pt idx="13">
                <c:v>3400</c:v>
              </c:pt>
              <c:pt idx="14">
                <c:v>1700</c:v>
              </c:pt>
              <c:pt idx="15">
                <c:v>600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1F4E8C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718F-4E97-A12B-E86F42A54E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0">
                <a:solidFill>
                  <a:srgbClr val="1F4E8C"/>
                </a:solidFill>
              </a:defRPr>
            </a:pPr>
            <a:endParaRPr lang="es-CO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F4E8C"/>
                </a:solidFill>
              </a:defRPr>
            </a:pPr>
            <a:endParaRPr lang="es-CO"/>
          </a:p>
        </c:txPr>
        <c:crossAx val="1"/>
        <c:crosses val="autoZero"/>
        <c:crossBetween val="between"/>
      </c:valAx>
    </c:plotArea>
    <c:plotVisOnly val="1"/>
    <c:dispBlanksAs val="gap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title>
      <c:tx>
        <c:rich>
          <a:bodyPr/>
          <a:lstStyle/>
          <a:p>
            <a:pPr>
              <a:defRPr sz="1400" b="1">
                <a:solidFill>
                  <a:srgbClr val="1F4E8C"/>
                </a:solidFill>
              </a:defRPr>
            </a:pPr>
            <a:r>
              <a:rPr lang="es-CO" sz="1400" b="1">
                <a:solidFill>
                  <a:srgbClr val="1F4E8C"/>
                </a:solidFill>
              </a:rPr>
              <a:t>Top 10 variables COLE vs punt_global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Correlación</c:v>
          </c:tx>
          <c:spPr>
            <a:solidFill>
              <a:srgbClr val="3B82C4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1F4E8C"/>
              </a:solidFill>
            </c:spPr>
            <c:extLst>
              <c:ext xmlns:c16="http://schemas.microsoft.com/office/drawing/2014/chart" uri="{C3380CC4-5D6E-409C-BE32-E72D297353CC}">
                <c16:uniqueId val="{00000001-07EC-46E9-8950-A75B0121FC4E}"/>
              </c:ext>
            </c:extLst>
          </c:dPt>
          <c:dPt>
            <c:idx val="1"/>
            <c:invertIfNegative val="0"/>
            <c:bubble3D val="0"/>
            <c:spPr>
              <a:solidFill>
                <a:srgbClr val="1F4E8C"/>
              </a:solidFill>
            </c:spPr>
            <c:extLst>
              <c:ext xmlns:c16="http://schemas.microsoft.com/office/drawing/2014/chart" uri="{C3380CC4-5D6E-409C-BE32-E72D297353CC}">
                <c16:uniqueId val="{00000003-07EC-46E9-8950-A75B0121FC4E}"/>
              </c:ext>
            </c:extLst>
          </c:dPt>
          <c:dPt>
            <c:idx val="2"/>
            <c:invertIfNegative val="0"/>
            <c:bubble3D val="0"/>
            <c:spPr>
              <a:solidFill>
                <a:srgbClr val="1F4E8C"/>
              </a:solidFill>
            </c:spPr>
            <c:extLst>
              <c:ext xmlns:c16="http://schemas.microsoft.com/office/drawing/2014/chart" uri="{C3380CC4-5D6E-409C-BE32-E72D297353CC}">
                <c16:uniqueId val="{00000005-07EC-46E9-8950-A75B0121FC4E}"/>
              </c:ext>
            </c:extLst>
          </c:dPt>
          <c:dPt>
            <c:idx val="3"/>
            <c:invertIfNegative val="0"/>
            <c:bubble3D val="0"/>
            <c:spPr>
              <a:solidFill>
                <a:srgbClr val="1F4E8C"/>
              </a:solidFill>
            </c:spPr>
            <c:extLst>
              <c:ext xmlns:c16="http://schemas.microsoft.com/office/drawing/2014/chart" uri="{C3380CC4-5D6E-409C-BE32-E72D297353CC}">
                <c16:uniqueId val="{00000007-07EC-46E9-8950-A75B0121FC4E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07EC-46E9-8950-A75B0121FC4E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07EC-46E9-8950-A75B0121FC4E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07EC-46E9-8950-A75B0121FC4E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07EC-46E9-8950-A75B0121FC4E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07EC-46E9-8950-A75B0121FC4E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07EC-46E9-8950-A75B0121FC4E}"/>
              </c:ext>
            </c:extLst>
          </c:dPt>
          <c:cat>
            <c:strLit>
              <c:ptCount val="10"/>
              <c:pt idx="0">
                <c:v>jornada_noche</c:v>
              </c:pt>
              <c:pt idx="1">
                <c:v>calendario_a</c:v>
              </c:pt>
              <c:pt idx="2">
                <c:v>naturaleza_oficial</c:v>
              </c:pt>
              <c:pt idx="3">
                <c:v>bilingue_n</c:v>
              </c:pt>
              <c:pt idx="4">
                <c:v>area_urbano</c:v>
              </c:pt>
              <c:pt idx="5">
                <c:v>genero_femenino</c:v>
              </c:pt>
              <c:pt idx="6">
                <c:v>bilingue_s</c:v>
              </c:pt>
              <c:pt idx="7">
                <c:v>naturaleza_no_oficial</c:v>
              </c:pt>
              <c:pt idx="8">
                <c:v>calendario_b</c:v>
              </c:pt>
              <c:pt idx="9">
                <c:v>jornada_completa</c:v>
              </c:pt>
            </c:strLit>
          </c:cat>
          <c:val>
            <c:numLit>
              <c:formatCode>General</c:formatCode>
              <c:ptCount val="10"/>
              <c:pt idx="0">
                <c:v>-0.28000000000000003</c:v>
              </c:pt>
              <c:pt idx="1">
                <c:v>-0.23</c:v>
              </c:pt>
              <c:pt idx="2">
                <c:v>-0.21</c:v>
              </c:pt>
              <c:pt idx="3">
                <c:v>-0.21</c:v>
              </c:pt>
              <c:pt idx="4">
                <c:v>0.1</c:v>
              </c:pt>
              <c:pt idx="5">
                <c:v>0.18</c:v>
              </c:pt>
              <c:pt idx="6">
                <c:v>0.21</c:v>
              </c:pt>
              <c:pt idx="7">
                <c:v>0.21</c:v>
              </c:pt>
              <c:pt idx="8">
                <c:v>0.23</c:v>
              </c:pt>
              <c:pt idx="9">
                <c:v>0.35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4-07EC-46E9-8950-A75B0121FC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low"/>
        <c:txPr>
          <a:bodyPr/>
          <a:lstStyle/>
          <a:p>
            <a:pPr>
              <a:defRPr sz="900">
                <a:solidFill>
                  <a:srgbClr val="1F4E8C"/>
                </a:solidFill>
              </a:defRPr>
            </a:pPr>
            <a:endParaRPr lang="es-CO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F4E8C"/>
                </a:solidFill>
              </a:defRPr>
            </a:pPr>
            <a:endParaRPr lang="es-CO"/>
          </a:p>
        </c:txPr>
        <c:crossAx val="1"/>
        <c:crosses val="autoZero"/>
        <c:crossBetween val="between"/>
      </c:valAx>
    </c:plotArea>
    <c:plotVisOnly val="1"/>
    <c:dispBlanksAs val="gap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title>
      <c:tx>
        <c:rich>
          <a:bodyPr/>
          <a:lstStyle/>
          <a:p>
            <a:pPr>
              <a:defRPr sz="1400" b="1">
                <a:solidFill>
                  <a:srgbClr val="1F4E8C"/>
                </a:solidFill>
              </a:defRPr>
            </a:pPr>
            <a:r>
              <a:rPr lang="es-CO" sz="1400" b="1">
                <a:solidFill>
                  <a:srgbClr val="1F4E8C"/>
                </a:solidFill>
              </a:rPr>
              <a:t>Variables numéricas vs punt_global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Correlación</c:v>
          </c:tx>
          <c:spPr>
            <a:solidFill>
              <a:srgbClr val="3B82C4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1F4E8C"/>
              </a:solidFill>
            </c:spPr>
            <c:extLst>
              <c:ext xmlns:c16="http://schemas.microsoft.com/office/drawing/2014/chart" uri="{C3380CC4-5D6E-409C-BE32-E72D297353CC}">
                <c16:uniqueId val="{00000001-0684-40AE-99A7-42FAFEF0A538}"/>
              </c:ext>
            </c:extLst>
          </c:dPt>
          <c:dPt>
            <c:idx val="1"/>
            <c:invertIfNegative val="0"/>
            <c:bubble3D val="0"/>
            <c:spPr>
              <a:solidFill>
                <a:srgbClr val="1F4E8C"/>
              </a:solidFill>
            </c:spPr>
            <c:extLst>
              <c:ext xmlns:c16="http://schemas.microsoft.com/office/drawing/2014/chart" uri="{C3380CC4-5D6E-409C-BE32-E72D297353CC}">
                <c16:uniqueId val="{00000003-0684-40AE-99A7-42FAFEF0A538}"/>
              </c:ext>
            </c:extLst>
          </c:dPt>
          <c:dPt>
            <c:idx val="2"/>
            <c:invertIfNegative val="0"/>
            <c:bubble3D val="0"/>
            <c:spPr>
              <a:solidFill>
                <a:srgbClr val="1F4E8C"/>
              </a:solidFill>
            </c:spPr>
            <c:extLst>
              <c:ext xmlns:c16="http://schemas.microsoft.com/office/drawing/2014/chart" uri="{C3380CC4-5D6E-409C-BE32-E72D297353CC}">
                <c16:uniqueId val="{00000005-0684-40AE-99A7-42FAFEF0A538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0684-40AE-99A7-42FAFEF0A538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0684-40AE-99A7-42FAFEF0A538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0684-40AE-99A7-42FAFEF0A538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0684-40AE-99A7-42FAFEF0A538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0684-40AE-99A7-42FAFEF0A538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0684-40AE-99A7-42FAFEF0A538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0684-40AE-99A7-42FAFEF0A538}"/>
              </c:ext>
            </c:extLst>
          </c:dPt>
          <c:dPt>
            <c:idx val="10"/>
            <c:invertIfNegative val="0"/>
            <c:bubble3D val="0"/>
            <c:spPr>
              <a:solidFill>
                <a:srgbClr val="1F4E8C"/>
              </a:solidFill>
            </c:spPr>
            <c:extLst>
              <c:ext xmlns:c16="http://schemas.microsoft.com/office/drawing/2014/chart" uri="{C3380CC4-5D6E-409C-BE32-E72D297353CC}">
                <c16:uniqueId val="{00000015-0684-40AE-99A7-42FAFEF0A538}"/>
              </c:ext>
            </c:extLst>
          </c:dPt>
          <c:dPt>
            <c:idx val="11"/>
            <c:invertIfNegative val="0"/>
            <c:bubble3D val="0"/>
            <c:spPr>
              <a:solidFill>
                <a:srgbClr val="1F4E8C"/>
              </a:solidFill>
            </c:spPr>
            <c:extLst>
              <c:ext xmlns:c16="http://schemas.microsoft.com/office/drawing/2014/chart" uri="{C3380CC4-5D6E-409C-BE32-E72D297353CC}">
                <c16:uniqueId val="{00000017-0684-40AE-99A7-42FAFEF0A538}"/>
              </c:ext>
            </c:extLst>
          </c:dPt>
          <c:dPt>
            <c:idx val="12"/>
            <c:invertIfNegative val="0"/>
            <c:bubble3D val="0"/>
            <c:spPr>
              <a:solidFill>
                <a:srgbClr val="1F4E8C"/>
              </a:solidFill>
            </c:spPr>
            <c:extLst>
              <c:ext xmlns:c16="http://schemas.microsoft.com/office/drawing/2014/chart" uri="{C3380CC4-5D6E-409C-BE32-E72D297353CC}">
                <c16:uniqueId val="{00000019-0684-40AE-99A7-42FAFEF0A538}"/>
              </c:ext>
            </c:extLst>
          </c:dPt>
          <c:dPt>
            <c:idx val="13"/>
            <c:invertIfNegative val="0"/>
            <c:bubble3D val="0"/>
            <c:spPr>
              <a:solidFill>
                <a:srgbClr val="1F4E8C"/>
              </a:solidFill>
            </c:spPr>
            <c:extLst>
              <c:ext xmlns:c16="http://schemas.microsoft.com/office/drawing/2014/chart" uri="{C3380CC4-5D6E-409C-BE32-E72D297353CC}">
                <c16:uniqueId val="{0000001B-0684-40AE-99A7-42FAFEF0A538}"/>
              </c:ext>
            </c:extLst>
          </c:dPt>
          <c:dPt>
            <c:idx val="14"/>
            <c:invertIfNegative val="0"/>
            <c:bubble3D val="0"/>
            <c:spPr>
              <a:solidFill>
                <a:srgbClr val="1F4E8C"/>
              </a:solidFill>
            </c:spPr>
            <c:extLst>
              <c:ext xmlns:c16="http://schemas.microsoft.com/office/drawing/2014/chart" uri="{C3380CC4-5D6E-409C-BE32-E72D297353CC}">
                <c16:uniqueId val="{0000001D-0684-40AE-99A7-42FAFEF0A538}"/>
              </c:ext>
            </c:extLst>
          </c:dPt>
          <c:cat>
            <c:strLit>
              <c:ptCount val="15"/>
              <c:pt idx="0">
                <c:v>jornada_noche</c:v>
              </c:pt>
              <c:pt idx="1">
                <c:v>calendario_a</c:v>
              </c:pt>
              <c:pt idx="2">
                <c:v>automovil_no</c:v>
              </c:pt>
              <c:pt idx="3">
                <c:v>naturaleza_no_oficial</c:v>
              </c:pt>
              <c:pt idx="4">
                <c:v>calendario_b</c:v>
              </c:pt>
              <c:pt idx="5">
                <c:v>edu_padre</c:v>
              </c:pt>
              <c:pt idx="6">
                <c:v>automovil_si</c:v>
              </c:pt>
              <c:pt idx="7">
                <c:v>edu_madre</c:v>
              </c:pt>
              <c:pt idx="8">
                <c:v>estrato</c:v>
              </c:pt>
              <c:pt idx="9">
                <c:v>jornada_completa</c:v>
              </c:pt>
              <c:pt idx="10">
                <c:v>punt_ingles</c:v>
              </c:pt>
              <c:pt idx="11">
                <c:v>punt_lectura</c:v>
              </c:pt>
              <c:pt idx="12">
                <c:v>punt_matematicas</c:v>
              </c:pt>
              <c:pt idx="13">
                <c:v>punt_sociales</c:v>
              </c:pt>
              <c:pt idx="14">
                <c:v>punt_c_naturales</c:v>
              </c:pt>
            </c:strLit>
          </c:cat>
          <c:val>
            <c:numLit>
              <c:formatCode>General</c:formatCode>
              <c:ptCount val="15"/>
              <c:pt idx="0">
                <c:v>-0.28000000000000003</c:v>
              </c:pt>
              <c:pt idx="1">
                <c:v>-0.22</c:v>
              </c:pt>
              <c:pt idx="2">
                <c:v>-0.2</c:v>
              </c:pt>
              <c:pt idx="3">
                <c:v>0.2</c:v>
              </c:pt>
              <c:pt idx="4">
                <c:v>0.22</c:v>
              </c:pt>
              <c:pt idx="5">
                <c:v>0.23</c:v>
              </c:pt>
              <c:pt idx="6">
                <c:v>0.24</c:v>
              </c:pt>
              <c:pt idx="7">
                <c:v>0.25</c:v>
              </c:pt>
              <c:pt idx="8">
                <c:v>0.28000000000000003</c:v>
              </c:pt>
              <c:pt idx="9">
                <c:v>0.35</c:v>
              </c:pt>
              <c:pt idx="10">
                <c:v>0.8</c:v>
              </c:pt>
              <c:pt idx="11">
                <c:v>0.89</c:v>
              </c:pt>
              <c:pt idx="12">
                <c:v>0.9</c:v>
              </c:pt>
              <c:pt idx="13">
                <c:v>0.91</c:v>
              </c:pt>
              <c:pt idx="14">
                <c:v>0.92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E-0684-40AE-99A7-42FAFEF0A5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low"/>
        <c:txPr>
          <a:bodyPr/>
          <a:lstStyle/>
          <a:p>
            <a:pPr>
              <a:defRPr sz="800">
                <a:solidFill>
                  <a:srgbClr val="1F4E8C"/>
                </a:solidFill>
              </a:defRPr>
            </a:pPr>
            <a:endParaRPr lang="es-CO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F4E8C"/>
                </a:solidFill>
              </a:defRPr>
            </a:pPr>
            <a:endParaRPr lang="es-CO"/>
          </a:p>
        </c:txPr>
        <c:crossAx val="1"/>
        <c:crosses val="autoZero"/>
        <c:crossBetween val="between"/>
      </c:valAx>
    </c:plotArea>
    <c:plotVisOnly val="1"/>
    <c:dispBlanksAs val="gap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ROC (AUC=0,744)</c:v>
          </c:tx>
          <c:spPr>
            <a:ln w="28575" cap="rnd">
              <a:solidFill>
                <a:srgbClr val="3B82C4"/>
              </a:solidFill>
              <a:round/>
            </a:ln>
          </c:spPr>
          <c:marker>
            <c:symbol val="none"/>
          </c:marker>
          <c:xVal>
            <c:numRef>
              <c:f>Sheet1!$A$1</c:f>
              <c:numCache>
                <c:formatCode>General</c:formatCode>
                <c:ptCount val="15"/>
                <c:pt idx="0">
                  <c:v>0</c:v>
                </c:pt>
                <c:pt idx="1">
                  <c:v>0.02</c:v>
                </c:pt>
                <c:pt idx="2">
                  <c:v>0.05</c:v>
                </c:pt>
                <c:pt idx="3">
                  <c:v>0.1</c:v>
                </c:pt>
                <c:pt idx="4">
                  <c:v>0.15</c:v>
                </c:pt>
                <c:pt idx="5">
                  <c:v>0.2</c:v>
                </c:pt>
                <c:pt idx="6">
                  <c:v>0.25</c:v>
                </c:pt>
                <c:pt idx="7">
                  <c:v>0.3</c:v>
                </c:pt>
                <c:pt idx="8">
                  <c:v>0.4</c:v>
                </c:pt>
                <c:pt idx="9">
                  <c:v>0.5</c:v>
                </c:pt>
                <c:pt idx="10">
                  <c:v>0.6</c:v>
                </c:pt>
                <c:pt idx="11">
                  <c:v>0.7</c:v>
                </c:pt>
                <c:pt idx="12">
                  <c:v>0.8</c:v>
                </c:pt>
                <c:pt idx="13">
                  <c:v>0.9</c:v>
                </c:pt>
                <c:pt idx="14">
                  <c:v>1</c:v>
                </c:pt>
              </c:numCache>
            </c:numRef>
          </c:xVal>
          <c:yVal>
            <c:numRef>
              <c:f>Sheet1!$B$1</c:f>
              <c:numCache>
                <c:formatCode>General</c:formatCode>
                <c:ptCount val="15"/>
                <c:pt idx="0">
                  <c:v>0</c:v>
                </c:pt>
                <c:pt idx="1">
                  <c:v>0.2</c:v>
                </c:pt>
                <c:pt idx="2">
                  <c:v>0.35</c:v>
                </c:pt>
                <c:pt idx="3">
                  <c:v>0.45</c:v>
                </c:pt>
                <c:pt idx="4">
                  <c:v>0.55000000000000004</c:v>
                </c:pt>
                <c:pt idx="5">
                  <c:v>0.62</c:v>
                </c:pt>
                <c:pt idx="6">
                  <c:v>0.66</c:v>
                </c:pt>
                <c:pt idx="7">
                  <c:v>0.7</c:v>
                </c:pt>
                <c:pt idx="8">
                  <c:v>0.78</c:v>
                </c:pt>
                <c:pt idx="9">
                  <c:v>0.84</c:v>
                </c:pt>
                <c:pt idx="10">
                  <c:v>0.89</c:v>
                </c:pt>
                <c:pt idx="11">
                  <c:v>0.93</c:v>
                </c:pt>
                <c:pt idx="12">
                  <c:v>0.96</c:v>
                </c:pt>
                <c:pt idx="13">
                  <c:v>0.98</c:v>
                </c:pt>
                <c:pt idx="14">
                  <c:v>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8B21-4CD5-8F99-5754CE3CB13D}"/>
            </c:ext>
          </c:extLst>
        </c:ser>
        <c:ser>
          <c:idx val="1"/>
          <c:order val="1"/>
          <c:tx>
            <c:v>Aleatorio</c:v>
          </c:tx>
          <c:spPr>
            <a:ln w="19050" cap="rnd">
              <a:solidFill>
                <a:srgbClr val="888888"/>
              </a:solidFill>
              <a:prstDash val="dash"/>
            </a:ln>
          </c:spPr>
          <c:marker>
            <c:symbol val="none"/>
          </c:marker>
          <c:xVal>
            <c:numRef>
              <c:f>Sheet1!$C$1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Sheet1!$D$1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B21-4CD5-8F99-5754CE3CB1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"/>
        <c:axId val="2"/>
      </c:scatterChart>
      <c:valAx>
        <c:axId val="1"/>
        <c:scaling>
          <c:orientation val="minMax"/>
          <c:max val="1"/>
          <c:min val="0"/>
        </c:scaling>
        <c:delete val="0"/>
        <c:axPos val="b"/>
        <c:title>
          <c:tx>
            <c:rich>
              <a:bodyPr rot="0"/>
              <a:lstStyle/>
              <a:p>
                <a:pPr>
                  <a:defRPr sz="1000" b="0">
                    <a:solidFill>
                      <a:srgbClr val="1F4E8C"/>
                    </a:solidFill>
                  </a:defRPr>
                </a:pPr>
                <a:r>
                  <a:rPr lang="es-CO" sz="1000">
                    <a:solidFill>
                      <a:srgbClr val="1F4E8C"/>
                    </a:solidFill>
                  </a:rPr>
                  <a:t>FPR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F4E8C"/>
                </a:solidFill>
              </a:defRPr>
            </a:pPr>
            <a:endParaRPr lang="es-CO"/>
          </a:p>
        </c:txPr>
        <c:crossAx val="2"/>
        <c:crosses val="autoZero"/>
        <c:crossBetween val="midCat"/>
        <c:majorUnit val="0.2"/>
      </c:valAx>
      <c:valAx>
        <c:axId val="2"/>
        <c:scaling>
          <c:orientation val="minMax"/>
          <c:max val="1"/>
          <c:min val="0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 sz="1000">
                    <a:solidFill>
                      <a:srgbClr val="1F4E8C"/>
                    </a:solidFill>
                  </a:defRPr>
                </a:pPr>
                <a:r>
                  <a:rPr lang="es-CO" sz="1000">
                    <a:solidFill>
                      <a:srgbClr val="1F4E8C"/>
                    </a:solidFill>
                  </a:rPr>
                  <a:t>TPR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F4E8C"/>
                </a:solidFill>
              </a:defRPr>
            </a:pPr>
            <a:endParaRPr lang="es-CO"/>
          </a:p>
        </c:txPr>
        <c:crossAx val="1"/>
        <c:crosses val="autoZero"/>
        <c:crossBetween val="midCat"/>
        <c:majorUnit val="0.2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1F4E8C"/>
              </a:solidFill>
            </a:defRPr>
          </a:pPr>
          <a:endParaRPr lang="es-CO"/>
        </a:p>
      </c:txPr>
    </c:legend>
    <c:plotVisOnly val="1"/>
    <c:dispBlanksAs val="gap"/>
    <c:showDLblsOverMax val="1"/>
  </c:char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ROC (AUC=0,768)</c:v>
          </c:tx>
          <c:spPr>
            <a:ln w="28575" cap="rnd">
              <a:solidFill>
                <a:srgbClr val="3B82C4"/>
              </a:solidFill>
              <a:round/>
            </a:ln>
          </c:spPr>
          <c:marker>
            <c:symbol val="none"/>
          </c:marker>
          <c:xVal>
            <c:numRef>
              <c:f>Sheet1!$A$1</c:f>
              <c:numCache>
                <c:formatCode>General</c:formatCode>
                <c:ptCount val="15"/>
                <c:pt idx="0">
                  <c:v>0</c:v>
                </c:pt>
                <c:pt idx="1">
                  <c:v>0.02</c:v>
                </c:pt>
                <c:pt idx="2">
                  <c:v>0.05</c:v>
                </c:pt>
                <c:pt idx="3">
                  <c:v>0.1</c:v>
                </c:pt>
                <c:pt idx="4">
                  <c:v>0.15</c:v>
                </c:pt>
                <c:pt idx="5">
                  <c:v>0.2</c:v>
                </c:pt>
                <c:pt idx="6">
                  <c:v>0.25</c:v>
                </c:pt>
                <c:pt idx="7">
                  <c:v>0.3</c:v>
                </c:pt>
                <c:pt idx="8">
                  <c:v>0.4</c:v>
                </c:pt>
                <c:pt idx="9">
                  <c:v>0.5</c:v>
                </c:pt>
                <c:pt idx="10">
                  <c:v>0.6</c:v>
                </c:pt>
                <c:pt idx="11">
                  <c:v>0.7</c:v>
                </c:pt>
                <c:pt idx="12">
                  <c:v>0.8</c:v>
                </c:pt>
                <c:pt idx="13">
                  <c:v>0.9</c:v>
                </c:pt>
                <c:pt idx="14">
                  <c:v>1</c:v>
                </c:pt>
              </c:numCache>
            </c:numRef>
          </c:xVal>
          <c:yVal>
            <c:numRef>
              <c:f>Sheet1!$B$1</c:f>
              <c:numCache>
                <c:formatCode>General</c:formatCode>
                <c:ptCount val="15"/>
                <c:pt idx="0">
                  <c:v>0</c:v>
                </c:pt>
                <c:pt idx="1">
                  <c:v>0.2</c:v>
                </c:pt>
                <c:pt idx="2">
                  <c:v>0.35</c:v>
                </c:pt>
                <c:pt idx="3">
                  <c:v>0.45</c:v>
                </c:pt>
                <c:pt idx="4">
                  <c:v>0.55000000000000004</c:v>
                </c:pt>
                <c:pt idx="5">
                  <c:v>0.62</c:v>
                </c:pt>
                <c:pt idx="6">
                  <c:v>0.66</c:v>
                </c:pt>
                <c:pt idx="7">
                  <c:v>0.7</c:v>
                </c:pt>
                <c:pt idx="8">
                  <c:v>0.78</c:v>
                </c:pt>
                <c:pt idx="9">
                  <c:v>0.84</c:v>
                </c:pt>
                <c:pt idx="10">
                  <c:v>0.89</c:v>
                </c:pt>
                <c:pt idx="11">
                  <c:v>0.93</c:v>
                </c:pt>
                <c:pt idx="12">
                  <c:v>0.96</c:v>
                </c:pt>
                <c:pt idx="13">
                  <c:v>0.98</c:v>
                </c:pt>
                <c:pt idx="14">
                  <c:v>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8B21-4CD5-8F99-5754CE3CB13D}"/>
            </c:ext>
          </c:extLst>
        </c:ser>
        <c:ser>
          <c:idx val="1"/>
          <c:order val="1"/>
          <c:tx>
            <c:v>Aleatorio</c:v>
          </c:tx>
          <c:spPr>
            <a:ln w="19050" cap="rnd">
              <a:solidFill>
                <a:srgbClr val="888888"/>
              </a:solidFill>
              <a:prstDash val="dash"/>
            </a:ln>
          </c:spPr>
          <c:marker>
            <c:symbol val="none"/>
          </c:marker>
          <c:xVal>
            <c:numRef>
              <c:f>Sheet1!$C$1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Sheet1!$D$1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B21-4CD5-8F99-5754CE3CB1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"/>
        <c:axId val="2"/>
      </c:scatterChart>
      <c:valAx>
        <c:axId val="1"/>
        <c:scaling>
          <c:orientation val="minMax"/>
          <c:max val="1"/>
          <c:min val="0"/>
        </c:scaling>
        <c:delete val="0"/>
        <c:axPos val="b"/>
        <c:title>
          <c:tx>
            <c:rich>
              <a:bodyPr rot="0"/>
              <a:lstStyle/>
              <a:p>
                <a:pPr>
                  <a:defRPr sz="1000" b="0">
                    <a:solidFill>
                      <a:srgbClr val="1F4E8C"/>
                    </a:solidFill>
                  </a:defRPr>
                </a:pPr>
                <a:r>
                  <a:rPr lang="es-CO" sz="1000">
                    <a:solidFill>
                      <a:srgbClr val="1F4E8C"/>
                    </a:solidFill>
                  </a:rPr>
                  <a:t>FPR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F4E8C"/>
                </a:solidFill>
              </a:defRPr>
            </a:pPr>
            <a:endParaRPr lang="es-CO"/>
          </a:p>
        </c:txPr>
        <c:crossAx val="2"/>
        <c:crosses val="autoZero"/>
        <c:crossBetween val="midCat"/>
        <c:majorUnit val="0.2"/>
      </c:valAx>
      <c:valAx>
        <c:axId val="2"/>
        <c:scaling>
          <c:orientation val="minMax"/>
          <c:max val="1"/>
          <c:min val="0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 sz="1000">
                    <a:solidFill>
                      <a:srgbClr val="1F4E8C"/>
                    </a:solidFill>
                  </a:defRPr>
                </a:pPr>
                <a:r>
                  <a:rPr lang="es-CO" sz="1000">
                    <a:solidFill>
                      <a:srgbClr val="1F4E8C"/>
                    </a:solidFill>
                  </a:rPr>
                  <a:t>TPR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F4E8C"/>
                </a:solidFill>
              </a:defRPr>
            </a:pPr>
            <a:endParaRPr lang="es-CO"/>
          </a:p>
        </c:txPr>
        <c:crossAx val="1"/>
        <c:crosses val="autoZero"/>
        <c:crossBetween val="midCat"/>
        <c:majorUnit val="0.2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1F4E8C"/>
              </a:solidFill>
            </a:defRPr>
          </a:pPr>
          <a:endParaRPr lang="es-CO"/>
        </a:p>
      </c:txPr>
    </c:legend>
    <c:plotVisOnly val="1"/>
    <c:dispBlanksAs val="gap"/>
    <c:showDLblsOverMax val="1"/>
  </c:chart>
</c:chartSpace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FD6F4A-01D9-4E9E-99BC-089694030E0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D56BAA-1146-4962-B3B0-A2581B0E4790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s-CO"/>
            <a:t>Contexto y usuario final</a:t>
          </a:r>
          <a:endParaRPr lang="en-US"/>
        </a:p>
      </dgm:t>
    </dgm:pt>
    <dgm:pt modelId="{C9EEBA79-95BA-487C-B298-D94E749B34B5}" type="parTrans" cxnId="{1CF4F877-4BA8-4C24-9949-36F2FA7E74ED}">
      <dgm:prSet/>
      <dgm:spPr/>
      <dgm:t>
        <a:bodyPr/>
        <a:lstStyle/>
        <a:p>
          <a:endParaRPr lang="en-US"/>
        </a:p>
      </dgm:t>
    </dgm:pt>
    <dgm:pt modelId="{65D6D165-5760-4AE1-9A49-B8C582D526E3}" type="sibTrans" cxnId="{1CF4F877-4BA8-4C24-9949-36F2FA7E74ED}">
      <dgm:prSet/>
      <dgm:spPr/>
      <dgm:t>
        <a:bodyPr/>
        <a:lstStyle/>
        <a:p>
          <a:endParaRPr lang="en-US"/>
        </a:p>
      </dgm:t>
    </dgm:pt>
    <dgm:pt modelId="{87FEF605-8AB5-4420-A6BA-D30B0C055FAD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s-CO"/>
            <a:t>Pregunta 1: Variables institucionales</a:t>
          </a:r>
          <a:endParaRPr lang="en-US"/>
        </a:p>
      </dgm:t>
    </dgm:pt>
    <dgm:pt modelId="{FE4D31A7-2AFD-470F-968A-0A39795D9D9E}" type="parTrans" cxnId="{CC451475-5574-4ACB-A21F-C387E618C975}">
      <dgm:prSet/>
      <dgm:spPr/>
      <dgm:t>
        <a:bodyPr/>
        <a:lstStyle/>
        <a:p>
          <a:endParaRPr lang="en-US"/>
        </a:p>
      </dgm:t>
    </dgm:pt>
    <dgm:pt modelId="{BE250971-1ABA-4D30-BD73-E10DAC9FEB36}" type="sibTrans" cxnId="{CC451475-5574-4ACB-A21F-C387E618C975}">
      <dgm:prSet/>
      <dgm:spPr/>
      <dgm:t>
        <a:bodyPr/>
        <a:lstStyle/>
        <a:p>
          <a:endParaRPr lang="en-US"/>
        </a:p>
      </dgm:t>
    </dgm:pt>
    <dgm:pt modelId="{7FB7D652-E485-4ED5-90F5-79845C386745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s-CO"/>
            <a:t>Pregunta 2: Condiciones familiares</a:t>
          </a:r>
          <a:endParaRPr lang="en-US"/>
        </a:p>
      </dgm:t>
    </dgm:pt>
    <dgm:pt modelId="{848BF4DA-E0F2-40F0-A1B5-64663634137A}" type="parTrans" cxnId="{6BCCF36A-2DC1-44BB-ABC3-1F6F32D0080F}">
      <dgm:prSet/>
      <dgm:spPr/>
      <dgm:t>
        <a:bodyPr/>
        <a:lstStyle/>
        <a:p>
          <a:endParaRPr lang="en-US"/>
        </a:p>
      </dgm:t>
    </dgm:pt>
    <dgm:pt modelId="{349F9741-843E-41B6-91B5-A9D864630F71}" type="sibTrans" cxnId="{6BCCF36A-2DC1-44BB-ABC3-1F6F32D0080F}">
      <dgm:prSet/>
      <dgm:spPr/>
      <dgm:t>
        <a:bodyPr/>
        <a:lstStyle/>
        <a:p>
          <a:endParaRPr lang="en-US"/>
        </a:p>
      </dgm:t>
    </dgm:pt>
    <dgm:pt modelId="{4A1019FD-3458-4971-A440-47DF4FB41E25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s-CO"/>
            <a:t>Pregunta 3: Modelo general</a:t>
          </a:r>
          <a:endParaRPr lang="en-US"/>
        </a:p>
      </dgm:t>
    </dgm:pt>
    <dgm:pt modelId="{82EA7F0E-81AF-4BE7-8762-2A94E73FA4A5}" type="parTrans" cxnId="{BEFFE0A6-A958-43C9-A60B-0B081E69AE39}">
      <dgm:prSet/>
      <dgm:spPr/>
      <dgm:t>
        <a:bodyPr/>
        <a:lstStyle/>
        <a:p>
          <a:endParaRPr lang="en-US"/>
        </a:p>
      </dgm:t>
    </dgm:pt>
    <dgm:pt modelId="{05217900-17FE-4E7D-80AD-7121E79A1B8A}" type="sibTrans" cxnId="{BEFFE0A6-A958-43C9-A60B-0B081E69AE39}">
      <dgm:prSet/>
      <dgm:spPr/>
      <dgm:t>
        <a:bodyPr/>
        <a:lstStyle/>
        <a:p>
          <a:endParaRPr lang="en-US"/>
        </a:p>
      </dgm:t>
    </dgm:pt>
    <dgm:pt modelId="{8954FAE3-CE0D-4D1C-9C16-AA36A36D778D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s-CO"/>
            <a:t>Tablero interactivo y despliegue</a:t>
          </a:r>
          <a:endParaRPr lang="en-US"/>
        </a:p>
      </dgm:t>
    </dgm:pt>
    <dgm:pt modelId="{5E684057-BAD9-443F-B62D-9C16AE363DE9}" type="parTrans" cxnId="{257FBA9B-56CD-4DCA-B663-147FFEEC74C3}">
      <dgm:prSet/>
      <dgm:spPr/>
      <dgm:t>
        <a:bodyPr/>
        <a:lstStyle/>
        <a:p>
          <a:endParaRPr lang="en-US"/>
        </a:p>
      </dgm:t>
    </dgm:pt>
    <dgm:pt modelId="{07EC302E-BFC7-4F9C-95E5-90677677058F}" type="sibTrans" cxnId="{257FBA9B-56CD-4DCA-B663-147FFEEC74C3}">
      <dgm:prSet/>
      <dgm:spPr/>
      <dgm:t>
        <a:bodyPr/>
        <a:lstStyle/>
        <a:p>
          <a:endParaRPr lang="en-US"/>
        </a:p>
      </dgm:t>
    </dgm:pt>
    <dgm:pt modelId="{99F67AF7-8785-431C-BC63-A8748419D681}" type="pres">
      <dgm:prSet presAssocID="{84FD6F4A-01D9-4E9E-99BC-089694030E09}" presName="linear" presStyleCnt="0">
        <dgm:presLayoutVars>
          <dgm:animLvl val="lvl"/>
          <dgm:resizeHandles val="exact"/>
        </dgm:presLayoutVars>
      </dgm:prSet>
      <dgm:spPr/>
    </dgm:pt>
    <dgm:pt modelId="{0DC3634C-2481-4B68-8BF9-2881333C8780}" type="pres">
      <dgm:prSet presAssocID="{2AD56BAA-1146-4962-B3B0-A2581B0E479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E837433-6366-4809-8306-305D2BE840D0}" type="pres">
      <dgm:prSet presAssocID="{65D6D165-5760-4AE1-9A49-B8C582D526E3}" presName="spacer" presStyleCnt="0"/>
      <dgm:spPr/>
    </dgm:pt>
    <dgm:pt modelId="{4B0AA57E-0C2F-45ED-8CAD-444CC802C1BB}" type="pres">
      <dgm:prSet presAssocID="{87FEF605-8AB5-4420-A6BA-D30B0C055FA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3B9E94F-609A-4717-9749-F5B4A6E452B1}" type="pres">
      <dgm:prSet presAssocID="{BE250971-1ABA-4D30-BD73-E10DAC9FEB36}" presName="spacer" presStyleCnt="0"/>
      <dgm:spPr/>
    </dgm:pt>
    <dgm:pt modelId="{DA7FF34D-43D0-46D7-9977-DBCF7B61A229}" type="pres">
      <dgm:prSet presAssocID="{7FB7D652-E485-4ED5-90F5-79845C38674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5EA8396-B398-4F96-9128-9CE0FF02E58C}" type="pres">
      <dgm:prSet presAssocID="{349F9741-843E-41B6-91B5-A9D864630F71}" presName="spacer" presStyleCnt="0"/>
      <dgm:spPr/>
    </dgm:pt>
    <dgm:pt modelId="{BA990A8B-06C9-4C84-8102-3FA2A1D04D0B}" type="pres">
      <dgm:prSet presAssocID="{4A1019FD-3458-4971-A440-47DF4FB41E2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7F31106-86E8-4741-99AB-F38F5B12F971}" type="pres">
      <dgm:prSet presAssocID="{05217900-17FE-4E7D-80AD-7121E79A1B8A}" presName="spacer" presStyleCnt="0"/>
      <dgm:spPr/>
    </dgm:pt>
    <dgm:pt modelId="{9D0BE2E9-4436-49AA-AE7A-73B251ED05D6}" type="pres">
      <dgm:prSet presAssocID="{8954FAE3-CE0D-4D1C-9C16-AA36A36D778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E0C9D321-A733-4C03-84FD-626952CC530D}" type="presOf" srcId="{8954FAE3-CE0D-4D1C-9C16-AA36A36D778D}" destId="{9D0BE2E9-4436-49AA-AE7A-73B251ED05D6}" srcOrd="0" destOrd="0" presId="urn:microsoft.com/office/officeart/2005/8/layout/vList2"/>
    <dgm:cxn modelId="{DD0CC22A-5EFC-4772-BE73-F6EF692B7DA6}" type="presOf" srcId="{4A1019FD-3458-4971-A440-47DF4FB41E25}" destId="{BA990A8B-06C9-4C84-8102-3FA2A1D04D0B}" srcOrd="0" destOrd="0" presId="urn:microsoft.com/office/officeart/2005/8/layout/vList2"/>
    <dgm:cxn modelId="{D6A9A92D-87D3-4C21-8A32-D9D4E9982E3E}" type="presOf" srcId="{84FD6F4A-01D9-4E9E-99BC-089694030E09}" destId="{99F67AF7-8785-431C-BC63-A8748419D681}" srcOrd="0" destOrd="0" presId="urn:microsoft.com/office/officeart/2005/8/layout/vList2"/>
    <dgm:cxn modelId="{6FDA363D-DDFD-421F-B40F-87B105CE75F3}" type="presOf" srcId="{7FB7D652-E485-4ED5-90F5-79845C386745}" destId="{DA7FF34D-43D0-46D7-9977-DBCF7B61A229}" srcOrd="0" destOrd="0" presId="urn:microsoft.com/office/officeart/2005/8/layout/vList2"/>
    <dgm:cxn modelId="{6BCCF36A-2DC1-44BB-ABC3-1F6F32D0080F}" srcId="{84FD6F4A-01D9-4E9E-99BC-089694030E09}" destId="{7FB7D652-E485-4ED5-90F5-79845C386745}" srcOrd="2" destOrd="0" parTransId="{848BF4DA-E0F2-40F0-A1B5-64663634137A}" sibTransId="{349F9741-843E-41B6-91B5-A9D864630F71}"/>
    <dgm:cxn modelId="{CC451475-5574-4ACB-A21F-C387E618C975}" srcId="{84FD6F4A-01D9-4E9E-99BC-089694030E09}" destId="{87FEF605-8AB5-4420-A6BA-D30B0C055FAD}" srcOrd="1" destOrd="0" parTransId="{FE4D31A7-2AFD-470F-968A-0A39795D9D9E}" sibTransId="{BE250971-1ABA-4D30-BD73-E10DAC9FEB36}"/>
    <dgm:cxn modelId="{1CF4F877-4BA8-4C24-9949-36F2FA7E74ED}" srcId="{84FD6F4A-01D9-4E9E-99BC-089694030E09}" destId="{2AD56BAA-1146-4962-B3B0-A2581B0E4790}" srcOrd="0" destOrd="0" parTransId="{C9EEBA79-95BA-487C-B298-D94E749B34B5}" sibTransId="{65D6D165-5760-4AE1-9A49-B8C582D526E3}"/>
    <dgm:cxn modelId="{1FDD307D-292F-46AD-9789-36AFE9F116CC}" type="presOf" srcId="{87FEF605-8AB5-4420-A6BA-D30B0C055FAD}" destId="{4B0AA57E-0C2F-45ED-8CAD-444CC802C1BB}" srcOrd="0" destOrd="0" presId="urn:microsoft.com/office/officeart/2005/8/layout/vList2"/>
    <dgm:cxn modelId="{B9BCE593-62B4-454D-984E-A48F99AF8AB6}" type="presOf" srcId="{2AD56BAA-1146-4962-B3B0-A2581B0E4790}" destId="{0DC3634C-2481-4B68-8BF9-2881333C8780}" srcOrd="0" destOrd="0" presId="urn:microsoft.com/office/officeart/2005/8/layout/vList2"/>
    <dgm:cxn modelId="{257FBA9B-56CD-4DCA-B663-147FFEEC74C3}" srcId="{84FD6F4A-01D9-4E9E-99BC-089694030E09}" destId="{8954FAE3-CE0D-4D1C-9C16-AA36A36D778D}" srcOrd="4" destOrd="0" parTransId="{5E684057-BAD9-443F-B62D-9C16AE363DE9}" sibTransId="{07EC302E-BFC7-4F9C-95E5-90677677058F}"/>
    <dgm:cxn modelId="{BEFFE0A6-A958-43C9-A60B-0B081E69AE39}" srcId="{84FD6F4A-01D9-4E9E-99BC-089694030E09}" destId="{4A1019FD-3458-4971-A440-47DF4FB41E25}" srcOrd="3" destOrd="0" parTransId="{82EA7F0E-81AF-4BE7-8762-2A94E73FA4A5}" sibTransId="{05217900-17FE-4E7D-80AD-7121E79A1B8A}"/>
    <dgm:cxn modelId="{88CD1415-0FE4-4395-BC3F-3216E166168B}" type="presParOf" srcId="{99F67AF7-8785-431C-BC63-A8748419D681}" destId="{0DC3634C-2481-4B68-8BF9-2881333C8780}" srcOrd="0" destOrd="0" presId="urn:microsoft.com/office/officeart/2005/8/layout/vList2"/>
    <dgm:cxn modelId="{14B1B6B1-7940-424C-AFD9-726FE311A0AB}" type="presParOf" srcId="{99F67AF7-8785-431C-BC63-A8748419D681}" destId="{5E837433-6366-4809-8306-305D2BE840D0}" srcOrd="1" destOrd="0" presId="urn:microsoft.com/office/officeart/2005/8/layout/vList2"/>
    <dgm:cxn modelId="{89DF0A55-AC9A-4E27-818D-6E601AB2BB25}" type="presParOf" srcId="{99F67AF7-8785-431C-BC63-A8748419D681}" destId="{4B0AA57E-0C2F-45ED-8CAD-444CC802C1BB}" srcOrd="2" destOrd="0" presId="urn:microsoft.com/office/officeart/2005/8/layout/vList2"/>
    <dgm:cxn modelId="{2EF30AE3-1EE3-4ABC-A4C4-64BE1F68A433}" type="presParOf" srcId="{99F67AF7-8785-431C-BC63-A8748419D681}" destId="{53B9E94F-609A-4717-9749-F5B4A6E452B1}" srcOrd="3" destOrd="0" presId="urn:microsoft.com/office/officeart/2005/8/layout/vList2"/>
    <dgm:cxn modelId="{111D699F-0858-40E5-91DE-CE0150FFBE8D}" type="presParOf" srcId="{99F67AF7-8785-431C-BC63-A8748419D681}" destId="{DA7FF34D-43D0-46D7-9977-DBCF7B61A229}" srcOrd="4" destOrd="0" presId="urn:microsoft.com/office/officeart/2005/8/layout/vList2"/>
    <dgm:cxn modelId="{38F30152-4E64-4CFD-B71E-F1A9ED733315}" type="presParOf" srcId="{99F67AF7-8785-431C-BC63-A8748419D681}" destId="{E5EA8396-B398-4F96-9128-9CE0FF02E58C}" srcOrd="5" destOrd="0" presId="urn:microsoft.com/office/officeart/2005/8/layout/vList2"/>
    <dgm:cxn modelId="{D6D1EE25-B4F8-4655-B5DD-7CEC48BFC26C}" type="presParOf" srcId="{99F67AF7-8785-431C-BC63-A8748419D681}" destId="{BA990A8B-06C9-4C84-8102-3FA2A1D04D0B}" srcOrd="6" destOrd="0" presId="urn:microsoft.com/office/officeart/2005/8/layout/vList2"/>
    <dgm:cxn modelId="{2945DE49-4EE3-4A7B-96C7-65CF131B9EC0}" type="presParOf" srcId="{99F67AF7-8785-431C-BC63-A8748419D681}" destId="{E7F31106-86E8-4741-99AB-F38F5B12F971}" srcOrd="7" destOrd="0" presId="urn:microsoft.com/office/officeart/2005/8/layout/vList2"/>
    <dgm:cxn modelId="{BE2203D0-87AD-43EB-9F0B-E6A83AA29E83}" type="presParOf" srcId="{99F67AF7-8785-431C-BC63-A8748419D681}" destId="{9D0BE2E9-4436-49AA-AE7A-73B251ED05D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CB3D228-B70A-400C-B22B-6A93A6A9DFE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5307B27-AE9A-410D-A66A-0676280F059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CO" sz="2000" b="1"/>
            <a:t>¿Es posible predecir si un estudiante del Atlántico, a partir de las características institucionales de su colegio, alcanzará un puntaje global alto en las pruebas Saber 11?</a:t>
          </a:r>
          <a:endParaRPr lang="en-US" sz="2000"/>
        </a:p>
      </dgm:t>
    </dgm:pt>
    <dgm:pt modelId="{DCE33DD2-C9D9-4FA5-BF1E-79C20ED7739C}" type="parTrans" cxnId="{22AA4115-78BE-4930-8B5F-478E6913EB49}">
      <dgm:prSet/>
      <dgm:spPr/>
      <dgm:t>
        <a:bodyPr/>
        <a:lstStyle/>
        <a:p>
          <a:endParaRPr lang="en-US"/>
        </a:p>
      </dgm:t>
    </dgm:pt>
    <dgm:pt modelId="{B156D8C0-05DE-42BC-ABF7-E46C65AADE50}" type="sibTrans" cxnId="{22AA4115-78BE-4930-8B5F-478E6913EB49}">
      <dgm:prSet/>
      <dgm:spPr/>
      <dgm:t>
        <a:bodyPr/>
        <a:lstStyle/>
        <a:p>
          <a:endParaRPr lang="en-US"/>
        </a:p>
      </dgm:t>
    </dgm:pt>
    <dgm:pt modelId="{DC7D1647-857B-4C43-9427-BD140140C5C8}">
      <dgm:prSet/>
      <dgm:spPr/>
      <dgm:t>
        <a:bodyPr/>
        <a:lstStyle/>
        <a:p>
          <a:pPr>
            <a:lnSpc>
              <a:spcPct val="100000"/>
            </a:lnSpc>
          </a:pPr>
          <a:r>
            <a:rPr lang="es-CO" b="1"/>
            <a:t>Relevancia para el usuario</a:t>
          </a:r>
        </a:p>
        <a:p>
          <a:pPr>
            <a:lnSpc>
              <a:spcPct val="100000"/>
            </a:lnSpc>
          </a:pPr>
          <a:r>
            <a:rPr lang="es-CO"/>
            <a:t>Permite reconocer perfiles de estudiantes con mayor probabilidad de alto desempeño y orientar estrategias de acompañamiento académico, asignación de recursos y políticas de calidad educativa en el departamento.</a:t>
          </a:r>
          <a:endParaRPr lang="en-US"/>
        </a:p>
      </dgm:t>
    </dgm:pt>
    <dgm:pt modelId="{1C8EE14A-96A4-43D0-A4AC-3ACFDD67CC58}" type="parTrans" cxnId="{2E320F03-758A-4D70-8CA0-209B1D463A5A}">
      <dgm:prSet/>
      <dgm:spPr/>
      <dgm:t>
        <a:bodyPr/>
        <a:lstStyle/>
        <a:p>
          <a:endParaRPr lang="en-US"/>
        </a:p>
      </dgm:t>
    </dgm:pt>
    <dgm:pt modelId="{00BEB131-F415-4124-9F7E-36666C67CCC2}" type="sibTrans" cxnId="{2E320F03-758A-4D70-8CA0-209B1D463A5A}">
      <dgm:prSet/>
      <dgm:spPr/>
      <dgm:t>
        <a:bodyPr/>
        <a:lstStyle/>
        <a:p>
          <a:endParaRPr lang="en-US"/>
        </a:p>
      </dgm:t>
    </dgm:pt>
    <dgm:pt modelId="{56F430A0-A1E2-45E8-828A-FAE27E2EEB60}" type="pres">
      <dgm:prSet presAssocID="{8CB3D228-B70A-400C-B22B-6A93A6A9DFEF}" presName="root" presStyleCnt="0">
        <dgm:presLayoutVars>
          <dgm:dir/>
          <dgm:resizeHandles val="exact"/>
        </dgm:presLayoutVars>
      </dgm:prSet>
      <dgm:spPr/>
    </dgm:pt>
    <dgm:pt modelId="{EA71ADC7-0652-41A7-8B87-C7FF2BD684F6}" type="pres">
      <dgm:prSet presAssocID="{B5307B27-AE9A-410D-A66A-0676280F0590}" presName="compNode" presStyleCnt="0"/>
      <dgm:spPr/>
    </dgm:pt>
    <dgm:pt modelId="{40A684C9-837A-49B7-9A40-77316BD07D60}" type="pres">
      <dgm:prSet presAssocID="{B5307B27-AE9A-410D-A66A-0676280F0590}" presName="bgRect" presStyleLbl="bgShp" presStyleIdx="0" presStyleCnt="2"/>
      <dgm:spPr>
        <a:solidFill>
          <a:schemeClr val="accent1">
            <a:lumMod val="75000"/>
          </a:schemeClr>
        </a:solidFill>
      </dgm:spPr>
    </dgm:pt>
    <dgm:pt modelId="{1E29CD5C-EDEC-4BFF-8DAA-90886A536A92}" type="pres">
      <dgm:prSet presAssocID="{B5307B27-AE9A-410D-A66A-0676280F0590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ula de clases"/>
        </a:ext>
      </dgm:extLst>
    </dgm:pt>
    <dgm:pt modelId="{77C6A2C8-A7BF-4BEA-9B03-DF3EB373856E}" type="pres">
      <dgm:prSet presAssocID="{B5307B27-AE9A-410D-A66A-0676280F0590}" presName="spaceRect" presStyleCnt="0"/>
      <dgm:spPr/>
    </dgm:pt>
    <dgm:pt modelId="{7E656FE8-6CEF-4978-97D5-6A3B651FACFB}" type="pres">
      <dgm:prSet presAssocID="{B5307B27-AE9A-410D-A66A-0676280F0590}" presName="parTx" presStyleLbl="revTx" presStyleIdx="0" presStyleCnt="2">
        <dgm:presLayoutVars>
          <dgm:chMax val="0"/>
          <dgm:chPref val="0"/>
        </dgm:presLayoutVars>
      </dgm:prSet>
      <dgm:spPr/>
    </dgm:pt>
    <dgm:pt modelId="{F2F4DAA8-8C96-4BB7-8DA4-ED338BFACDE3}" type="pres">
      <dgm:prSet presAssocID="{B156D8C0-05DE-42BC-ABF7-E46C65AADE50}" presName="sibTrans" presStyleCnt="0"/>
      <dgm:spPr/>
    </dgm:pt>
    <dgm:pt modelId="{42C87C6A-5874-41E7-BB65-0CA5AA906BA3}" type="pres">
      <dgm:prSet presAssocID="{DC7D1647-857B-4C43-9427-BD140140C5C8}" presName="compNode" presStyleCnt="0"/>
      <dgm:spPr/>
    </dgm:pt>
    <dgm:pt modelId="{28533162-8E72-4D6B-9CE3-9ED6FC0395C7}" type="pres">
      <dgm:prSet presAssocID="{DC7D1647-857B-4C43-9427-BD140140C5C8}" presName="bgRect" presStyleLbl="bgShp" presStyleIdx="1" presStyleCnt="2"/>
      <dgm:spPr>
        <a:solidFill>
          <a:schemeClr val="accent1">
            <a:lumMod val="75000"/>
          </a:schemeClr>
        </a:solidFill>
      </dgm:spPr>
    </dgm:pt>
    <dgm:pt modelId="{99789D9C-A200-4611-AE16-6182D8E5088D}" type="pres">
      <dgm:prSet presAssocID="{DC7D1647-857B-4C43-9427-BD140140C5C8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"/>
        </a:ext>
      </dgm:extLst>
    </dgm:pt>
    <dgm:pt modelId="{350C2FA1-FA15-4BF5-935A-8BD6C5B28935}" type="pres">
      <dgm:prSet presAssocID="{DC7D1647-857B-4C43-9427-BD140140C5C8}" presName="spaceRect" presStyleCnt="0"/>
      <dgm:spPr/>
    </dgm:pt>
    <dgm:pt modelId="{4315E983-CD71-448E-B868-B0A207774066}" type="pres">
      <dgm:prSet presAssocID="{DC7D1647-857B-4C43-9427-BD140140C5C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2E320F03-758A-4D70-8CA0-209B1D463A5A}" srcId="{8CB3D228-B70A-400C-B22B-6A93A6A9DFEF}" destId="{DC7D1647-857B-4C43-9427-BD140140C5C8}" srcOrd="1" destOrd="0" parTransId="{1C8EE14A-96A4-43D0-A4AC-3ACFDD67CC58}" sibTransId="{00BEB131-F415-4124-9F7E-36666C67CCC2}"/>
    <dgm:cxn modelId="{22AA4115-78BE-4930-8B5F-478E6913EB49}" srcId="{8CB3D228-B70A-400C-B22B-6A93A6A9DFEF}" destId="{B5307B27-AE9A-410D-A66A-0676280F0590}" srcOrd="0" destOrd="0" parTransId="{DCE33DD2-C9D9-4FA5-BF1E-79C20ED7739C}" sibTransId="{B156D8C0-05DE-42BC-ABF7-E46C65AADE50}"/>
    <dgm:cxn modelId="{19D28A1F-815D-4DF6-B4F8-7E7B73D0BF18}" type="presOf" srcId="{B5307B27-AE9A-410D-A66A-0676280F0590}" destId="{7E656FE8-6CEF-4978-97D5-6A3B651FACFB}" srcOrd="0" destOrd="0" presId="urn:microsoft.com/office/officeart/2018/2/layout/IconVerticalSolidList"/>
    <dgm:cxn modelId="{5244FAC3-0F6A-4430-AEA7-1FCD5B0E800C}" type="presOf" srcId="{8CB3D228-B70A-400C-B22B-6A93A6A9DFEF}" destId="{56F430A0-A1E2-45E8-828A-FAE27E2EEB60}" srcOrd="0" destOrd="0" presId="urn:microsoft.com/office/officeart/2018/2/layout/IconVerticalSolidList"/>
    <dgm:cxn modelId="{D4A88FDA-DDB5-4691-9B13-6C389E0E94C2}" type="presOf" srcId="{DC7D1647-857B-4C43-9427-BD140140C5C8}" destId="{4315E983-CD71-448E-B868-B0A207774066}" srcOrd="0" destOrd="0" presId="urn:microsoft.com/office/officeart/2018/2/layout/IconVerticalSolidList"/>
    <dgm:cxn modelId="{655AA918-DDF3-4B12-A2ED-1B92350F9381}" type="presParOf" srcId="{56F430A0-A1E2-45E8-828A-FAE27E2EEB60}" destId="{EA71ADC7-0652-41A7-8B87-C7FF2BD684F6}" srcOrd="0" destOrd="0" presId="urn:microsoft.com/office/officeart/2018/2/layout/IconVerticalSolidList"/>
    <dgm:cxn modelId="{9C467F4A-096E-47B9-A4A3-2EC96B28B00D}" type="presParOf" srcId="{EA71ADC7-0652-41A7-8B87-C7FF2BD684F6}" destId="{40A684C9-837A-49B7-9A40-77316BD07D60}" srcOrd="0" destOrd="0" presId="urn:microsoft.com/office/officeart/2018/2/layout/IconVerticalSolidList"/>
    <dgm:cxn modelId="{7574CAEF-70D3-46B3-AC5F-FBD30F2ACD6B}" type="presParOf" srcId="{EA71ADC7-0652-41A7-8B87-C7FF2BD684F6}" destId="{1E29CD5C-EDEC-4BFF-8DAA-90886A536A92}" srcOrd="1" destOrd="0" presId="urn:microsoft.com/office/officeart/2018/2/layout/IconVerticalSolidList"/>
    <dgm:cxn modelId="{BAB6C84E-7BF1-4877-867D-E86CCB8148AF}" type="presParOf" srcId="{EA71ADC7-0652-41A7-8B87-C7FF2BD684F6}" destId="{77C6A2C8-A7BF-4BEA-9B03-DF3EB373856E}" srcOrd="2" destOrd="0" presId="urn:microsoft.com/office/officeart/2018/2/layout/IconVerticalSolidList"/>
    <dgm:cxn modelId="{159DEF15-6FF7-4DD0-B605-9D32DF1078C2}" type="presParOf" srcId="{EA71ADC7-0652-41A7-8B87-C7FF2BD684F6}" destId="{7E656FE8-6CEF-4978-97D5-6A3B651FACFB}" srcOrd="3" destOrd="0" presId="urn:microsoft.com/office/officeart/2018/2/layout/IconVerticalSolidList"/>
    <dgm:cxn modelId="{92893814-D172-415C-A4E5-85B7926E13A8}" type="presParOf" srcId="{56F430A0-A1E2-45E8-828A-FAE27E2EEB60}" destId="{F2F4DAA8-8C96-4BB7-8DA4-ED338BFACDE3}" srcOrd="1" destOrd="0" presId="urn:microsoft.com/office/officeart/2018/2/layout/IconVerticalSolidList"/>
    <dgm:cxn modelId="{E0ACF354-3A9E-4627-B270-5360FB8A0813}" type="presParOf" srcId="{56F430A0-A1E2-45E8-828A-FAE27E2EEB60}" destId="{42C87C6A-5874-41E7-BB65-0CA5AA906BA3}" srcOrd="2" destOrd="0" presId="urn:microsoft.com/office/officeart/2018/2/layout/IconVerticalSolidList"/>
    <dgm:cxn modelId="{F2855CA0-45C0-46C5-9AE5-390E4BCCA063}" type="presParOf" srcId="{42C87C6A-5874-41E7-BB65-0CA5AA906BA3}" destId="{28533162-8E72-4D6B-9CE3-9ED6FC0395C7}" srcOrd="0" destOrd="0" presId="urn:microsoft.com/office/officeart/2018/2/layout/IconVerticalSolidList"/>
    <dgm:cxn modelId="{DCB524C0-0608-477E-978B-332BC385BFED}" type="presParOf" srcId="{42C87C6A-5874-41E7-BB65-0CA5AA906BA3}" destId="{99789D9C-A200-4611-AE16-6182D8E5088D}" srcOrd="1" destOrd="0" presId="urn:microsoft.com/office/officeart/2018/2/layout/IconVerticalSolidList"/>
    <dgm:cxn modelId="{7B0CEA18-7DDC-4804-9475-8DD6E51C83A7}" type="presParOf" srcId="{42C87C6A-5874-41E7-BB65-0CA5AA906BA3}" destId="{350C2FA1-FA15-4BF5-935A-8BD6C5B28935}" srcOrd="2" destOrd="0" presId="urn:microsoft.com/office/officeart/2018/2/layout/IconVerticalSolidList"/>
    <dgm:cxn modelId="{1AE05A05-54CA-4603-8354-DB6981C4B304}" type="presParOf" srcId="{42C87C6A-5874-41E7-BB65-0CA5AA906BA3}" destId="{4315E983-CD71-448E-B868-B0A20777406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A16AE55-116D-46A3-AA84-63611C9C78D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A7ADC05-9FB6-42DA-924D-5A570800A5C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CO" sz="2000" b="1"/>
            <a:t>¿Es posible predecir si un estudiante del Atlántico obtendrá un puntaje global alto a partir de sus condiciones y características familiares?</a:t>
          </a:r>
          <a:endParaRPr lang="en-US" sz="2000"/>
        </a:p>
      </dgm:t>
    </dgm:pt>
    <dgm:pt modelId="{65095652-B340-4FE0-B509-F98F2A2326EA}" type="parTrans" cxnId="{081FD5C7-598A-491B-811E-897C07BAFB67}">
      <dgm:prSet/>
      <dgm:spPr/>
      <dgm:t>
        <a:bodyPr/>
        <a:lstStyle/>
        <a:p>
          <a:endParaRPr lang="en-US"/>
        </a:p>
      </dgm:t>
    </dgm:pt>
    <dgm:pt modelId="{77685F3D-3519-4EF0-80DB-34B96AD3DE11}" type="sibTrans" cxnId="{081FD5C7-598A-491B-811E-897C07BAFB67}">
      <dgm:prSet/>
      <dgm:spPr/>
      <dgm:t>
        <a:bodyPr/>
        <a:lstStyle/>
        <a:p>
          <a:endParaRPr lang="en-US"/>
        </a:p>
      </dgm:t>
    </dgm:pt>
    <dgm:pt modelId="{D77E99F8-C96D-488A-B6FD-715AC36414D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CO" sz="1400" b="1"/>
            <a:t>Relevancia para el usuario</a:t>
          </a:r>
        </a:p>
        <a:p>
          <a:pPr>
            <a:lnSpc>
              <a:spcPct val="100000"/>
            </a:lnSpc>
          </a:pPr>
          <a:r>
            <a:rPr lang="en-US" sz="1300" err="1"/>
            <a:t>Identificar</a:t>
          </a:r>
          <a:r>
            <a:rPr lang="en-US" sz="1300"/>
            <a:t> </a:t>
          </a:r>
          <a:r>
            <a:rPr lang="en-US" sz="1300" err="1"/>
            <a:t>perfiles</a:t>
          </a:r>
          <a:r>
            <a:rPr lang="en-US" sz="1300"/>
            <a:t> de </a:t>
          </a:r>
          <a:r>
            <a:rPr lang="en-US" sz="1300" err="1"/>
            <a:t>estudiantes</a:t>
          </a:r>
          <a:r>
            <a:rPr lang="en-US" sz="1300"/>
            <a:t> con mayor </a:t>
          </a:r>
          <a:r>
            <a:rPr lang="en-US" sz="1300" err="1"/>
            <a:t>probabilidad</a:t>
          </a:r>
          <a:r>
            <a:rPr lang="en-US" sz="1300"/>
            <a:t> de </a:t>
          </a:r>
          <a:r>
            <a:rPr lang="en-US" sz="1300" err="1"/>
            <a:t>alcanzar</a:t>
          </a:r>
          <a:r>
            <a:rPr lang="en-US" sz="1300"/>
            <a:t> altos </a:t>
          </a:r>
          <a:r>
            <a:rPr lang="en-US" sz="1300" err="1"/>
            <a:t>puntajes</a:t>
          </a:r>
          <a:r>
            <a:rPr lang="en-US" sz="1300"/>
            <a:t> </a:t>
          </a:r>
          <a:r>
            <a:rPr lang="en-US" sz="1300" err="1"/>
            <a:t>en</a:t>
          </a:r>
          <a:r>
            <a:rPr lang="en-US" sz="1300"/>
            <a:t> las </a:t>
          </a:r>
          <a:r>
            <a:rPr lang="en-US" sz="1300" err="1"/>
            <a:t>pruebas</a:t>
          </a:r>
          <a:r>
            <a:rPr lang="en-US" sz="1300"/>
            <a:t> Saber 11 y </a:t>
          </a:r>
          <a:r>
            <a:rPr lang="en-US" sz="1300" err="1"/>
            <a:t>comprender</a:t>
          </a:r>
          <a:r>
            <a:rPr lang="en-US" sz="1300"/>
            <a:t> </a:t>
          </a:r>
          <a:r>
            <a:rPr lang="en-US" sz="1300" err="1"/>
            <a:t>cómo</a:t>
          </a:r>
          <a:r>
            <a:rPr lang="en-US" sz="1300"/>
            <a:t> las </a:t>
          </a:r>
          <a:r>
            <a:rPr lang="en-US" sz="1300" err="1"/>
            <a:t>condiciones</a:t>
          </a:r>
          <a:r>
            <a:rPr lang="en-US" sz="1300"/>
            <a:t> </a:t>
          </a:r>
          <a:r>
            <a:rPr lang="en-US" sz="1300" err="1"/>
            <a:t>familiares</a:t>
          </a:r>
          <a:r>
            <a:rPr lang="en-US" sz="1300"/>
            <a:t> </a:t>
          </a:r>
          <a:r>
            <a:rPr lang="en-US" sz="1300" err="1"/>
            <a:t>influyen</a:t>
          </a:r>
          <a:r>
            <a:rPr lang="en-US" sz="1300"/>
            <a:t> </a:t>
          </a:r>
          <a:r>
            <a:rPr lang="en-US" sz="1300" err="1"/>
            <a:t>en</a:t>
          </a:r>
          <a:r>
            <a:rPr lang="en-US" sz="1300"/>
            <a:t> </a:t>
          </a:r>
          <a:r>
            <a:rPr lang="en-US" sz="1300" err="1"/>
            <a:t>el</a:t>
          </a:r>
          <a:r>
            <a:rPr lang="en-US" sz="1300"/>
            <a:t> </a:t>
          </a:r>
          <a:r>
            <a:rPr lang="en-US" sz="1300" err="1"/>
            <a:t>desempeño</a:t>
          </a:r>
          <a:r>
            <a:rPr lang="en-US" sz="1300"/>
            <a:t> </a:t>
          </a:r>
          <a:r>
            <a:rPr lang="en-US" sz="1300" err="1"/>
            <a:t>académico</a:t>
          </a:r>
          <a:r>
            <a:rPr lang="en-US" sz="1300"/>
            <a:t>.</a:t>
          </a:r>
        </a:p>
        <a:p>
          <a:pPr>
            <a:lnSpc>
              <a:spcPct val="100000"/>
            </a:lnSpc>
            <a:buNone/>
          </a:pPr>
          <a:r>
            <a:rPr lang="en-US" sz="1300"/>
            <a:t>Los </a:t>
          </a:r>
          <a:r>
            <a:rPr lang="en-US" sz="1300" err="1"/>
            <a:t>resultados</a:t>
          </a:r>
          <a:r>
            <a:rPr lang="en-US" sz="1300"/>
            <a:t> </a:t>
          </a:r>
          <a:r>
            <a:rPr lang="en-US" sz="1300" err="1"/>
            <a:t>obtenidos</a:t>
          </a:r>
          <a:r>
            <a:rPr lang="en-US" sz="1300"/>
            <a:t> </a:t>
          </a:r>
          <a:r>
            <a:rPr lang="en-US" sz="1300" err="1"/>
            <a:t>permiten</a:t>
          </a:r>
          <a:r>
            <a:rPr lang="en-US" sz="1300"/>
            <a:t> </a:t>
          </a:r>
          <a:r>
            <a:rPr lang="en-US" sz="1300" err="1"/>
            <a:t>apoyar</a:t>
          </a:r>
          <a:r>
            <a:rPr lang="en-US" sz="1300"/>
            <a:t> </a:t>
          </a:r>
          <a:r>
            <a:rPr lang="en-US" sz="1300" err="1"/>
            <a:t>procesos</a:t>
          </a:r>
          <a:r>
            <a:rPr lang="en-US" sz="1300"/>
            <a:t> de </a:t>
          </a:r>
          <a:r>
            <a:rPr lang="en-US" sz="1300" err="1"/>
            <a:t>toma</a:t>
          </a:r>
          <a:r>
            <a:rPr lang="en-US" sz="1300"/>
            <a:t> de </a:t>
          </a:r>
          <a:r>
            <a:rPr lang="en-US" sz="1300" err="1"/>
            <a:t>decisiones</a:t>
          </a:r>
          <a:r>
            <a:rPr lang="en-US" sz="1300"/>
            <a:t> </a:t>
          </a:r>
          <a:r>
            <a:rPr lang="en-US" sz="1300" err="1"/>
            <a:t>relacionados</a:t>
          </a:r>
          <a:r>
            <a:rPr lang="en-US" sz="1300"/>
            <a:t> con </a:t>
          </a:r>
          <a:r>
            <a:rPr lang="en-US" sz="1300" err="1"/>
            <a:t>acompañamiento</a:t>
          </a:r>
          <a:r>
            <a:rPr lang="en-US" sz="1300"/>
            <a:t> </a:t>
          </a:r>
          <a:r>
            <a:rPr lang="en-US" sz="1300" err="1"/>
            <a:t>académico</a:t>
          </a:r>
          <a:r>
            <a:rPr lang="en-US" sz="1300"/>
            <a:t>, </a:t>
          </a:r>
          <a:r>
            <a:rPr lang="en-US" sz="1300" err="1"/>
            <a:t>focalización</a:t>
          </a:r>
          <a:r>
            <a:rPr lang="en-US" sz="1300"/>
            <a:t> de </a:t>
          </a:r>
          <a:r>
            <a:rPr lang="en-US" sz="1300" err="1"/>
            <a:t>recursos</a:t>
          </a:r>
          <a:r>
            <a:rPr lang="en-US" sz="1300"/>
            <a:t> </a:t>
          </a:r>
          <a:r>
            <a:rPr lang="en-US" sz="1300" err="1"/>
            <a:t>educativos</a:t>
          </a:r>
          <a:r>
            <a:rPr lang="en-US" sz="1300"/>
            <a:t> y </a:t>
          </a:r>
          <a:r>
            <a:rPr lang="en-US" sz="1300" err="1"/>
            <a:t>fortalecimiento</a:t>
          </a:r>
          <a:r>
            <a:rPr lang="en-US" sz="1300"/>
            <a:t> de </a:t>
          </a:r>
          <a:r>
            <a:rPr lang="en-US" sz="1300" err="1"/>
            <a:t>estrategias</a:t>
          </a:r>
          <a:r>
            <a:rPr lang="en-US" sz="1300"/>
            <a:t> </a:t>
          </a:r>
          <a:r>
            <a:rPr lang="en-US" sz="1300" err="1"/>
            <a:t>orientadas</a:t>
          </a:r>
          <a:r>
            <a:rPr lang="en-US" sz="1300"/>
            <a:t> a </a:t>
          </a:r>
          <a:r>
            <a:rPr lang="en-US" sz="1300" err="1"/>
            <a:t>mejorar</a:t>
          </a:r>
          <a:r>
            <a:rPr lang="en-US" sz="1300"/>
            <a:t> la </a:t>
          </a:r>
          <a:r>
            <a:rPr lang="en-US" sz="1300" err="1"/>
            <a:t>calidad</a:t>
          </a:r>
          <a:r>
            <a:rPr lang="en-US" sz="1300"/>
            <a:t> </a:t>
          </a:r>
          <a:r>
            <a:rPr lang="en-US" sz="1300" err="1"/>
            <a:t>educativa</a:t>
          </a:r>
          <a:r>
            <a:rPr lang="en-US" sz="1300"/>
            <a:t> </a:t>
          </a:r>
          <a:r>
            <a:rPr lang="en-US" sz="1300" err="1"/>
            <a:t>en</a:t>
          </a:r>
          <a:r>
            <a:rPr lang="en-US" sz="1300"/>
            <a:t> </a:t>
          </a:r>
          <a:r>
            <a:rPr lang="en-US" sz="1300" err="1"/>
            <a:t>el</a:t>
          </a:r>
          <a:r>
            <a:rPr lang="en-US" sz="1300"/>
            <a:t> </a:t>
          </a:r>
          <a:r>
            <a:rPr lang="en-US" sz="1300" err="1"/>
            <a:t>departamento</a:t>
          </a:r>
          <a:r>
            <a:rPr lang="en-US" sz="1300"/>
            <a:t>.</a:t>
          </a:r>
        </a:p>
      </dgm:t>
    </dgm:pt>
    <dgm:pt modelId="{054BCF95-95E7-4C8B-9E24-089A21B94F09}" type="parTrans" cxnId="{BBC7FA53-501B-402D-B10B-FEC283F35336}">
      <dgm:prSet/>
      <dgm:spPr/>
      <dgm:t>
        <a:bodyPr/>
        <a:lstStyle/>
        <a:p>
          <a:endParaRPr lang="en-US"/>
        </a:p>
      </dgm:t>
    </dgm:pt>
    <dgm:pt modelId="{5C99870B-F567-43CF-B63C-7417B3958228}" type="sibTrans" cxnId="{BBC7FA53-501B-402D-B10B-FEC283F35336}">
      <dgm:prSet/>
      <dgm:spPr/>
      <dgm:t>
        <a:bodyPr/>
        <a:lstStyle/>
        <a:p>
          <a:endParaRPr lang="en-US"/>
        </a:p>
      </dgm:t>
    </dgm:pt>
    <dgm:pt modelId="{CAA48DAE-47D3-4663-A6D1-013057CD463E}" type="pres">
      <dgm:prSet presAssocID="{AA16AE55-116D-46A3-AA84-63611C9C78DD}" presName="root" presStyleCnt="0">
        <dgm:presLayoutVars>
          <dgm:dir/>
          <dgm:resizeHandles val="exact"/>
        </dgm:presLayoutVars>
      </dgm:prSet>
      <dgm:spPr/>
    </dgm:pt>
    <dgm:pt modelId="{73B40506-E6FD-46DB-A191-1A3339924E00}" type="pres">
      <dgm:prSet presAssocID="{3A7ADC05-9FB6-42DA-924D-5A570800A5C3}" presName="compNode" presStyleCnt="0"/>
      <dgm:spPr/>
    </dgm:pt>
    <dgm:pt modelId="{BBC453CA-5B54-4700-B40D-05D637CB6C10}" type="pres">
      <dgm:prSet presAssocID="{3A7ADC05-9FB6-42DA-924D-5A570800A5C3}" presName="bgRect" presStyleLbl="bgShp" presStyleIdx="0" presStyleCnt="2"/>
      <dgm:spPr>
        <a:solidFill>
          <a:schemeClr val="accent1">
            <a:lumMod val="75000"/>
          </a:schemeClr>
        </a:solidFill>
      </dgm:spPr>
    </dgm:pt>
    <dgm:pt modelId="{CC0D84C9-D864-4182-B7C9-95BD595458E3}" type="pres">
      <dgm:prSet presAssocID="{3A7ADC05-9FB6-42DA-924D-5A570800A5C3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ula de clases"/>
        </a:ext>
      </dgm:extLst>
    </dgm:pt>
    <dgm:pt modelId="{E40681D2-B982-4294-B7B6-B13F6A9BAC9A}" type="pres">
      <dgm:prSet presAssocID="{3A7ADC05-9FB6-42DA-924D-5A570800A5C3}" presName="spaceRect" presStyleCnt="0"/>
      <dgm:spPr/>
    </dgm:pt>
    <dgm:pt modelId="{82A0AA75-6F2A-4C40-A05F-9BCF55B9F306}" type="pres">
      <dgm:prSet presAssocID="{3A7ADC05-9FB6-42DA-924D-5A570800A5C3}" presName="parTx" presStyleLbl="revTx" presStyleIdx="0" presStyleCnt="2">
        <dgm:presLayoutVars>
          <dgm:chMax val="0"/>
          <dgm:chPref val="0"/>
        </dgm:presLayoutVars>
      </dgm:prSet>
      <dgm:spPr/>
    </dgm:pt>
    <dgm:pt modelId="{B570AC3F-F649-49C7-AB87-218BEC4E3B9E}" type="pres">
      <dgm:prSet presAssocID="{77685F3D-3519-4EF0-80DB-34B96AD3DE11}" presName="sibTrans" presStyleCnt="0"/>
      <dgm:spPr/>
    </dgm:pt>
    <dgm:pt modelId="{11BC781C-8DA4-4BD1-A823-DAF2F9D5A970}" type="pres">
      <dgm:prSet presAssocID="{D77E99F8-C96D-488A-B6FD-715AC36414DC}" presName="compNode" presStyleCnt="0"/>
      <dgm:spPr/>
    </dgm:pt>
    <dgm:pt modelId="{95A493B8-0776-44B1-90FF-9FB2CC2AB7BB}" type="pres">
      <dgm:prSet presAssocID="{D77E99F8-C96D-488A-B6FD-715AC36414DC}" presName="bgRect" presStyleLbl="bgShp" presStyleIdx="1" presStyleCnt="2"/>
      <dgm:spPr>
        <a:solidFill>
          <a:schemeClr val="accent1">
            <a:lumMod val="75000"/>
          </a:schemeClr>
        </a:solidFill>
      </dgm:spPr>
    </dgm:pt>
    <dgm:pt modelId="{7FF3CAF7-24B1-43AD-BD2F-5FBB55E6CB15}" type="pres">
      <dgm:prSet presAssocID="{D77E99F8-C96D-488A-B6FD-715AC36414DC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"/>
        </a:ext>
      </dgm:extLst>
    </dgm:pt>
    <dgm:pt modelId="{58025494-F983-45C7-9653-C2AE591A8217}" type="pres">
      <dgm:prSet presAssocID="{D77E99F8-C96D-488A-B6FD-715AC36414DC}" presName="spaceRect" presStyleCnt="0"/>
      <dgm:spPr/>
    </dgm:pt>
    <dgm:pt modelId="{41F5C536-C674-45B1-9B77-FCF6E50D890C}" type="pres">
      <dgm:prSet presAssocID="{D77E99F8-C96D-488A-B6FD-715AC36414DC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7F981462-F5AC-4AF6-81F9-08E325AE5D5E}" type="presOf" srcId="{3A7ADC05-9FB6-42DA-924D-5A570800A5C3}" destId="{82A0AA75-6F2A-4C40-A05F-9BCF55B9F306}" srcOrd="0" destOrd="0" presId="urn:microsoft.com/office/officeart/2018/2/layout/IconVerticalSolidList"/>
    <dgm:cxn modelId="{BBC7FA53-501B-402D-B10B-FEC283F35336}" srcId="{AA16AE55-116D-46A3-AA84-63611C9C78DD}" destId="{D77E99F8-C96D-488A-B6FD-715AC36414DC}" srcOrd="1" destOrd="0" parTransId="{054BCF95-95E7-4C8B-9E24-089A21B94F09}" sibTransId="{5C99870B-F567-43CF-B63C-7417B3958228}"/>
    <dgm:cxn modelId="{F038477E-999C-43A9-A957-A421E9AE2667}" type="presOf" srcId="{AA16AE55-116D-46A3-AA84-63611C9C78DD}" destId="{CAA48DAE-47D3-4663-A6D1-013057CD463E}" srcOrd="0" destOrd="0" presId="urn:microsoft.com/office/officeart/2018/2/layout/IconVerticalSolidList"/>
    <dgm:cxn modelId="{081FD5C7-598A-491B-811E-897C07BAFB67}" srcId="{AA16AE55-116D-46A3-AA84-63611C9C78DD}" destId="{3A7ADC05-9FB6-42DA-924D-5A570800A5C3}" srcOrd="0" destOrd="0" parTransId="{65095652-B340-4FE0-B509-F98F2A2326EA}" sibTransId="{77685F3D-3519-4EF0-80DB-34B96AD3DE11}"/>
    <dgm:cxn modelId="{4D64B1D9-FCA8-4280-AB06-5D3487F1C1FD}" type="presOf" srcId="{D77E99F8-C96D-488A-B6FD-715AC36414DC}" destId="{41F5C536-C674-45B1-9B77-FCF6E50D890C}" srcOrd="0" destOrd="0" presId="urn:microsoft.com/office/officeart/2018/2/layout/IconVerticalSolidList"/>
    <dgm:cxn modelId="{4DC530F3-8F06-4212-AA07-9CBB47C19AE4}" type="presParOf" srcId="{CAA48DAE-47D3-4663-A6D1-013057CD463E}" destId="{73B40506-E6FD-46DB-A191-1A3339924E00}" srcOrd="0" destOrd="0" presId="urn:microsoft.com/office/officeart/2018/2/layout/IconVerticalSolidList"/>
    <dgm:cxn modelId="{B7A421C1-1408-4570-B304-24A74E884ED3}" type="presParOf" srcId="{73B40506-E6FD-46DB-A191-1A3339924E00}" destId="{BBC453CA-5B54-4700-B40D-05D637CB6C10}" srcOrd="0" destOrd="0" presId="urn:microsoft.com/office/officeart/2018/2/layout/IconVerticalSolidList"/>
    <dgm:cxn modelId="{0D3C39B6-63A6-46E8-B94E-C8FECCA6A54D}" type="presParOf" srcId="{73B40506-E6FD-46DB-A191-1A3339924E00}" destId="{CC0D84C9-D864-4182-B7C9-95BD595458E3}" srcOrd="1" destOrd="0" presId="urn:microsoft.com/office/officeart/2018/2/layout/IconVerticalSolidList"/>
    <dgm:cxn modelId="{4CBA3D95-4146-4DE8-ABB1-4EA8775B408F}" type="presParOf" srcId="{73B40506-E6FD-46DB-A191-1A3339924E00}" destId="{E40681D2-B982-4294-B7B6-B13F6A9BAC9A}" srcOrd="2" destOrd="0" presId="urn:microsoft.com/office/officeart/2018/2/layout/IconVerticalSolidList"/>
    <dgm:cxn modelId="{989562B5-B325-43CB-A7D3-A0FC01C7F99F}" type="presParOf" srcId="{73B40506-E6FD-46DB-A191-1A3339924E00}" destId="{82A0AA75-6F2A-4C40-A05F-9BCF55B9F306}" srcOrd="3" destOrd="0" presId="urn:microsoft.com/office/officeart/2018/2/layout/IconVerticalSolidList"/>
    <dgm:cxn modelId="{76B6E8D8-224D-4F1B-BEF9-9A44B8C7E2F6}" type="presParOf" srcId="{CAA48DAE-47D3-4663-A6D1-013057CD463E}" destId="{B570AC3F-F649-49C7-AB87-218BEC4E3B9E}" srcOrd="1" destOrd="0" presId="urn:microsoft.com/office/officeart/2018/2/layout/IconVerticalSolidList"/>
    <dgm:cxn modelId="{03F0D22F-BD66-4DED-BD9E-1FE3B9194339}" type="presParOf" srcId="{CAA48DAE-47D3-4663-A6D1-013057CD463E}" destId="{11BC781C-8DA4-4BD1-A823-DAF2F9D5A970}" srcOrd="2" destOrd="0" presId="urn:microsoft.com/office/officeart/2018/2/layout/IconVerticalSolidList"/>
    <dgm:cxn modelId="{BE918FD3-22A6-4607-8F32-720ECF763D8E}" type="presParOf" srcId="{11BC781C-8DA4-4BD1-A823-DAF2F9D5A970}" destId="{95A493B8-0776-44B1-90FF-9FB2CC2AB7BB}" srcOrd="0" destOrd="0" presId="urn:microsoft.com/office/officeart/2018/2/layout/IconVerticalSolidList"/>
    <dgm:cxn modelId="{876A1162-C0B0-460B-82C9-FFD473986250}" type="presParOf" srcId="{11BC781C-8DA4-4BD1-A823-DAF2F9D5A970}" destId="{7FF3CAF7-24B1-43AD-BD2F-5FBB55E6CB15}" srcOrd="1" destOrd="0" presId="urn:microsoft.com/office/officeart/2018/2/layout/IconVerticalSolidList"/>
    <dgm:cxn modelId="{49AD60E3-D845-4A39-8434-F5AA62288EBB}" type="presParOf" srcId="{11BC781C-8DA4-4BD1-A823-DAF2F9D5A970}" destId="{58025494-F983-45C7-9653-C2AE591A8217}" srcOrd="2" destOrd="0" presId="urn:microsoft.com/office/officeart/2018/2/layout/IconVerticalSolidList"/>
    <dgm:cxn modelId="{885BF993-8CEC-4C92-B487-D2B539DCD76F}" type="presParOf" srcId="{11BC781C-8DA4-4BD1-A823-DAF2F9D5A970}" destId="{41F5C536-C674-45B1-9B77-FCF6E50D890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A16AE55-116D-46A3-AA84-63611C9C78D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A7ADC05-9FB6-42DA-924D-5A570800A5C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CO" sz="2000" b="1" dirty="0"/>
            <a:t>¿</a:t>
          </a:r>
          <a:r>
            <a:rPr lang="es-CO" sz="2000" b="1" dirty="0">
              <a:latin typeface="Century Gothic" panose="020B0502020202020204"/>
            </a:rPr>
            <a:t>En qué medida las condiciones socioeconómicas, el acceso a recursos tecnológicos y ciertas características institucionales permiten predecir el puntaje global de los estudiantes del Atlántico en las pruebas saber 11?</a:t>
          </a:r>
          <a:endParaRPr lang="en-US" sz="2000" dirty="0"/>
        </a:p>
      </dgm:t>
    </dgm:pt>
    <dgm:pt modelId="{65095652-B340-4FE0-B509-F98F2A2326EA}" type="parTrans" cxnId="{081FD5C7-598A-491B-811E-897C07BAFB67}">
      <dgm:prSet/>
      <dgm:spPr/>
      <dgm:t>
        <a:bodyPr/>
        <a:lstStyle/>
        <a:p>
          <a:endParaRPr lang="en-US"/>
        </a:p>
      </dgm:t>
    </dgm:pt>
    <dgm:pt modelId="{77685F3D-3519-4EF0-80DB-34B96AD3DE11}" type="sibTrans" cxnId="{081FD5C7-598A-491B-811E-897C07BAFB67}">
      <dgm:prSet/>
      <dgm:spPr/>
      <dgm:t>
        <a:bodyPr/>
        <a:lstStyle/>
        <a:p>
          <a:endParaRPr lang="en-US"/>
        </a:p>
      </dgm:t>
    </dgm:pt>
    <dgm:pt modelId="{D77E99F8-C96D-488A-B6FD-715AC36414DC}">
      <dgm:prSet custT="1"/>
      <dgm:spPr/>
      <dgm:t>
        <a:bodyPr/>
        <a:lstStyle/>
        <a:p>
          <a:pPr rtl="0">
            <a:lnSpc>
              <a:spcPct val="100000"/>
            </a:lnSpc>
          </a:pPr>
          <a:r>
            <a:rPr lang="es-CO" sz="1400" b="1" dirty="0"/>
            <a:t>Relevancia para el </a:t>
          </a:r>
          <a:r>
            <a:rPr lang="es-CO" sz="1400" b="1" dirty="0">
              <a:latin typeface="Century Gothic" panose="020B0502020202020204"/>
            </a:rPr>
            <a:t>usuario:</a:t>
          </a:r>
          <a:r>
            <a:rPr lang="es-CO" sz="1400" b="1" dirty="0"/>
            <a:t> </a:t>
          </a:r>
          <a:r>
            <a:rPr lang="es-CO" sz="1400" b="1" dirty="0">
              <a:latin typeface="Century Gothic" panose="020B0502020202020204"/>
            </a:rPr>
            <a:t>                                                                                                                  </a:t>
          </a:r>
          <a:r>
            <a:rPr lang="es-CO" sz="1400" b="0" dirty="0">
              <a:latin typeface="Century Gothic" panose="020B0502020202020204"/>
            </a:rPr>
            <a:t>                      </a:t>
          </a:r>
          <a:r>
            <a:rPr lang="es-CO" sz="1400" b="0" dirty="0"/>
            <a:t>Secretaría</a:t>
          </a:r>
          <a:r>
            <a:rPr lang="es-CO" sz="1400" b="0" dirty="0">
              <a:latin typeface="Century Gothic" panose="020B0502020202020204"/>
            </a:rPr>
            <a:t> Atlántico estimar </a:t>
          </a:r>
          <a:r>
            <a:rPr lang="es-CO" sz="1400" b="0" dirty="0"/>
            <a:t> puntaje global esperado a partir de condiciones </a:t>
          </a:r>
          <a:r>
            <a:rPr lang="es-CO" sz="1400" b="0" dirty="0">
              <a:latin typeface="Century Gothic" panose="020B0502020202020204"/>
            </a:rPr>
            <a:t>disponibles. Identificar</a:t>
          </a:r>
          <a:r>
            <a:rPr lang="es-CO" sz="1400" b="0" dirty="0"/>
            <a:t> brechas académicas, priorizar </a:t>
          </a:r>
          <a:r>
            <a:rPr lang="es-CO" sz="1400" b="0" dirty="0">
              <a:latin typeface="Century Gothic" panose="020B0502020202020204"/>
            </a:rPr>
            <a:t>estudiantes con</a:t>
          </a:r>
          <a:r>
            <a:rPr lang="es-CO" sz="1400" b="0" dirty="0"/>
            <a:t> mayor necesidad de </a:t>
          </a:r>
          <a:r>
            <a:rPr lang="es-CO" sz="1400" b="0" dirty="0">
              <a:latin typeface="Century Gothic" panose="020B0502020202020204"/>
            </a:rPr>
            <a:t>apoyo,</a:t>
          </a:r>
          <a:r>
            <a:rPr lang="es-CO" sz="1400" b="0" dirty="0"/>
            <a:t> orientar mejor sus estrategias de acompañamiento, inversión tecnológica y fortalecimiento educativo.</a:t>
          </a:r>
          <a:endParaRPr lang="es-CO" dirty="0"/>
        </a:p>
        <a:p>
          <a:pPr>
            <a:lnSpc>
              <a:spcPct val="100000"/>
            </a:lnSpc>
          </a:pPr>
          <a:endParaRPr lang="es-ES" sz="1800" b="0" dirty="0">
            <a:latin typeface="Century Gothic" panose="020B0502020202020204"/>
          </a:endParaRPr>
        </a:p>
      </dgm:t>
    </dgm:pt>
    <dgm:pt modelId="{054BCF95-95E7-4C8B-9E24-089A21B94F09}" type="parTrans" cxnId="{BBC7FA53-501B-402D-B10B-FEC283F35336}">
      <dgm:prSet/>
      <dgm:spPr/>
      <dgm:t>
        <a:bodyPr/>
        <a:lstStyle/>
        <a:p>
          <a:endParaRPr lang="en-US"/>
        </a:p>
      </dgm:t>
    </dgm:pt>
    <dgm:pt modelId="{5C99870B-F567-43CF-B63C-7417B3958228}" type="sibTrans" cxnId="{BBC7FA53-501B-402D-B10B-FEC283F35336}">
      <dgm:prSet/>
      <dgm:spPr/>
      <dgm:t>
        <a:bodyPr/>
        <a:lstStyle/>
        <a:p>
          <a:endParaRPr lang="en-US"/>
        </a:p>
      </dgm:t>
    </dgm:pt>
    <dgm:pt modelId="{CAA48DAE-47D3-4663-A6D1-013057CD463E}" type="pres">
      <dgm:prSet presAssocID="{AA16AE55-116D-46A3-AA84-63611C9C78DD}" presName="root" presStyleCnt="0">
        <dgm:presLayoutVars>
          <dgm:dir/>
          <dgm:resizeHandles val="exact"/>
        </dgm:presLayoutVars>
      </dgm:prSet>
      <dgm:spPr/>
    </dgm:pt>
    <dgm:pt modelId="{73B40506-E6FD-46DB-A191-1A3339924E00}" type="pres">
      <dgm:prSet presAssocID="{3A7ADC05-9FB6-42DA-924D-5A570800A5C3}" presName="compNode" presStyleCnt="0"/>
      <dgm:spPr/>
    </dgm:pt>
    <dgm:pt modelId="{BBC453CA-5B54-4700-B40D-05D637CB6C10}" type="pres">
      <dgm:prSet presAssocID="{3A7ADC05-9FB6-42DA-924D-5A570800A5C3}" presName="bgRect" presStyleLbl="bgShp" presStyleIdx="0" presStyleCnt="2"/>
      <dgm:spPr>
        <a:solidFill>
          <a:schemeClr val="accent1">
            <a:lumMod val="75000"/>
          </a:schemeClr>
        </a:solidFill>
      </dgm:spPr>
    </dgm:pt>
    <dgm:pt modelId="{CC0D84C9-D864-4182-B7C9-95BD595458E3}" type="pres">
      <dgm:prSet presAssocID="{3A7ADC05-9FB6-42DA-924D-5A570800A5C3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ula de clases"/>
        </a:ext>
      </dgm:extLst>
    </dgm:pt>
    <dgm:pt modelId="{E40681D2-B982-4294-B7B6-B13F6A9BAC9A}" type="pres">
      <dgm:prSet presAssocID="{3A7ADC05-9FB6-42DA-924D-5A570800A5C3}" presName="spaceRect" presStyleCnt="0"/>
      <dgm:spPr/>
    </dgm:pt>
    <dgm:pt modelId="{82A0AA75-6F2A-4C40-A05F-9BCF55B9F306}" type="pres">
      <dgm:prSet presAssocID="{3A7ADC05-9FB6-42DA-924D-5A570800A5C3}" presName="parTx" presStyleLbl="revTx" presStyleIdx="0" presStyleCnt="2">
        <dgm:presLayoutVars>
          <dgm:chMax val="0"/>
          <dgm:chPref val="0"/>
        </dgm:presLayoutVars>
      </dgm:prSet>
      <dgm:spPr/>
    </dgm:pt>
    <dgm:pt modelId="{B570AC3F-F649-49C7-AB87-218BEC4E3B9E}" type="pres">
      <dgm:prSet presAssocID="{77685F3D-3519-4EF0-80DB-34B96AD3DE11}" presName="sibTrans" presStyleCnt="0"/>
      <dgm:spPr/>
    </dgm:pt>
    <dgm:pt modelId="{11BC781C-8DA4-4BD1-A823-DAF2F9D5A970}" type="pres">
      <dgm:prSet presAssocID="{D77E99F8-C96D-488A-B6FD-715AC36414DC}" presName="compNode" presStyleCnt="0"/>
      <dgm:spPr/>
    </dgm:pt>
    <dgm:pt modelId="{95A493B8-0776-44B1-90FF-9FB2CC2AB7BB}" type="pres">
      <dgm:prSet presAssocID="{D77E99F8-C96D-488A-B6FD-715AC36414DC}" presName="bgRect" presStyleLbl="bgShp" presStyleIdx="1" presStyleCnt="2"/>
      <dgm:spPr>
        <a:solidFill>
          <a:schemeClr val="accent1">
            <a:lumMod val="75000"/>
          </a:schemeClr>
        </a:solidFill>
      </dgm:spPr>
    </dgm:pt>
    <dgm:pt modelId="{7FF3CAF7-24B1-43AD-BD2F-5FBB55E6CB15}" type="pres">
      <dgm:prSet presAssocID="{D77E99F8-C96D-488A-B6FD-715AC36414DC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"/>
        </a:ext>
      </dgm:extLst>
    </dgm:pt>
    <dgm:pt modelId="{58025494-F983-45C7-9653-C2AE591A8217}" type="pres">
      <dgm:prSet presAssocID="{D77E99F8-C96D-488A-B6FD-715AC36414DC}" presName="spaceRect" presStyleCnt="0"/>
      <dgm:spPr/>
    </dgm:pt>
    <dgm:pt modelId="{41F5C536-C674-45B1-9B77-FCF6E50D890C}" type="pres">
      <dgm:prSet presAssocID="{D77E99F8-C96D-488A-B6FD-715AC36414DC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EFC68529-2170-4354-9CA1-334CBF9334FA}" type="presOf" srcId="{D77E99F8-C96D-488A-B6FD-715AC36414DC}" destId="{41F5C536-C674-45B1-9B77-FCF6E50D890C}" srcOrd="0" destOrd="0" presId="urn:microsoft.com/office/officeart/2018/2/layout/IconVerticalSolidList"/>
    <dgm:cxn modelId="{BBC7FA53-501B-402D-B10B-FEC283F35336}" srcId="{AA16AE55-116D-46A3-AA84-63611C9C78DD}" destId="{D77E99F8-C96D-488A-B6FD-715AC36414DC}" srcOrd="1" destOrd="0" parTransId="{054BCF95-95E7-4C8B-9E24-089A21B94F09}" sibTransId="{5C99870B-F567-43CF-B63C-7417B3958228}"/>
    <dgm:cxn modelId="{F038477E-999C-43A9-A957-A421E9AE2667}" type="presOf" srcId="{AA16AE55-116D-46A3-AA84-63611C9C78DD}" destId="{CAA48DAE-47D3-4663-A6D1-013057CD463E}" srcOrd="0" destOrd="0" presId="urn:microsoft.com/office/officeart/2018/2/layout/IconVerticalSolidList"/>
    <dgm:cxn modelId="{081FD5C7-598A-491B-811E-897C07BAFB67}" srcId="{AA16AE55-116D-46A3-AA84-63611C9C78DD}" destId="{3A7ADC05-9FB6-42DA-924D-5A570800A5C3}" srcOrd="0" destOrd="0" parTransId="{65095652-B340-4FE0-B509-F98F2A2326EA}" sibTransId="{77685F3D-3519-4EF0-80DB-34B96AD3DE11}"/>
    <dgm:cxn modelId="{0CEAD1CD-78C4-489E-ACB6-82873F78DB55}" type="presOf" srcId="{3A7ADC05-9FB6-42DA-924D-5A570800A5C3}" destId="{82A0AA75-6F2A-4C40-A05F-9BCF55B9F306}" srcOrd="0" destOrd="0" presId="urn:microsoft.com/office/officeart/2018/2/layout/IconVerticalSolidList"/>
    <dgm:cxn modelId="{ADDFCBFA-41FC-4468-90F5-FB2BCE90AB00}" type="presParOf" srcId="{CAA48DAE-47D3-4663-A6D1-013057CD463E}" destId="{73B40506-E6FD-46DB-A191-1A3339924E00}" srcOrd="0" destOrd="0" presId="urn:microsoft.com/office/officeart/2018/2/layout/IconVerticalSolidList"/>
    <dgm:cxn modelId="{C0D38A11-6BE5-4AD6-A47D-6A8D13AC6ED8}" type="presParOf" srcId="{73B40506-E6FD-46DB-A191-1A3339924E00}" destId="{BBC453CA-5B54-4700-B40D-05D637CB6C10}" srcOrd="0" destOrd="0" presId="urn:microsoft.com/office/officeart/2018/2/layout/IconVerticalSolidList"/>
    <dgm:cxn modelId="{30827570-4298-41CE-98B2-73830FFF01F1}" type="presParOf" srcId="{73B40506-E6FD-46DB-A191-1A3339924E00}" destId="{CC0D84C9-D864-4182-B7C9-95BD595458E3}" srcOrd="1" destOrd="0" presId="urn:microsoft.com/office/officeart/2018/2/layout/IconVerticalSolidList"/>
    <dgm:cxn modelId="{8DC8BF75-EF16-4A1E-A1C9-6B3583B4D6CC}" type="presParOf" srcId="{73B40506-E6FD-46DB-A191-1A3339924E00}" destId="{E40681D2-B982-4294-B7B6-B13F6A9BAC9A}" srcOrd="2" destOrd="0" presId="urn:microsoft.com/office/officeart/2018/2/layout/IconVerticalSolidList"/>
    <dgm:cxn modelId="{25A0FD84-90D9-44A1-84B6-CF39CEE18D4B}" type="presParOf" srcId="{73B40506-E6FD-46DB-A191-1A3339924E00}" destId="{82A0AA75-6F2A-4C40-A05F-9BCF55B9F306}" srcOrd="3" destOrd="0" presId="urn:microsoft.com/office/officeart/2018/2/layout/IconVerticalSolidList"/>
    <dgm:cxn modelId="{D813CAC4-19B8-4521-A47C-97368C7E4A87}" type="presParOf" srcId="{CAA48DAE-47D3-4663-A6D1-013057CD463E}" destId="{B570AC3F-F649-49C7-AB87-218BEC4E3B9E}" srcOrd="1" destOrd="0" presId="urn:microsoft.com/office/officeart/2018/2/layout/IconVerticalSolidList"/>
    <dgm:cxn modelId="{39BADF10-E5A6-4D5D-9EFD-EC25D36A1D91}" type="presParOf" srcId="{CAA48DAE-47D3-4663-A6D1-013057CD463E}" destId="{11BC781C-8DA4-4BD1-A823-DAF2F9D5A970}" srcOrd="2" destOrd="0" presId="urn:microsoft.com/office/officeart/2018/2/layout/IconVerticalSolidList"/>
    <dgm:cxn modelId="{7750A4F0-4E1F-4D41-B49B-965521F28896}" type="presParOf" srcId="{11BC781C-8DA4-4BD1-A823-DAF2F9D5A970}" destId="{95A493B8-0776-44B1-90FF-9FB2CC2AB7BB}" srcOrd="0" destOrd="0" presId="urn:microsoft.com/office/officeart/2018/2/layout/IconVerticalSolidList"/>
    <dgm:cxn modelId="{EC5C3D3A-AB08-405C-8C73-208A3055B605}" type="presParOf" srcId="{11BC781C-8DA4-4BD1-A823-DAF2F9D5A970}" destId="{7FF3CAF7-24B1-43AD-BD2F-5FBB55E6CB15}" srcOrd="1" destOrd="0" presId="urn:microsoft.com/office/officeart/2018/2/layout/IconVerticalSolidList"/>
    <dgm:cxn modelId="{A942C95D-6D13-4354-B107-B2B8AEA75E73}" type="presParOf" srcId="{11BC781C-8DA4-4BD1-A823-DAF2F9D5A970}" destId="{58025494-F983-45C7-9653-C2AE591A8217}" srcOrd="2" destOrd="0" presId="urn:microsoft.com/office/officeart/2018/2/layout/IconVerticalSolidList"/>
    <dgm:cxn modelId="{E93126A0-585C-4912-84E4-9FA976A98AC3}" type="presParOf" srcId="{11BC781C-8DA4-4BD1-A823-DAF2F9D5A970}" destId="{41F5C536-C674-45B1-9B77-FCF6E50D890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C3634C-2481-4B68-8BF9-2881333C8780}">
      <dsp:nvSpPr>
        <dsp:cNvPr id="0" name=""/>
        <dsp:cNvSpPr/>
      </dsp:nvSpPr>
      <dsp:spPr>
        <a:xfrm>
          <a:off x="0" y="937765"/>
          <a:ext cx="5971020" cy="599625"/>
        </a:xfrm>
        <a:prstGeom prst="roundRect">
          <a:avLst/>
        </a:prstGeom>
        <a:solidFill>
          <a:schemeClr val="accent1">
            <a:lumMod val="75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500" kern="1200"/>
            <a:t>Contexto y usuario final</a:t>
          </a:r>
          <a:endParaRPr lang="en-US" sz="2500" kern="1200"/>
        </a:p>
      </dsp:txBody>
      <dsp:txXfrm>
        <a:off x="29271" y="967036"/>
        <a:ext cx="5912478" cy="541083"/>
      </dsp:txXfrm>
    </dsp:sp>
    <dsp:sp modelId="{4B0AA57E-0C2F-45ED-8CAD-444CC802C1BB}">
      <dsp:nvSpPr>
        <dsp:cNvPr id="0" name=""/>
        <dsp:cNvSpPr/>
      </dsp:nvSpPr>
      <dsp:spPr>
        <a:xfrm>
          <a:off x="0" y="1609390"/>
          <a:ext cx="5971020" cy="599625"/>
        </a:xfrm>
        <a:prstGeom prst="roundRect">
          <a:avLst/>
        </a:prstGeom>
        <a:solidFill>
          <a:schemeClr val="accent1">
            <a:lumMod val="75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500" kern="1200"/>
            <a:t>Pregunta 1: Variables institucionales</a:t>
          </a:r>
          <a:endParaRPr lang="en-US" sz="2500" kern="1200"/>
        </a:p>
      </dsp:txBody>
      <dsp:txXfrm>
        <a:off x="29271" y="1638661"/>
        <a:ext cx="5912478" cy="541083"/>
      </dsp:txXfrm>
    </dsp:sp>
    <dsp:sp modelId="{DA7FF34D-43D0-46D7-9977-DBCF7B61A229}">
      <dsp:nvSpPr>
        <dsp:cNvPr id="0" name=""/>
        <dsp:cNvSpPr/>
      </dsp:nvSpPr>
      <dsp:spPr>
        <a:xfrm>
          <a:off x="0" y="2281015"/>
          <a:ext cx="5971020" cy="599625"/>
        </a:xfrm>
        <a:prstGeom prst="roundRect">
          <a:avLst/>
        </a:prstGeom>
        <a:solidFill>
          <a:schemeClr val="accent1">
            <a:lumMod val="75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500" kern="1200"/>
            <a:t>Pregunta 2: Condiciones familiares</a:t>
          </a:r>
          <a:endParaRPr lang="en-US" sz="2500" kern="1200"/>
        </a:p>
      </dsp:txBody>
      <dsp:txXfrm>
        <a:off x="29271" y="2310286"/>
        <a:ext cx="5912478" cy="541083"/>
      </dsp:txXfrm>
    </dsp:sp>
    <dsp:sp modelId="{BA990A8B-06C9-4C84-8102-3FA2A1D04D0B}">
      <dsp:nvSpPr>
        <dsp:cNvPr id="0" name=""/>
        <dsp:cNvSpPr/>
      </dsp:nvSpPr>
      <dsp:spPr>
        <a:xfrm>
          <a:off x="0" y="2952640"/>
          <a:ext cx="5971020" cy="599625"/>
        </a:xfrm>
        <a:prstGeom prst="roundRect">
          <a:avLst/>
        </a:prstGeom>
        <a:solidFill>
          <a:schemeClr val="accent1">
            <a:lumMod val="75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500" kern="1200"/>
            <a:t>Pregunta 3: Modelo general</a:t>
          </a:r>
          <a:endParaRPr lang="en-US" sz="2500" kern="1200"/>
        </a:p>
      </dsp:txBody>
      <dsp:txXfrm>
        <a:off x="29271" y="2981911"/>
        <a:ext cx="5912478" cy="541083"/>
      </dsp:txXfrm>
    </dsp:sp>
    <dsp:sp modelId="{9D0BE2E9-4436-49AA-AE7A-73B251ED05D6}">
      <dsp:nvSpPr>
        <dsp:cNvPr id="0" name=""/>
        <dsp:cNvSpPr/>
      </dsp:nvSpPr>
      <dsp:spPr>
        <a:xfrm>
          <a:off x="0" y="3624265"/>
          <a:ext cx="5971020" cy="599625"/>
        </a:xfrm>
        <a:prstGeom prst="roundRect">
          <a:avLst/>
        </a:prstGeom>
        <a:solidFill>
          <a:schemeClr val="accent1">
            <a:lumMod val="75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500" kern="1200"/>
            <a:t>Tablero interactivo y despliegue</a:t>
          </a:r>
          <a:endParaRPr lang="en-US" sz="2500" kern="1200"/>
        </a:p>
      </dsp:txBody>
      <dsp:txXfrm>
        <a:off x="29271" y="3653536"/>
        <a:ext cx="5912478" cy="54108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A684C9-837A-49B7-9A40-77316BD07D60}">
      <dsp:nvSpPr>
        <dsp:cNvPr id="0" name=""/>
        <dsp:cNvSpPr/>
      </dsp:nvSpPr>
      <dsp:spPr>
        <a:xfrm>
          <a:off x="0" y="682327"/>
          <a:ext cx="10515600" cy="1259681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29CD5C-EDEC-4BFF-8DAA-90886A536A92}">
      <dsp:nvSpPr>
        <dsp:cNvPr id="0" name=""/>
        <dsp:cNvSpPr/>
      </dsp:nvSpPr>
      <dsp:spPr>
        <a:xfrm>
          <a:off x="381053" y="965755"/>
          <a:ext cx="692824" cy="6928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656FE8-6CEF-4978-97D5-6A3B651FACFB}">
      <dsp:nvSpPr>
        <dsp:cNvPr id="0" name=""/>
        <dsp:cNvSpPr/>
      </dsp:nvSpPr>
      <dsp:spPr>
        <a:xfrm>
          <a:off x="1454932" y="682327"/>
          <a:ext cx="9060667" cy="12596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16" tIns="133316" rIns="133316" bIns="133316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b="1" kern="1200"/>
            <a:t>¿Es posible predecir si un estudiante del Atlántico, a partir de las características institucionales de su colegio, alcanzará un puntaje global alto en las pruebas Saber 11?</a:t>
          </a:r>
          <a:endParaRPr lang="en-US" sz="2000" kern="1200"/>
        </a:p>
      </dsp:txBody>
      <dsp:txXfrm>
        <a:off x="1454932" y="682327"/>
        <a:ext cx="9060667" cy="1259681"/>
      </dsp:txXfrm>
    </dsp:sp>
    <dsp:sp modelId="{28533162-8E72-4D6B-9CE3-9ED6FC0395C7}">
      <dsp:nvSpPr>
        <dsp:cNvPr id="0" name=""/>
        <dsp:cNvSpPr/>
      </dsp:nvSpPr>
      <dsp:spPr>
        <a:xfrm>
          <a:off x="0" y="2256929"/>
          <a:ext cx="10515600" cy="1259681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789D9C-A200-4611-AE16-6182D8E5088D}">
      <dsp:nvSpPr>
        <dsp:cNvPr id="0" name=""/>
        <dsp:cNvSpPr/>
      </dsp:nvSpPr>
      <dsp:spPr>
        <a:xfrm>
          <a:off x="381053" y="2540357"/>
          <a:ext cx="692824" cy="6928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15E983-CD71-448E-B868-B0A207774066}">
      <dsp:nvSpPr>
        <dsp:cNvPr id="0" name=""/>
        <dsp:cNvSpPr/>
      </dsp:nvSpPr>
      <dsp:spPr>
        <a:xfrm>
          <a:off x="1454932" y="2256929"/>
          <a:ext cx="9060667" cy="12596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16" tIns="133316" rIns="133316" bIns="133316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b="1" kern="1200"/>
            <a:t>Relevancia para el usuario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/>
            <a:t>Permite reconocer perfiles de estudiantes con mayor probabilidad de alto desempeño y orientar estrategias de acompañamiento académico, asignación de recursos y políticas de calidad educativa en el departamento.</a:t>
          </a:r>
          <a:endParaRPr lang="en-US" sz="1500" kern="1200"/>
        </a:p>
      </dsp:txBody>
      <dsp:txXfrm>
        <a:off x="1454932" y="2256929"/>
        <a:ext cx="9060667" cy="12596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C453CA-5B54-4700-B40D-05D637CB6C10}">
      <dsp:nvSpPr>
        <dsp:cNvPr id="0" name=""/>
        <dsp:cNvSpPr/>
      </dsp:nvSpPr>
      <dsp:spPr>
        <a:xfrm>
          <a:off x="0" y="209946"/>
          <a:ext cx="10515600" cy="1732061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0D84C9-D864-4182-B7C9-95BD595458E3}">
      <dsp:nvSpPr>
        <dsp:cNvPr id="0" name=""/>
        <dsp:cNvSpPr/>
      </dsp:nvSpPr>
      <dsp:spPr>
        <a:xfrm>
          <a:off x="523948" y="599660"/>
          <a:ext cx="952634" cy="9526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A0AA75-6F2A-4C40-A05F-9BCF55B9F306}">
      <dsp:nvSpPr>
        <dsp:cNvPr id="0" name=""/>
        <dsp:cNvSpPr/>
      </dsp:nvSpPr>
      <dsp:spPr>
        <a:xfrm>
          <a:off x="2000531" y="209946"/>
          <a:ext cx="8515068" cy="17320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310" tIns="183310" rIns="183310" bIns="18331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b="1" kern="1200"/>
            <a:t>¿Es posible predecir si un estudiante del Atlántico obtendrá un puntaje global alto a partir de sus condiciones y características familiares?</a:t>
          </a:r>
          <a:endParaRPr lang="en-US" sz="2000" kern="1200"/>
        </a:p>
      </dsp:txBody>
      <dsp:txXfrm>
        <a:off x="2000531" y="209946"/>
        <a:ext cx="8515068" cy="1732061"/>
      </dsp:txXfrm>
    </dsp:sp>
    <dsp:sp modelId="{95A493B8-0776-44B1-90FF-9FB2CC2AB7BB}">
      <dsp:nvSpPr>
        <dsp:cNvPr id="0" name=""/>
        <dsp:cNvSpPr/>
      </dsp:nvSpPr>
      <dsp:spPr>
        <a:xfrm>
          <a:off x="0" y="2256929"/>
          <a:ext cx="10515600" cy="1732061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F3CAF7-24B1-43AD-BD2F-5FBB55E6CB15}">
      <dsp:nvSpPr>
        <dsp:cNvPr id="0" name=""/>
        <dsp:cNvSpPr/>
      </dsp:nvSpPr>
      <dsp:spPr>
        <a:xfrm>
          <a:off x="523948" y="2646643"/>
          <a:ext cx="952634" cy="9526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F5C536-C674-45B1-9B77-FCF6E50D890C}">
      <dsp:nvSpPr>
        <dsp:cNvPr id="0" name=""/>
        <dsp:cNvSpPr/>
      </dsp:nvSpPr>
      <dsp:spPr>
        <a:xfrm>
          <a:off x="2000531" y="2256929"/>
          <a:ext cx="8515068" cy="17320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310" tIns="183310" rIns="183310" bIns="18331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b="1" kern="1200"/>
            <a:t>Relevancia para el usuario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err="1"/>
            <a:t>Identificar</a:t>
          </a:r>
          <a:r>
            <a:rPr lang="en-US" sz="1300" kern="1200"/>
            <a:t> </a:t>
          </a:r>
          <a:r>
            <a:rPr lang="en-US" sz="1300" kern="1200" err="1"/>
            <a:t>perfiles</a:t>
          </a:r>
          <a:r>
            <a:rPr lang="en-US" sz="1300" kern="1200"/>
            <a:t> de </a:t>
          </a:r>
          <a:r>
            <a:rPr lang="en-US" sz="1300" kern="1200" err="1"/>
            <a:t>estudiantes</a:t>
          </a:r>
          <a:r>
            <a:rPr lang="en-US" sz="1300" kern="1200"/>
            <a:t> con mayor </a:t>
          </a:r>
          <a:r>
            <a:rPr lang="en-US" sz="1300" kern="1200" err="1"/>
            <a:t>probabilidad</a:t>
          </a:r>
          <a:r>
            <a:rPr lang="en-US" sz="1300" kern="1200"/>
            <a:t> de </a:t>
          </a:r>
          <a:r>
            <a:rPr lang="en-US" sz="1300" kern="1200" err="1"/>
            <a:t>alcanzar</a:t>
          </a:r>
          <a:r>
            <a:rPr lang="en-US" sz="1300" kern="1200"/>
            <a:t> altos </a:t>
          </a:r>
          <a:r>
            <a:rPr lang="en-US" sz="1300" kern="1200" err="1"/>
            <a:t>puntajes</a:t>
          </a:r>
          <a:r>
            <a:rPr lang="en-US" sz="1300" kern="1200"/>
            <a:t> </a:t>
          </a:r>
          <a:r>
            <a:rPr lang="en-US" sz="1300" kern="1200" err="1"/>
            <a:t>en</a:t>
          </a:r>
          <a:r>
            <a:rPr lang="en-US" sz="1300" kern="1200"/>
            <a:t> las </a:t>
          </a:r>
          <a:r>
            <a:rPr lang="en-US" sz="1300" kern="1200" err="1"/>
            <a:t>pruebas</a:t>
          </a:r>
          <a:r>
            <a:rPr lang="en-US" sz="1300" kern="1200"/>
            <a:t> Saber 11 y </a:t>
          </a:r>
          <a:r>
            <a:rPr lang="en-US" sz="1300" kern="1200" err="1"/>
            <a:t>comprender</a:t>
          </a:r>
          <a:r>
            <a:rPr lang="en-US" sz="1300" kern="1200"/>
            <a:t> </a:t>
          </a:r>
          <a:r>
            <a:rPr lang="en-US" sz="1300" kern="1200" err="1"/>
            <a:t>cómo</a:t>
          </a:r>
          <a:r>
            <a:rPr lang="en-US" sz="1300" kern="1200"/>
            <a:t> las </a:t>
          </a:r>
          <a:r>
            <a:rPr lang="en-US" sz="1300" kern="1200" err="1"/>
            <a:t>condiciones</a:t>
          </a:r>
          <a:r>
            <a:rPr lang="en-US" sz="1300" kern="1200"/>
            <a:t> </a:t>
          </a:r>
          <a:r>
            <a:rPr lang="en-US" sz="1300" kern="1200" err="1"/>
            <a:t>familiares</a:t>
          </a:r>
          <a:r>
            <a:rPr lang="en-US" sz="1300" kern="1200"/>
            <a:t> </a:t>
          </a:r>
          <a:r>
            <a:rPr lang="en-US" sz="1300" kern="1200" err="1"/>
            <a:t>influyen</a:t>
          </a:r>
          <a:r>
            <a:rPr lang="en-US" sz="1300" kern="1200"/>
            <a:t> </a:t>
          </a:r>
          <a:r>
            <a:rPr lang="en-US" sz="1300" kern="1200" err="1"/>
            <a:t>en</a:t>
          </a:r>
          <a:r>
            <a:rPr lang="en-US" sz="1300" kern="1200"/>
            <a:t> </a:t>
          </a:r>
          <a:r>
            <a:rPr lang="en-US" sz="1300" kern="1200" err="1"/>
            <a:t>el</a:t>
          </a:r>
          <a:r>
            <a:rPr lang="en-US" sz="1300" kern="1200"/>
            <a:t> </a:t>
          </a:r>
          <a:r>
            <a:rPr lang="en-US" sz="1300" kern="1200" err="1"/>
            <a:t>desempeño</a:t>
          </a:r>
          <a:r>
            <a:rPr lang="en-US" sz="1300" kern="1200"/>
            <a:t> </a:t>
          </a:r>
          <a:r>
            <a:rPr lang="en-US" sz="1300" kern="1200" err="1"/>
            <a:t>académico</a:t>
          </a:r>
          <a:r>
            <a:rPr lang="en-US" sz="1300" kern="1200"/>
            <a:t>.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Los </a:t>
          </a:r>
          <a:r>
            <a:rPr lang="en-US" sz="1300" kern="1200" err="1"/>
            <a:t>resultados</a:t>
          </a:r>
          <a:r>
            <a:rPr lang="en-US" sz="1300" kern="1200"/>
            <a:t> </a:t>
          </a:r>
          <a:r>
            <a:rPr lang="en-US" sz="1300" kern="1200" err="1"/>
            <a:t>obtenidos</a:t>
          </a:r>
          <a:r>
            <a:rPr lang="en-US" sz="1300" kern="1200"/>
            <a:t> </a:t>
          </a:r>
          <a:r>
            <a:rPr lang="en-US" sz="1300" kern="1200" err="1"/>
            <a:t>permiten</a:t>
          </a:r>
          <a:r>
            <a:rPr lang="en-US" sz="1300" kern="1200"/>
            <a:t> </a:t>
          </a:r>
          <a:r>
            <a:rPr lang="en-US" sz="1300" kern="1200" err="1"/>
            <a:t>apoyar</a:t>
          </a:r>
          <a:r>
            <a:rPr lang="en-US" sz="1300" kern="1200"/>
            <a:t> </a:t>
          </a:r>
          <a:r>
            <a:rPr lang="en-US" sz="1300" kern="1200" err="1"/>
            <a:t>procesos</a:t>
          </a:r>
          <a:r>
            <a:rPr lang="en-US" sz="1300" kern="1200"/>
            <a:t> de </a:t>
          </a:r>
          <a:r>
            <a:rPr lang="en-US" sz="1300" kern="1200" err="1"/>
            <a:t>toma</a:t>
          </a:r>
          <a:r>
            <a:rPr lang="en-US" sz="1300" kern="1200"/>
            <a:t> de </a:t>
          </a:r>
          <a:r>
            <a:rPr lang="en-US" sz="1300" kern="1200" err="1"/>
            <a:t>decisiones</a:t>
          </a:r>
          <a:r>
            <a:rPr lang="en-US" sz="1300" kern="1200"/>
            <a:t> </a:t>
          </a:r>
          <a:r>
            <a:rPr lang="en-US" sz="1300" kern="1200" err="1"/>
            <a:t>relacionados</a:t>
          </a:r>
          <a:r>
            <a:rPr lang="en-US" sz="1300" kern="1200"/>
            <a:t> con </a:t>
          </a:r>
          <a:r>
            <a:rPr lang="en-US" sz="1300" kern="1200" err="1"/>
            <a:t>acompañamiento</a:t>
          </a:r>
          <a:r>
            <a:rPr lang="en-US" sz="1300" kern="1200"/>
            <a:t> </a:t>
          </a:r>
          <a:r>
            <a:rPr lang="en-US" sz="1300" kern="1200" err="1"/>
            <a:t>académico</a:t>
          </a:r>
          <a:r>
            <a:rPr lang="en-US" sz="1300" kern="1200"/>
            <a:t>, </a:t>
          </a:r>
          <a:r>
            <a:rPr lang="en-US" sz="1300" kern="1200" err="1"/>
            <a:t>focalización</a:t>
          </a:r>
          <a:r>
            <a:rPr lang="en-US" sz="1300" kern="1200"/>
            <a:t> de </a:t>
          </a:r>
          <a:r>
            <a:rPr lang="en-US" sz="1300" kern="1200" err="1"/>
            <a:t>recursos</a:t>
          </a:r>
          <a:r>
            <a:rPr lang="en-US" sz="1300" kern="1200"/>
            <a:t> </a:t>
          </a:r>
          <a:r>
            <a:rPr lang="en-US" sz="1300" kern="1200" err="1"/>
            <a:t>educativos</a:t>
          </a:r>
          <a:r>
            <a:rPr lang="en-US" sz="1300" kern="1200"/>
            <a:t> y </a:t>
          </a:r>
          <a:r>
            <a:rPr lang="en-US" sz="1300" kern="1200" err="1"/>
            <a:t>fortalecimiento</a:t>
          </a:r>
          <a:r>
            <a:rPr lang="en-US" sz="1300" kern="1200"/>
            <a:t> de </a:t>
          </a:r>
          <a:r>
            <a:rPr lang="en-US" sz="1300" kern="1200" err="1"/>
            <a:t>estrategias</a:t>
          </a:r>
          <a:r>
            <a:rPr lang="en-US" sz="1300" kern="1200"/>
            <a:t> </a:t>
          </a:r>
          <a:r>
            <a:rPr lang="en-US" sz="1300" kern="1200" err="1"/>
            <a:t>orientadas</a:t>
          </a:r>
          <a:r>
            <a:rPr lang="en-US" sz="1300" kern="1200"/>
            <a:t> a </a:t>
          </a:r>
          <a:r>
            <a:rPr lang="en-US" sz="1300" kern="1200" err="1"/>
            <a:t>mejorar</a:t>
          </a:r>
          <a:r>
            <a:rPr lang="en-US" sz="1300" kern="1200"/>
            <a:t> la </a:t>
          </a:r>
          <a:r>
            <a:rPr lang="en-US" sz="1300" kern="1200" err="1"/>
            <a:t>calidad</a:t>
          </a:r>
          <a:r>
            <a:rPr lang="en-US" sz="1300" kern="1200"/>
            <a:t> </a:t>
          </a:r>
          <a:r>
            <a:rPr lang="en-US" sz="1300" kern="1200" err="1"/>
            <a:t>educativa</a:t>
          </a:r>
          <a:r>
            <a:rPr lang="en-US" sz="1300" kern="1200"/>
            <a:t> </a:t>
          </a:r>
          <a:r>
            <a:rPr lang="en-US" sz="1300" kern="1200" err="1"/>
            <a:t>en</a:t>
          </a:r>
          <a:r>
            <a:rPr lang="en-US" sz="1300" kern="1200"/>
            <a:t> </a:t>
          </a:r>
          <a:r>
            <a:rPr lang="en-US" sz="1300" kern="1200" err="1"/>
            <a:t>el</a:t>
          </a:r>
          <a:r>
            <a:rPr lang="en-US" sz="1300" kern="1200"/>
            <a:t> </a:t>
          </a:r>
          <a:r>
            <a:rPr lang="en-US" sz="1300" kern="1200" err="1"/>
            <a:t>departamento</a:t>
          </a:r>
          <a:r>
            <a:rPr lang="en-US" sz="1300" kern="1200"/>
            <a:t>.</a:t>
          </a:r>
        </a:p>
      </dsp:txBody>
      <dsp:txXfrm>
        <a:off x="2000531" y="2256929"/>
        <a:ext cx="8515068" cy="173206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C453CA-5B54-4700-B40D-05D637CB6C10}">
      <dsp:nvSpPr>
        <dsp:cNvPr id="0" name=""/>
        <dsp:cNvSpPr/>
      </dsp:nvSpPr>
      <dsp:spPr>
        <a:xfrm>
          <a:off x="0" y="367407"/>
          <a:ext cx="10515600" cy="1574601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0D84C9-D864-4182-B7C9-95BD595458E3}">
      <dsp:nvSpPr>
        <dsp:cNvPr id="0" name=""/>
        <dsp:cNvSpPr/>
      </dsp:nvSpPr>
      <dsp:spPr>
        <a:xfrm>
          <a:off x="476317" y="721692"/>
          <a:ext cx="866030" cy="8660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A0AA75-6F2A-4C40-A05F-9BCF55B9F306}">
      <dsp:nvSpPr>
        <dsp:cNvPr id="0" name=""/>
        <dsp:cNvSpPr/>
      </dsp:nvSpPr>
      <dsp:spPr>
        <a:xfrm>
          <a:off x="1818665" y="367407"/>
          <a:ext cx="8696934" cy="15746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45" tIns="166645" rIns="166645" bIns="166645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b="1" kern="1200" dirty="0"/>
            <a:t>¿</a:t>
          </a:r>
          <a:r>
            <a:rPr lang="es-CO" sz="2000" b="1" kern="1200" dirty="0">
              <a:latin typeface="Century Gothic" panose="020B0502020202020204"/>
            </a:rPr>
            <a:t>En qué medida las condiciones socioeconómicas, el acceso a recursos tecnológicos y ciertas características institucionales permiten predecir el puntaje global de los estudiantes del Atlántico en las pruebas saber 11?</a:t>
          </a:r>
          <a:endParaRPr lang="en-US" sz="2000" kern="1200" dirty="0"/>
        </a:p>
      </dsp:txBody>
      <dsp:txXfrm>
        <a:off x="1818665" y="367407"/>
        <a:ext cx="8696934" cy="1574601"/>
      </dsp:txXfrm>
    </dsp:sp>
    <dsp:sp modelId="{95A493B8-0776-44B1-90FF-9FB2CC2AB7BB}">
      <dsp:nvSpPr>
        <dsp:cNvPr id="0" name=""/>
        <dsp:cNvSpPr/>
      </dsp:nvSpPr>
      <dsp:spPr>
        <a:xfrm>
          <a:off x="0" y="2256929"/>
          <a:ext cx="10515600" cy="1574601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F3CAF7-24B1-43AD-BD2F-5FBB55E6CB15}">
      <dsp:nvSpPr>
        <dsp:cNvPr id="0" name=""/>
        <dsp:cNvSpPr/>
      </dsp:nvSpPr>
      <dsp:spPr>
        <a:xfrm>
          <a:off x="476317" y="2611214"/>
          <a:ext cx="866030" cy="8660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F5C536-C674-45B1-9B77-FCF6E50D890C}">
      <dsp:nvSpPr>
        <dsp:cNvPr id="0" name=""/>
        <dsp:cNvSpPr/>
      </dsp:nvSpPr>
      <dsp:spPr>
        <a:xfrm>
          <a:off x="1818665" y="2256929"/>
          <a:ext cx="8696934" cy="15746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45" tIns="166645" rIns="166645" bIns="166645" numCol="1" spcCol="1270" anchor="ctr" anchorCtr="0">
          <a:noAutofit/>
        </a:bodyPr>
        <a:lstStyle/>
        <a:p>
          <a:pPr marL="0" lvl="0" indent="0" algn="l" defTabSz="6223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b="1" kern="1200" dirty="0"/>
            <a:t>Relevancia para el </a:t>
          </a:r>
          <a:r>
            <a:rPr lang="es-CO" sz="1400" b="1" kern="1200" dirty="0">
              <a:latin typeface="Century Gothic" panose="020B0502020202020204"/>
            </a:rPr>
            <a:t>usuario:</a:t>
          </a:r>
          <a:r>
            <a:rPr lang="es-CO" sz="1400" b="1" kern="1200" dirty="0"/>
            <a:t> </a:t>
          </a:r>
          <a:r>
            <a:rPr lang="es-CO" sz="1400" b="1" kern="1200" dirty="0">
              <a:latin typeface="Century Gothic" panose="020B0502020202020204"/>
            </a:rPr>
            <a:t>                                                                                                                  </a:t>
          </a:r>
          <a:r>
            <a:rPr lang="es-CO" sz="1400" b="0" kern="1200" dirty="0">
              <a:latin typeface="Century Gothic" panose="020B0502020202020204"/>
            </a:rPr>
            <a:t>                      </a:t>
          </a:r>
          <a:r>
            <a:rPr lang="es-CO" sz="1400" b="0" kern="1200" dirty="0"/>
            <a:t>Secretaría</a:t>
          </a:r>
          <a:r>
            <a:rPr lang="es-CO" sz="1400" b="0" kern="1200" dirty="0">
              <a:latin typeface="Century Gothic" panose="020B0502020202020204"/>
            </a:rPr>
            <a:t> Atlántico estimar </a:t>
          </a:r>
          <a:r>
            <a:rPr lang="es-CO" sz="1400" b="0" kern="1200" dirty="0"/>
            <a:t> puntaje global esperado a partir de condiciones </a:t>
          </a:r>
          <a:r>
            <a:rPr lang="es-CO" sz="1400" b="0" kern="1200" dirty="0">
              <a:latin typeface="Century Gothic" panose="020B0502020202020204"/>
            </a:rPr>
            <a:t>disponibles. Identificar</a:t>
          </a:r>
          <a:r>
            <a:rPr lang="es-CO" sz="1400" b="0" kern="1200" dirty="0"/>
            <a:t> brechas académicas, priorizar </a:t>
          </a:r>
          <a:r>
            <a:rPr lang="es-CO" sz="1400" b="0" kern="1200" dirty="0">
              <a:latin typeface="Century Gothic" panose="020B0502020202020204"/>
            </a:rPr>
            <a:t>estudiantes con</a:t>
          </a:r>
          <a:r>
            <a:rPr lang="es-CO" sz="1400" b="0" kern="1200" dirty="0"/>
            <a:t> mayor necesidad de </a:t>
          </a:r>
          <a:r>
            <a:rPr lang="es-CO" sz="1400" b="0" kern="1200" dirty="0">
              <a:latin typeface="Century Gothic" panose="020B0502020202020204"/>
            </a:rPr>
            <a:t>apoyo,</a:t>
          </a:r>
          <a:r>
            <a:rPr lang="es-CO" sz="1400" b="0" kern="1200" dirty="0"/>
            <a:t> orientar mejor sus estrategias de acompañamiento, inversión tecnológica y fortalecimiento educativo.</a:t>
          </a:r>
          <a:endParaRPr lang="es-CO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800" b="0" kern="1200" dirty="0">
            <a:latin typeface="Century Gothic" panose="020B0502020202020204"/>
          </a:endParaRPr>
        </a:p>
      </dsp:txBody>
      <dsp:txXfrm>
        <a:off x="1818665" y="2256929"/>
        <a:ext cx="8696934" cy="15746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482B951-AFFF-3499-FDE3-02A7F0BD15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E5896A-FCE2-110F-B202-A8E435372D6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E69F83-204D-4778-AAD0-A0F851A3AEEE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1BFBA0-47AD-543A-6AE4-769D8F865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FC355-FEF6-ED8F-8D0E-F362E204A0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669D59-B021-49CB-887D-52B8FEE1CE1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0690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E3C21-C3CB-4B8D-9033-56C1B3CE75FA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732C3C-A191-48C2-A7E8-9C96AF841A7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39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048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480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793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D5C8A-DDFC-B347-1A1D-F67B96566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D38DBC-711E-F842-BFA2-3A40C3E65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56CCFB-A217-6CCE-22AF-BC37B09573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1030A-ACAA-EC53-6ECA-6D07E954A4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6151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FA5DD-AD32-C96C-EE2D-29D38430E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C83AD5-66DB-7605-E249-840F4FEB2D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D91A73-E535-F2BE-54C5-0A0329832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E2D97-98CC-CD0C-E8BB-FF42522372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8570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2815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55C52-C7E1-A468-90D9-0C255E6F0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A788F5-5F97-C5E0-8091-BABDFF5803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EC1753-9630-23CB-A520-EEBDBA6775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E26CE-EDAA-1F3E-2645-CFF47D0B78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7863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060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E7110-94EA-C905-6F54-952CDCF8E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BF0EF3-70D4-9CA6-CB55-71B37FDC3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7D067B-18FB-6712-CF2C-5D3E389E8F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A2D64-643B-40BB-0B08-78DB551617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8081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21775-A4DB-A145-1906-A694A0CAB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F61012-C03D-E47F-2F19-E6C961C6A1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9CA75B-9EC9-8E87-86EE-B382D7E107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0FFCB-8E6B-C4E8-A7C8-5060A82788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1941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9AB76-05CA-4701-DE48-30ADC87E7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31F7C5-97D2-E854-7D27-C77CFB7372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DCAD5E-E3C8-1C66-DECB-6A0D1E38C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C61013-1170-90FB-D345-51AC53C444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7997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80E78-E9F7-1D77-30C8-85E41E3E8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697470-2FB7-B8CA-7B71-F1AEA97FE8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70B0B9-4A2F-DA27-451D-D199B5208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F5D87-2ADA-DCB7-B336-F05ADD8D0A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6489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9A450-3BD6-3A9A-F161-8D79C73B6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C06548-646B-DE17-ACA0-6F65382F0D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EED469-D437-BAE9-0850-7F68F2AE5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9D7BA-92BB-71ED-1C29-107284C096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7171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1273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43C95-B829-B708-76C7-7C0F0BC81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16BBB3-FAEF-9EA7-5891-B9C3A8E9F9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AD0BCF-248A-1E1C-553D-A2B16CEDD5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631283-5A44-E1BA-3781-CF87F4E351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9471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7715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118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33046"/>
            <a:ext cx="10571998" cy="3366198"/>
          </a:xfrm>
          <a:ln>
            <a:noFill/>
          </a:ln>
          <a:effectLst/>
        </p:spPr>
        <p:txBody>
          <a:bodyPr/>
          <a:lstStyle>
            <a:lvl1pPr algn="ctr">
              <a:defRPr sz="7200" b="1" spc="-30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36985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4873FFF3-C7B6-C678-1B03-17FBD0D5A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6174" y="425303"/>
            <a:ext cx="5379242" cy="59834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217" y="924167"/>
            <a:ext cx="4383156" cy="5009322"/>
          </a:xfrm>
          <a:solidFill>
            <a:schemeClr val="accent1">
              <a:lumMod val="50000"/>
            </a:schemeClr>
          </a:solidFill>
          <a:effectLst>
            <a:outerShdw blurRad="254000" dist="50800" dir="2700000" algn="ctr" rotWithShape="0">
              <a:prstClr val="black">
                <a:alpha val="25000"/>
              </a:prstClr>
            </a:outerShdw>
          </a:effectLst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0800" y="924512"/>
            <a:ext cx="4750904" cy="5008977"/>
          </a:xfrm>
        </p:spPr>
        <p:txBody>
          <a:bodyPr/>
          <a:lstStyle>
            <a:lvl1pPr marL="0" indent="0">
              <a:buNone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543050" indent="-171450">
              <a:buFont typeface="Arial" panose="020B0604020202020204" pitchFamily="34" charset="0"/>
              <a:buChar char="•"/>
              <a:defRPr/>
            </a:lvl4pPr>
            <a:lvl5pPr marL="2000250" indent="-1714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79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mmary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905615-9FD2-EBB3-89AB-555B373EB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23955" y="414670"/>
            <a:ext cx="7132110" cy="60180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0EED07-CDD5-9244-28FA-5195E6795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35934" y="422551"/>
            <a:ext cx="4183495" cy="601014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717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B5AB4E8D-8B32-8B00-8152-856C592BAB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46793" y="924340"/>
            <a:ext cx="5684373" cy="5009322"/>
          </a:xfrm>
          <a:effectLst/>
        </p:spPr>
        <p:txBody>
          <a:bodyPr lIns="0" rIns="0" anchor="ctr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1pPr>
            <a:lvl2pPr marL="4572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2pPr>
            <a:lvl3pPr marL="9144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3pPr>
            <a:lvl4pPr marL="13716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4pPr>
            <a:lvl5pPr marL="18288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7692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F4A700F-42CA-D7A9-D709-C0017521B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rgbClr val="F9E0B9"/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61DA139-D8FD-A752-758D-4F836DFB2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353" t="-388" r="-1" b="-254"/>
          <a:stretch/>
        </p:blipFill>
        <p:spPr>
          <a:xfrm rot="16200000" flipH="1">
            <a:off x="210940" y="1589892"/>
            <a:ext cx="5245922" cy="366758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5516" y="1433219"/>
            <a:ext cx="5695102" cy="2092049"/>
          </a:xfrm>
          <a:noFill/>
          <a:effectLst/>
        </p:spPr>
        <p:txBody>
          <a:bodyPr anchor="b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96F37D4-7152-EA75-8D7D-D8F7D6DD9C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50099" y="1974707"/>
            <a:ext cx="2907792" cy="2907792"/>
          </a:xfrm>
          <a:solidFill>
            <a:srgbClr val="F9E0B9"/>
          </a:solidFill>
          <a:effectLst/>
        </p:spPr>
        <p:txBody>
          <a:bodyPr anchor="t"/>
          <a:lstStyle>
            <a:lvl1pPr marL="0" indent="0" algn="ctr"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s-MX"/>
              <a:t>Haz clic en el icono para agregar una imagen</a:t>
            </a:r>
            <a:endParaRPr lang="en-US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AFBE5B12-0D10-DA99-093A-2C4FB738B21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96789" y="3525268"/>
            <a:ext cx="5683829" cy="2595429"/>
          </a:xfrm>
          <a:effectLst/>
        </p:spPr>
        <p:txBody>
          <a:bodyPr anchor="t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b="1">
                <a:solidFill>
                  <a:schemeClr val="accent1">
                    <a:lumMod val="50000"/>
                  </a:schemeClr>
                </a:solidFill>
              </a:defRPr>
            </a:lvl1pPr>
            <a:lvl2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9950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633845"/>
            <a:ext cx="3990110" cy="219248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5614EF-4CFA-2D69-0F78-9D7409E2337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7423" y="3174531"/>
            <a:ext cx="3772622" cy="3122360"/>
          </a:xfrm>
          <a:effectLst/>
        </p:spPr>
        <p:txBody>
          <a:bodyPr rIns="274320" anchor="t"/>
          <a:lstStyle>
            <a:lvl1pPr marL="283464" indent="-28346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237732" y="946205"/>
            <a:ext cx="5971020" cy="5161655"/>
          </a:xfrm>
        </p:spPr>
        <p:txBody>
          <a:bodyPr/>
          <a:lstStyle/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1640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3E625C-F0A4-564D-CEE2-6B3595CEB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61889" y="0"/>
            <a:ext cx="6230111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7445" y="157637"/>
            <a:ext cx="4851694" cy="2190705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4D8C78-00C3-F3D7-17C3-F1667E463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422551"/>
            <a:ext cx="5124893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13E61FD-F54A-5F86-FCED-3BD4C8AA4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353" t="-388" r="-1" b="-254"/>
          <a:stretch/>
        </p:blipFill>
        <p:spPr>
          <a:xfrm flipH="1">
            <a:off x="659106" y="3429000"/>
            <a:ext cx="4589830" cy="2780414"/>
          </a:xfrm>
          <a:prstGeom prst="rect">
            <a:avLst/>
          </a:prstGeom>
        </p:spPr>
      </p:pic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347A5B6-0F99-C044-C209-F3190EEFA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36663" y="776288"/>
            <a:ext cx="3433762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s-MX"/>
              <a:t>Haz clic en el icono para agregar una imagen</a:t>
            </a:r>
            <a:endParaRPr lang="en-US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592615" y="2505979"/>
            <a:ext cx="4837385" cy="3926717"/>
          </a:xfrm>
          <a:effectLst/>
        </p:spPr>
        <p:txBody>
          <a:bodyPr anchor="t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6681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ntent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153836" y="1371602"/>
            <a:ext cx="6177309" cy="1953489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087279F-936E-0F41-B533-7990D668D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53836" y="3446156"/>
            <a:ext cx="6177309" cy="0"/>
          </a:xfrm>
          <a:prstGeom prst="line">
            <a:avLst/>
          </a:prstGeom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CDD03AA1-6D53-FEB1-9B22-57C1066DA33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53836" y="3745924"/>
            <a:ext cx="6177309" cy="2238918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9371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85800"/>
            <a:ext cx="10571998" cy="2983528"/>
          </a:xfrm>
          <a:effectLst/>
        </p:spPr>
        <p:txBody>
          <a:bodyPr/>
          <a:lstStyle>
            <a:lvl1pPr algn="ctr">
              <a:defRPr sz="3600" spc="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23403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Content and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12B799F-04B8-4A62-EB7D-F17311231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56500" y="0"/>
            <a:ext cx="4635500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6952" y="477518"/>
            <a:ext cx="3829465" cy="2693887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4BBA88A-FAA8-CE13-2A76-BF8B014AE34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952500" y="909638"/>
            <a:ext cx="5578475" cy="5038725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s-MX"/>
              <a:t>Haz clic en el icono para agregar una tabla</a:t>
            </a:r>
            <a:endParaRPr lang="en-US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036953" y="3449781"/>
            <a:ext cx="3829465" cy="2940860"/>
          </a:xfrm>
          <a:effectLst/>
        </p:spPr>
        <p:txBody>
          <a:bodyPr anchor="t"/>
          <a:lstStyle>
            <a:lvl1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2818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y tabl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373" y="571501"/>
            <a:ext cx="11139054" cy="1028699"/>
          </a:xfrm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E10735F5-6B7D-348D-AC70-8BC10CB5F70A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860550"/>
            <a:ext cx="10515600" cy="4198938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s-MX"/>
              <a:t>Haz clic en el icono para agregar una tabla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634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FDAFCA1-BDD9-1108-8F95-E3FC1A793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0"/>
            <a:ext cx="11532896" cy="6858000"/>
            <a:chOff x="659106" y="0"/>
            <a:chExt cx="11532896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4BFDB24-6BE4-2FC0-F772-DC1DE926E485}"/>
                </a:ext>
              </a:extLst>
            </p:cNvPr>
            <p:cNvSpPr/>
            <p:nvPr/>
          </p:nvSpPr>
          <p:spPr>
            <a:xfrm>
              <a:off x="5995086" y="0"/>
              <a:ext cx="6196916" cy="6858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>
              <a:outerShdw blurRad="254000" dist="508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131EABEA-AB8A-5E4C-A6DD-8F32B70E90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-1353" t="-388" r="-1" b="-254"/>
            <a:stretch/>
          </p:blipFill>
          <p:spPr>
            <a:xfrm flipH="1">
              <a:off x="659106" y="1956391"/>
              <a:ext cx="4878094" cy="2780414"/>
            </a:xfrm>
            <a:prstGeom prst="rect">
              <a:avLst/>
            </a:prstGeom>
          </p:spPr>
        </p:pic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542" y="132080"/>
            <a:ext cx="4928894" cy="6507711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720B2D-C199-57FA-9453-DBFB607BA9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9500" y="992188"/>
            <a:ext cx="3425825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s-MX"/>
              <a:t>Haz clic en el icono para agregar una imagen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858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lumn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B12E34E-DBAF-BA5D-15D9-E69A05535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1889759"/>
            <a:ext cx="11424920" cy="45429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571499"/>
            <a:ext cx="11118274" cy="1154114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BF6A552-CE6A-3977-8507-74A1C4C4B5A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41667" y="2461056"/>
            <a:ext cx="3626424" cy="3721535"/>
          </a:xfrm>
          <a:effectLst/>
        </p:spPr>
        <p:txBody>
          <a:bodyPr anchor="t">
            <a:normAutofit/>
          </a:bodyPr>
          <a:lstStyle>
            <a:lvl1pPr marL="285750" indent="-28575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400"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4C80689F-A123-F6D7-2AA8-9166317EF42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995282" y="2440275"/>
            <a:ext cx="5164553" cy="3721534"/>
          </a:xfrm>
          <a:effectLst/>
        </p:spPr>
        <p:txBody>
          <a:bodyPr anchor="t">
            <a:norm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+mj-lt"/>
              <a:buAutoNum type="arabicPeriod"/>
              <a:defRPr sz="1800" b="1">
                <a:solidFill>
                  <a:schemeClr val="accent1">
                    <a:lumMod val="50000"/>
                  </a:schemeClr>
                </a:solidFill>
              </a:defRPr>
            </a:lvl1pPr>
            <a:lvl2pPr marL="34747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82021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 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660" y="1017858"/>
            <a:ext cx="10650681" cy="2719255"/>
          </a:xfrm>
          <a:noFill/>
          <a:effectLst/>
        </p:spPr>
        <p:txBody>
          <a:bodyPr anchor="b"/>
          <a:lstStyle>
            <a:lvl1pPr algn="ctr">
              <a:defRPr sz="7200" spc="-30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0660" y="4042066"/>
            <a:ext cx="10650681" cy="2296843"/>
          </a:xfrm>
          <a:effectLst/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72508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6F7BD38-A805-4B2C-9BDF-D56E94387879}" type="datetime1">
              <a:rPr lang="en-US" smtClean="0"/>
              <a:t>5/25/2026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  <p:sldLayoutId id="2147483783" r:id="rId13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 baseline="0">
          <a:ln>
            <a:noFill/>
          </a:ln>
          <a:solidFill>
            <a:srgbClr val="FEFEFE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44EBAE47-5E8A-D5B4-B271-324D2D470B37}"/>
              </a:ext>
            </a:extLst>
          </p:cNvPr>
          <p:cNvSpPr/>
          <p:nvPr/>
        </p:nvSpPr>
        <p:spPr>
          <a:xfrm>
            <a:off x="0" y="0"/>
            <a:ext cx="12192000" cy="46138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A762A4-2E4B-23FB-9F8B-D54C0F90A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962536"/>
            <a:ext cx="10571998" cy="4748573"/>
          </a:xfrm>
        </p:spPr>
        <p:txBody>
          <a:bodyPr/>
          <a:lstStyle/>
          <a:p>
            <a:pPr>
              <a:buNone/>
            </a:pPr>
            <a:r>
              <a:rPr lang="es-CO" spc="0">
                <a:solidFill>
                  <a:srgbClr val="002060"/>
                </a:solidFill>
              </a:rPr>
              <a:t>Análisis de Resultados Saber 11</a:t>
            </a:r>
          </a:p>
          <a:p>
            <a:pPr algn="ctr">
              <a:buNone/>
            </a:pPr>
            <a:br>
              <a:rPr lang="es-CO" sz="2400" spc="0">
                <a:solidFill>
                  <a:srgbClr val="002060"/>
                </a:solidFill>
                <a:latin typeface="+mn-lt"/>
              </a:rPr>
            </a:br>
            <a:br>
              <a:rPr lang="es-CO" sz="2400" spc="0">
                <a:solidFill>
                  <a:srgbClr val="002060"/>
                </a:solidFill>
                <a:latin typeface="+mn-lt"/>
              </a:rPr>
            </a:br>
            <a:r>
              <a:rPr lang="es-CO" sz="2400" spc="0">
                <a:solidFill>
                  <a:srgbClr val="002060"/>
                </a:solidFill>
                <a:latin typeface="+mn-lt"/>
              </a:rPr>
              <a:t>Modelos predictivos para la Secretaría de Educación del Atlántico</a:t>
            </a:r>
            <a:br>
              <a:rPr lang="es-CO" sz="2400" spc="0">
                <a:solidFill>
                  <a:srgbClr val="002060"/>
                </a:solidFill>
                <a:latin typeface="+mn-lt"/>
              </a:rPr>
            </a:br>
            <a:br>
              <a:rPr lang="es-CO" sz="2400" spc="0">
                <a:solidFill>
                  <a:srgbClr val="002060"/>
                </a:solidFill>
                <a:latin typeface="+mn-lt"/>
              </a:rPr>
            </a:br>
            <a:br>
              <a:rPr lang="es-CO" sz="2400" spc="0">
                <a:solidFill>
                  <a:srgbClr val="002060"/>
                </a:solidFill>
                <a:latin typeface="+mn-lt"/>
              </a:rPr>
            </a:br>
            <a:endParaRPr lang="es-CO" sz="2400" spc="0">
              <a:solidFill>
                <a:srgbClr val="002060"/>
              </a:solidFill>
              <a:latin typeface="+mn-lt"/>
            </a:endParaRPr>
          </a:p>
          <a:p>
            <a:pPr algn="ctr">
              <a:buNone/>
            </a:pPr>
            <a:br>
              <a:rPr lang="es-CO" sz="1600" spc="0">
                <a:solidFill>
                  <a:srgbClr val="002060"/>
                </a:solidFill>
                <a:latin typeface="+mn-lt"/>
              </a:rPr>
            </a:br>
            <a:br>
              <a:rPr lang="es-CO" sz="1600" spc="0">
                <a:solidFill>
                  <a:srgbClr val="002060"/>
                </a:solidFill>
                <a:latin typeface="+mn-lt"/>
              </a:rPr>
            </a:br>
            <a:r>
              <a:rPr lang="es-CO" sz="1600" spc="0">
                <a:solidFill>
                  <a:srgbClr val="002060"/>
                </a:solidFill>
                <a:latin typeface="+mn-lt"/>
              </a:rPr>
              <a:t>Isabella Caputi ·       Sofía Vásquez ·       María Paula Ospina</a:t>
            </a:r>
          </a:p>
        </p:txBody>
      </p:sp>
      <p:pic>
        <p:nvPicPr>
          <p:cNvPr id="3" name="Imagen 2" descr="Últimos días para inscribirse al examen SABER 11°, calendario B y F |  Bogota.gov.co">
            <a:extLst>
              <a:ext uri="{FF2B5EF4-FFF2-40B4-BE49-F238E27FC236}">
                <a16:creationId xmlns:a16="http://schemas.microsoft.com/office/drawing/2014/main" id="{9B86FFAE-9D5D-5A32-1277-27344EB74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532" y="4824000"/>
            <a:ext cx="2416012" cy="1376671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151B4D6E-4C67-3125-82B4-F27A0647A1BA}"/>
              </a:ext>
            </a:extLst>
          </p:cNvPr>
          <p:cNvSpPr txBox="1">
            <a:spLocks/>
          </p:cNvSpPr>
          <p:nvPr/>
        </p:nvSpPr>
        <p:spPr>
          <a:xfrm>
            <a:off x="4590397" y="5690753"/>
            <a:ext cx="3011205" cy="393938"/>
          </a:xfrm>
          <a:prstGeom prst="rect">
            <a:avLst/>
          </a:prstGeom>
          <a:ln>
            <a:noFill/>
          </a:ln>
          <a:effectLst/>
        </p:spPr>
        <p:txBody>
          <a:bodyPr vert="horz" lIns="91440" tIns="45720" rIns="91440" bIns="45720" rtlCol="0" anchor="b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7200" b="1" kern="1200" spc="-30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CO" sz="1600" spc="0">
                <a:solidFill>
                  <a:srgbClr val="002060"/>
                </a:solidFill>
                <a:latin typeface="+mn-lt"/>
              </a:rPr>
              <a:t>Universidad de los Andes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FFFD7252-B2D6-9725-AA0A-94FFEB37BD59}"/>
              </a:ext>
            </a:extLst>
          </p:cNvPr>
          <p:cNvSpPr/>
          <p:nvPr/>
        </p:nvSpPr>
        <p:spPr>
          <a:xfrm>
            <a:off x="0" y="6582655"/>
            <a:ext cx="12192000" cy="28768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11F1CEAA-88FF-BB8D-6721-47E92C9A7B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46039"/>
            <a:ext cx="1778400" cy="1789874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50BFD3D0-FCD8-D84D-3FEE-2871F04B79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0359596" y="1546037"/>
            <a:ext cx="1778401" cy="178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65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B7740-ED88-9F6A-89FF-4B0DFAAC3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862" y="2185554"/>
            <a:ext cx="3990110" cy="2192482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es-CO">
                <a:solidFill>
                  <a:schemeClr val="accent1"/>
                </a:solidFill>
              </a:rPr>
              <a:t>Agenda</a:t>
            </a:r>
          </a:p>
        </p:txBody>
      </p:sp>
      <p:graphicFrame>
        <p:nvGraphicFramePr>
          <p:cNvPr id="18" name="Text Placeholder 2">
            <a:extLst>
              <a:ext uri="{FF2B5EF4-FFF2-40B4-BE49-F238E27FC236}">
                <a16:creationId xmlns:a16="http://schemas.microsoft.com/office/drawing/2014/main" id="{B457A208-284B-1711-7B44-2B69921AE0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5673481"/>
              </p:ext>
            </p:extLst>
          </p:nvPr>
        </p:nvGraphicFramePr>
        <p:xfrm>
          <a:off x="5237732" y="946205"/>
          <a:ext cx="5971020" cy="51616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A807FDCB-41E6-20FC-8FE9-7393D7A4EDE3}"/>
              </a:ext>
            </a:extLst>
          </p:cNvPr>
          <p:cNvSpPr/>
          <p:nvPr/>
        </p:nvSpPr>
        <p:spPr>
          <a:xfrm>
            <a:off x="0" y="6582655"/>
            <a:ext cx="12192000" cy="28768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08667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1C43B7FC-8753-4BF0-8F5C-C79C08E54B61}"/>
              </a:ext>
            </a:extLst>
          </p:cNvPr>
          <p:cNvSpPr/>
          <p:nvPr/>
        </p:nvSpPr>
        <p:spPr>
          <a:xfrm>
            <a:off x="5539300" y="2026200"/>
            <a:ext cx="723900" cy="152400"/>
          </a:xfrm>
          <a:prstGeom prst="rightArrow">
            <a:avLst/>
          </a:prstGeom>
          <a:solidFill>
            <a:srgbClr val="7BB3E0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25" name="Flecha: a la derecha 24">
            <a:extLst>
              <a:ext uri="{FF2B5EF4-FFF2-40B4-BE49-F238E27FC236}">
                <a16:creationId xmlns:a16="http://schemas.microsoft.com/office/drawing/2014/main" id="{CF3E1013-3407-4B3D-ABE7-5798B22958D1}"/>
              </a:ext>
            </a:extLst>
          </p:cNvPr>
          <p:cNvSpPr/>
          <p:nvPr/>
        </p:nvSpPr>
        <p:spPr>
          <a:xfrm>
            <a:off x="3443800" y="2026200"/>
            <a:ext cx="977900" cy="152400"/>
          </a:xfrm>
          <a:prstGeom prst="rightArrow">
            <a:avLst/>
          </a:prstGeom>
          <a:solidFill>
            <a:srgbClr val="7BB3E0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D438A87D-C2F9-465F-8589-6CA1FC56CF09}"/>
              </a:ext>
            </a:extLst>
          </p:cNvPr>
          <p:cNvSpPr/>
          <p:nvPr/>
        </p:nvSpPr>
        <p:spPr>
          <a:xfrm>
            <a:off x="1348300" y="2026200"/>
            <a:ext cx="977900" cy="152400"/>
          </a:xfrm>
          <a:prstGeom prst="rightArrow">
            <a:avLst/>
          </a:prstGeom>
          <a:solidFill>
            <a:srgbClr val="7BB3E0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8ECDD0-17F6-3312-AE6D-F7EB95E4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4295" y="1156787"/>
            <a:ext cx="3829465" cy="2693887"/>
          </a:xfrm>
        </p:spPr>
        <p:txBody>
          <a:bodyPr anchor="b">
            <a:normAutofit/>
          </a:bodyPr>
          <a:lstStyle/>
          <a:p>
            <a:pPr algn="ctr"/>
            <a:br>
              <a:rPr lang="es-CO">
                <a:solidFill>
                  <a:srgbClr val="1F4E8C"/>
                </a:solidFill>
                <a:latin typeface="+mn-lt"/>
                <a:ea typeface="+mn-ea"/>
                <a:cs typeface="+mn-cs"/>
              </a:rPr>
            </a:br>
            <a:r>
              <a:rPr lang="es-CO">
                <a:solidFill>
                  <a:srgbClr val="1F4E8C"/>
                </a:solidFill>
                <a:latin typeface="+mn-lt"/>
                <a:ea typeface="+mn-ea"/>
                <a:cs typeface="+mn-cs"/>
              </a:rPr>
              <a:t>Contexto y Usuario final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1B2FD92-A5AC-FCE4-64B2-8ABB5BB7D80B}"/>
              </a:ext>
            </a:extLst>
          </p:cNvPr>
          <p:cNvSpPr/>
          <p:nvPr/>
        </p:nvSpPr>
        <p:spPr>
          <a:xfrm>
            <a:off x="0" y="6582655"/>
            <a:ext cx="12192000" cy="28768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4D4899D2-FA52-4A1A-BE0F-AAEB4598E066}"/>
              </a:ext>
            </a:extLst>
          </p:cNvPr>
          <p:cNvSpPr/>
          <p:nvPr/>
        </p:nvSpPr>
        <p:spPr>
          <a:xfrm>
            <a:off x="52900" y="1365800"/>
            <a:ext cx="1473200" cy="1473200"/>
          </a:xfrm>
          <a:prstGeom prst="ellipse">
            <a:avLst/>
          </a:prstGeom>
          <a:solidFill>
            <a:srgbClr val="EAF2FB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77DAD9C2-B4A8-4117-B9AA-093EF23B1D13}"/>
              </a:ext>
            </a:extLst>
          </p:cNvPr>
          <p:cNvSpPr/>
          <p:nvPr/>
        </p:nvSpPr>
        <p:spPr>
          <a:xfrm>
            <a:off x="154500" y="1467400"/>
            <a:ext cx="1270000" cy="1270000"/>
          </a:xfrm>
          <a:prstGeom prst="ellipse">
            <a:avLst/>
          </a:prstGeom>
          <a:solidFill>
            <a:srgbClr val="1F4E8C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E3AA22E4-278E-474E-A41D-1F99F7FFBE7C}"/>
              </a:ext>
            </a:extLst>
          </p:cNvPr>
          <p:cNvSpPr/>
          <p:nvPr/>
        </p:nvSpPr>
        <p:spPr>
          <a:xfrm>
            <a:off x="2148400" y="1365800"/>
            <a:ext cx="1473200" cy="1473200"/>
          </a:xfrm>
          <a:prstGeom prst="ellipse">
            <a:avLst/>
          </a:prstGeom>
          <a:solidFill>
            <a:srgbClr val="EAF2FB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2B4ACCFA-9795-4BCE-B072-DE941135F857}"/>
              </a:ext>
            </a:extLst>
          </p:cNvPr>
          <p:cNvSpPr/>
          <p:nvPr/>
        </p:nvSpPr>
        <p:spPr>
          <a:xfrm>
            <a:off x="2250000" y="1467400"/>
            <a:ext cx="1270000" cy="1270000"/>
          </a:xfrm>
          <a:prstGeom prst="ellipse">
            <a:avLst/>
          </a:prstGeom>
          <a:solidFill>
            <a:srgbClr val="1F4E8C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30F8699A-4134-4AC9-B3B9-D60A87A5A3EF}"/>
              </a:ext>
            </a:extLst>
          </p:cNvPr>
          <p:cNvSpPr/>
          <p:nvPr/>
        </p:nvSpPr>
        <p:spPr>
          <a:xfrm>
            <a:off x="4243900" y="1365800"/>
            <a:ext cx="1473200" cy="1473200"/>
          </a:xfrm>
          <a:prstGeom prst="ellipse">
            <a:avLst/>
          </a:prstGeom>
          <a:solidFill>
            <a:srgbClr val="EAF2FB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4F21CE37-0132-4594-9E3E-9D5DE8E964EA}"/>
              </a:ext>
            </a:extLst>
          </p:cNvPr>
          <p:cNvSpPr/>
          <p:nvPr/>
        </p:nvSpPr>
        <p:spPr>
          <a:xfrm>
            <a:off x="4345500" y="1467400"/>
            <a:ext cx="1270000" cy="1270000"/>
          </a:xfrm>
          <a:prstGeom prst="ellipse">
            <a:avLst/>
          </a:prstGeom>
          <a:solidFill>
            <a:srgbClr val="1F4E8C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CB6E5016-28E0-469C-B71B-84F14DBF4AEA}"/>
              </a:ext>
            </a:extLst>
          </p:cNvPr>
          <p:cNvSpPr/>
          <p:nvPr/>
        </p:nvSpPr>
        <p:spPr>
          <a:xfrm>
            <a:off x="6085400" y="1365800"/>
            <a:ext cx="1473200" cy="1473200"/>
          </a:xfrm>
          <a:prstGeom prst="ellipse">
            <a:avLst/>
          </a:prstGeom>
          <a:solidFill>
            <a:srgbClr val="EAF2FB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896E7882-667A-4D37-8CDF-548B57187EF6}"/>
              </a:ext>
            </a:extLst>
          </p:cNvPr>
          <p:cNvSpPr/>
          <p:nvPr/>
        </p:nvSpPr>
        <p:spPr>
          <a:xfrm>
            <a:off x="6187000" y="1467400"/>
            <a:ext cx="1270000" cy="1270000"/>
          </a:xfrm>
          <a:prstGeom prst="ellipse">
            <a:avLst/>
          </a:prstGeom>
          <a:solidFill>
            <a:srgbClr val="1F4E8C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pic>
        <p:nvPicPr>
          <p:cNvPr id="35" name="Graphic 3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7400" y="1810300"/>
            <a:ext cx="584200" cy="584200"/>
          </a:xfrm>
          <a:prstGeom prst="rect">
            <a:avLst/>
          </a:prstGeom>
        </p:spPr>
      </p:pic>
      <p:pic>
        <p:nvPicPr>
          <p:cNvPr id="36" name="Graphic 3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92900" y="1810300"/>
            <a:ext cx="584200" cy="584200"/>
          </a:xfrm>
          <a:prstGeom prst="rect">
            <a:avLst/>
          </a:prstGeom>
        </p:spPr>
      </p:pic>
      <p:pic>
        <p:nvPicPr>
          <p:cNvPr id="37" name="Graphic 3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88400" y="1810300"/>
            <a:ext cx="584200" cy="584200"/>
          </a:xfrm>
          <a:prstGeom prst="rect">
            <a:avLst/>
          </a:prstGeom>
        </p:spPr>
      </p:pic>
      <p:pic>
        <p:nvPicPr>
          <p:cNvPr id="38" name="Graphic 3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9900" y="1810300"/>
            <a:ext cx="584200" cy="5842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D90EDE6-BA9A-444C-B176-D8677EC43BF7}"/>
              </a:ext>
            </a:extLst>
          </p:cNvPr>
          <p:cNvSpPr txBox="1"/>
          <p:nvPr/>
        </p:nvSpPr>
        <p:spPr>
          <a:xfrm>
            <a:off x="-36000" y="2927900"/>
            <a:ext cx="165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s-ES" sz="2000" b="1">
                <a:solidFill>
                  <a:srgbClr val="1F4E8C"/>
                </a:solidFill>
              </a:rPr>
              <a:t>Entidad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AD48400-5452-45FF-A63B-79F4B25C1C24}"/>
              </a:ext>
            </a:extLst>
          </p:cNvPr>
          <p:cNvSpPr txBox="1"/>
          <p:nvPr/>
        </p:nvSpPr>
        <p:spPr>
          <a:xfrm>
            <a:off x="23150" y="3890063"/>
            <a:ext cx="1841500" cy="176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s-ES" sz="1500" b="1">
                <a:solidFill>
                  <a:srgbClr val="242852"/>
                </a:solidFill>
              </a:rPr>
              <a:t>Secretaría de Educación</a:t>
            </a:r>
            <a:r>
              <a:rPr lang="es-ES" sz="1500">
                <a:solidFill>
                  <a:srgbClr val="242852"/>
                </a:solidFill>
              </a:rPr>
              <a:t> del Departamento del Atlántico, responsable de la </a:t>
            </a:r>
            <a:r>
              <a:rPr lang="es-ES" sz="1500" b="1">
                <a:solidFill>
                  <a:srgbClr val="242852"/>
                </a:solidFill>
              </a:rPr>
              <a:t>política educativa</a:t>
            </a:r>
            <a:r>
              <a:rPr lang="es-ES" sz="1500">
                <a:solidFill>
                  <a:srgbClr val="242852"/>
                </a:solidFill>
              </a:rPr>
              <a:t>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3C8FFC5-2604-4528-A65B-222D0DC35E37}"/>
              </a:ext>
            </a:extLst>
          </p:cNvPr>
          <p:cNvSpPr txBox="1"/>
          <p:nvPr/>
        </p:nvSpPr>
        <p:spPr>
          <a:xfrm>
            <a:off x="2059500" y="2927900"/>
            <a:ext cx="165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s-ES" sz="2000" b="1">
                <a:solidFill>
                  <a:srgbClr val="1F4E8C"/>
                </a:solidFill>
              </a:rPr>
              <a:t>Rol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8373C65-2DEE-42AD-9271-DD1CF8752B41}"/>
              </a:ext>
            </a:extLst>
          </p:cNvPr>
          <p:cNvSpPr txBox="1"/>
          <p:nvPr/>
        </p:nvSpPr>
        <p:spPr>
          <a:xfrm>
            <a:off x="1931304" y="3854537"/>
            <a:ext cx="1951098" cy="241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s-ES" sz="1500">
                <a:solidFill>
                  <a:srgbClr val="242852"/>
                </a:solidFill>
              </a:rPr>
              <a:t>Asigna </a:t>
            </a:r>
            <a:r>
              <a:rPr lang="es-ES" sz="1500" b="1">
                <a:solidFill>
                  <a:srgbClr val="242852"/>
                </a:solidFill>
              </a:rPr>
              <a:t>recursos</a:t>
            </a:r>
            <a:r>
              <a:rPr lang="es-ES" sz="1500">
                <a:solidFill>
                  <a:srgbClr val="242852"/>
                </a:solidFill>
              </a:rPr>
              <a:t>, diseña </a:t>
            </a:r>
            <a:r>
              <a:rPr lang="es-ES" sz="1500" b="1">
                <a:solidFill>
                  <a:srgbClr val="242852"/>
                </a:solidFill>
              </a:rPr>
              <a:t>programas de mejora</a:t>
            </a:r>
            <a:r>
              <a:rPr lang="es-ES" sz="1500">
                <a:solidFill>
                  <a:srgbClr val="242852"/>
                </a:solidFill>
              </a:rPr>
              <a:t> y monitorea </a:t>
            </a:r>
            <a:r>
              <a:rPr lang="es-ES" sz="1500" b="1">
                <a:solidFill>
                  <a:srgbClr val="242852"/>
                </a:solidFill>
              </a:rPr>
              <a:t>indicadores de calidad</a:t>
            </a:r>
            <a:r>
              <a:rPr lang="es-ES" sz="1500">
                <a:solidFill>
                  <a:srgbClr val="242852"/>
                </a:solidFill>
              </a:rPr>
              <a:t>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E0DD49F-BE53-4146-9034-3575D732EBE1}"/>
              </a:ext>
            </a:extLst>
          </p:cNvPr>
          <p:cNvSpPr txBox="1"/>
          <p:nvPr/>
        </p:nvSpPr>
        <p:spPr>
          <a:xfrm>
            <a:off x="4155000" y="2927900"/>
            <a:ext cx="165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s-ES" sz="2000" b="1">
                <a:solidFill>
                  <a:srgbClr val="1F4E8C"/>
                </a:solidFill>
              </a:rPr>
              <a:t>Datos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3D8D762-F1E9-42C6-924E-34F6F5FD40B5}"/>
              </a:ext>
            </a:extLst>
          </p:cNvPr>
          <p:cNvSpPr txBox="1"/>
          <p:nvPr/>
        </p:nvSpPr>
        <p:spPr>
          <a:xfrm>
            <a:off x="3950152" y="3890063"/>
            <a:ext cx="1951098" cy="1600201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s-ES" sz="1500">
                <a:solidFill>
                  <a:srgbClr val="242852"/>
                </a:solidFill>
              </a:rPr>
              <a:t>El </a:t>
            </a:r>
            <a:r>
              <a:rPr lang="es-ES" sz="1500" b="1">
                <a:solidFill>
                  <a:srgbClr val="242852"/>
                </a:solidFill>
              </a:rPr>
              <a:t>dataset analizado</a:t>
            </a:r>
            <a:r>
              <a:rPr lang="es-ES" sz="1500">
                <a:solidFill>
                  <a:srgbClr val="242852"/>
                </a:solidFill>
              </a:rPr>
              <a:t> corresponde al </a:t>
            </a:r>
            <a:r>
              <a:rPr lang="es-ES" sz="1500" b="1">
                <a:solidFill>
                  <a:srgbClr val="242852"/>
                </a:solidFill>
              </a:rPr>
              <a:t>departamento del Atlántico</a:t>
            </a:r>
            <a:r>
              <a:rPr lang="es-ES" sz="1500">
                <a:solidFill>
                  <a:srgbClr val="242852"/>
                </a:solidFill>
              </a:rPr>
              <a:t>, usuario más pertinente.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2CC1B76-9596-480E-9F3E-1F25DBE1E73E}"/>
              </a:ext>
            </a:extLst>
          </p:cNvPr>
          <p:cNvSpPr txBox="1"/>
          <p:nvPr/>
        </p:nvSpPr>
        <p:spPr>
          <a:xfrm>
            <a:off x="6017198" y="2940600"/>
            <a:ext cx="165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s-ES" sz="2000" b="1">
                <a:solidFill>
                  <a:srgbClr val="1F4E8C"/>
                </a:solidFill>
              </a:rPr>
              <a:t>Necesidad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A895589-87DF-423E-A703-4C63767E1A17}"/>
              </a:ext>
            </a:extLst>
          </p:cNvPr>
          <p:cNvSpPr txBox="1"/>
          <p:nvPr/>
        </p:nvSpPr>
        <p:spPr>
          <a:xfrm>
            <a:off x="5953698" y="3890063"/>
            <a:ext cx="1778000" cy="241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s-ES" sz="1500">
                <a:solidFill>
                  <a:srgbClr val="242852"/>
                </a:solidFill>
              </a:rPr>
              <a:t>Requiere </a:t>
            </a:r>
            <a:r>
              <a:rPr lang="es-ES" sz="1500" b="1">
                <a:solidFill>
                  <a:srgbClr val="242852"/>
                </a:solidFill>
              </a:rPr>
              <a:t>evidencia cuantitativa</a:t>
            </a:r>
            <a:r>
              <a:rPr lang="es-ES" sz="1500">
                <a:solidFill>
                  <a:srgbClr val="242852"/>
                </a:solidFill>
              </a:rPr>
              <a:t> para orientar decisiones y </a:t>
            </a:r>
            <a:r>
              <a:rPr lang="es-ES" sz="1500" b="1">
                <a:solidFill>
                  <a:srgbClr val="242852"/>
                </a:solidFill>
              </a:rPr>
              <a:t>reducir brechas</a:t>
            </a:r>
            <a:r>
              <a:rPr lang="es-ES" sz="1500">
                <a:solidFill>
                  <a:srgbClr val="24285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5051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48506F77-B908-4A02-B5DB-F57E1D175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B78E64A-A18E-CCAC-F2B5-6504FB9F13A0}"/>
              </a:ext>
            </a:extLst>
          </p:cNvPr>
          <p:cNvSpPr/>
          <p:nvPr/>
        </p:nvSpPr>
        <p:spPr>
          <a:xfrm>
            <a:off x="0" y="1"/>
            <a:ext cx="12192000" cy="1764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5D26D8D-82DA-4B38-B09A-3751D89C2CF6}"/>
              </a:ext>
            </a:extLst>
          </p:cNvPr>
          <p:cNvSpPr txBox="1"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200" b="1" err="1">
                <a:solidFill>
                  <a:srgbClr val="1F4E8C"/>
                </a:solidFill>
              </a:rPr>
              <a:t>Preguntas</a:t>
            </a:r>
            <a:r>
              <a:rPr lang="en-US" sz="3200" b="1">
                <a:solidFill>
                  <a:srgbClr val="1F4E8C"/>
                </a:solidFill>
              </a:rPr>
              <a:t> de </a:t>
            </a:r>
            <a:r>
              <a:rPr lang="en-US" sz="3200" b="1" err="1">
                <a:solidFill>
                  <a:srgbClr val="1F4E8C"/>
                </a:solidFill>
              </a:rPr>
              <a:t>Negocio</a:t>
            </a:r>
            <a:endParaRPr lang="en-US" sz="3200" b="1">
              <a:solidFill>
                <a:srgbClr val="1F4E8C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A253737-41A4-448F-B0BF-B6B39BFAEE9C}"/>
              </a:ext>
            </a:extLst>
          </p:cNvPr>
          <p:cNvSpPr txBox="1"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S" sz="1600">
                <a:solidFill>
                  <a:srgbClr val="636363"/>
                </a:solidFill>
              </a:rPr>
              <a:t>Modelos predictivos para clasificar el alto desempeño en Saber 11</a:t>
            </a:r>
            <a:endParaRPr lang="en-US" sz="1600">
              <a:solidFill>
                <a:srgbClr val="636363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60DE162-E2FD-43B3-B6E2-C9FE569E1207}"/>
              </a:ext>
            </a:extLst>
          </p:cNvPr>
          <p:cNvSpPr/>
          <p:nvPr/>
        </p:nvSpPr>
        <p:spPr>
          <a:xfrm>
            <a:off x="762000" y="2032000"/>
            <a:ext cx="3429000" cy="4064000"/>
          </a:xfrm>
          <a:prstGeom prst="rect">
            <a:avLst/>
          </a:prstGeom>
          <a:solidFill>
            <a:srgbClr val="F5F7FA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7B813C5-7311-4661-A241-21CEB1EDDD2A}"/>
              </a:ext>
            </a:extLst>
          </p:cNvPr>
          <p:cNvSpPr/>
          <p:nvPr/>
        </p:nvSpPr>
        <p:spPr>
          <a:xfrm>
            <a:off x="762000" y="2032000"/>
            <a:ext cx="3429000" cy="76200"/>
          </a:xfrm>
          <a:prstGeom prst="rect">
            <a:avLst/>
          </a:prstGeom>
          <a:solidFill>
            <a:srgbClr val="1F4E8C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D872706-FF15-4A11-8C2F-73CCEB6A1A77}"/>
              </a:ext>
            </a:extLst>
          </p:cNvPr>
          <p:cNvSpPr txBox="1"/>
          <p:nvPr/>
        </p:nvSpPr>
        <p:spPr>
          <a:xfrm>
            <a:off x="1016000" y="2921000"/>
            <a:ext cx="127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400" b="1">
                <a:solidFill>
                  <a:srgbClr val="1F4E8C"/>
                </a:solidFill>
              </a:rPr>
              <a:t>01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85A5302-C2E1-4839-BF07-26B6B6ACECF6}"/>
              </a:ext>
            </a:extLst>
          </p:cNvPr>
          <p:cNvSpPr txBox="1"/>
          <p:nvPr/>
        </p:nvSpPr>
        <p:spPr>
          <a:xfrm>
            <a:off x="1016000" y="3746500"/>
            <a:ext cx="2921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212121"/>
                </a:solidFill>
              </a:rPr>
              <a:t>Características institucionales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937C5E9-191B-4307-B5D9-BD2C2CAC33C2}"/>
              </a:ext>
            </a:extLst>
          </p:cNvPr>
          <p:cNvSpPr txBox="1"/>
          <p:nvPr/>
        </p:nvSpPr>
        <p:spPr>
          <a:xfrm>
            <a:off x="1016000" y="4381500"/>
            <a:ext cx="2921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S" sz="1400">
                <a:solidFill>
                  <a:srgbClr val="424242"/>
                </a:solidFill>
              </a:rPr>
              <a:t>¿Es posible predecir si un estudiante alcanzará un puntaje global alto a partir de las características institucionales de su colegio?</a:t>
            </a:r>
            <a:endParaRPr lang="en-US" sz="1400">
              <a:solidFill>
                <a:srgbClr val="424242"/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4091C2A-143A-4E6C-A8CF-88D4F9A378DF}"/>
              </a:ext>
            </a:extLst>
          </p:cNvPr>
          <p:cNvSpPr/>
          <p:nvPr/>
        </p:nvSpPr>
        <p:spPr>
          <a:xfrm>
            <a:off x="4381500" y="2032000"/>
            <a:ext cx="3429000" cy="4064000"/>
          </a:xfrm>
          <a:prstGeom prst="rect">
            <a:avLst/>
          </a:prstGeom>
          <a:solidFill>
            <a:srgbClr val="F5F7FA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E5126BE-663A-40FC-BC03-E2CEF2B975B0}"/>
              </a:ext>
            </a:extLst>
          </p:cNvPr>
          <p:cNvSpPr/>
          <p:nvPr/>
        </p:nvSpPr>
        <p:spPr>
          <a:xfrm>
            <a:off x="4381500" y="2032000"/>
            <a:ext cx="3429000" cy="76200"/>
          </a:xfrm>
          <a:prstGeom prst="rect">
            <a:avLst/>
          </a:prstGeom>
          <a:solidFill>
            <a:srgbClr val="3B82C4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7550F88-3F25-46B8-B6C9-B36E6948182B}"/>
              </a:ext>
            </a:extLst>
          </p:cNvPr>
          <p:cNvSpPr txBox="1"/>
          <p:nvPr/>
        </p:nvSpPr>
        <p:spPr>
          <a:xfrm>
            <a:off x="4635500" y="2921000"/>
            <a:ext cx="127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400" b="1">
                <a:solidFill>
                  <a:srgbClr val="3B82C4"/>
                </a:solidFill>
              </a:rPr>
              <a:t>02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1E1E9B8-46BD-465F-B1FF-13F86E304ED8}"/>
              </a:ext>
            </a:extLst>
          </p:cNvPr>
          <p:cNvSpPr txBox="1"/>
          <p:nvPr/>
        </p:nvSpPr>
        <p:spPr>
          <a:xfrm>
            <a:off x="4635500" y="3746500"/>
            <a:ext cx="2921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212121"/>
                </a:solidFill>
              </a:rPr>
              <a:t>Condiciones familiares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9A43D2E-2964-4774-91A2-6D8B16F6A088}"/>
              </a:ext>
            </a:extLst>
          </p:cNvPr>
          <p:cNvSpPr txBox="1"/>
          <p:nvPr/>
        </p:nvSpPr>
        <p:spPr>
          <a:xfrm>
            <a:off x="4635500" y="4381500"/>
            <a:ext cx="2921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S" sz="1400">
                <a:solidFill>
                  <a:srgbClr val="424242"/>
                </a:solidFill>
              </a:rPr>
              <a:t>¿Es posible predecir si un estudiante obtendrá un puntaje global alto a partir de sus condiciones y características familiares?</a:t>
            </a:r>
            <a:endParaRPr lang="en-US" sz="1400">
              <a:solidFill>
                <a:srgbClr val="424242"/>
              </a:solidFill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98D473F-B2F7-4AA2-8255-0A99642E9A89}"/>
              </a:ext>
            </a:extLst>
          </p:cNvPr>
          <p:cNvSpPr/>
          <p:nvPr/>
        </p:nvSpPr>
        <p:spPr>
          <a:xfrm>
            <a:off x="8001000" y="2032000"/>
            <a:ext cx="3429000" cy="4064000"/>
          </a:xfrm>
          <a:prstGeom prst="rect">
            <a:avLst/>
          </a:prstGeom>
          <a:solidFill>
            <a:srgbClr val="F5F7FA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C1CA7F9-60B6-417A-BDB9-4A2A00EF36AD}"/>
              </a:ext>
            </a:extLst>
          </p:cNvPr>
          <p:cNvSpPr/>
          <p:nvPr/>
        </p:nvSpPr>
        <p:spPr>
          <a:xfrm>
            <a:off x="8001000" y="2032000"/>
            <a:ext cx="3429000" cy="76200"/>
          </a:xfrm>
          <a:prstGeom prst="rect">
            <a:avLst/>
          </a:prstGeom>
          <a:solidFill>
            <a:srgbClr val="7BB3E0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AF494A9-3F29-441F-A8F5-8F080162768D}"/>
              </a:ext>
            </a:extLst>
          </p:cNvPr>
          <p:cNvSpPr txBox="1"/>
          <p:nvPr/>
        </p:nvSpPr>
        <p:spPr>
          <a:xfrm>
            <a:off x="8255000" y="2921000"/>
            <a:ext cx="127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400" b="1">
                <a:solidFill>
                  <a:srgbClr val="7BB3E0"/>
                </a:solidFill>
              </a:rPr>
              <a:t>03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98ADBE5-A162-4E47-A8DD-76145B6B5DD3}"/>
              </a:ext>
            </a:extLst>
          </p:cNvPr>
          <p:cNvSpPr txBox="1"/>
          <p:nvPr/>
        </p:nvSpPr>
        <p:spPr>
          <a:xfrm>
            <a:off x="8255000" y="3746500"/>
            <a:ext cx="2921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212121"/>
                </a:solidFill>
              </a:rPr>
              <a:t>Análisis general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D560E7E-4D09-4CB6-8B48-F20A68230E9A}"/>
              </a:ext>
            </a:extLst>
          </p:cNvPr>
          <p:cNvSpPr txBox="1"/>
          <p:nvPr/>
        </p:nvSpPr>
        <p:spPr>
          <a:xfrm>
            <a:off x="8255000" y="4251158"/>
            <a:ext cx="2921000" cy="1651000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>
            <a:noAutofit/>
          </a:bodyPr>
          <a:lstStyle/>
          <a:p>
            <a:r>
              <a:rPr lang="es-CO" sz="1400">
                <a:solidFill>
                  <a:srgbClr val="424242"/>
                </a:solidFill>
              </a:rPr>
              <a:t>¿En qué medida las condiciones socioeconómicas, el acceso a recursos tecnológicos y ciertas características institucionales permiten predecir el puntaje global de los estudiantes del Atlántico?</a:t>
            </a:r>
            <a:endParaRPr lang="es-ES" sz="1400">
              <a:solidFill>
                <a:srgbClr val="424242"/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DFB72E0-85AA-F31E-9B60-40BAF4B6F47B}"/>
              </a:ext>
            </a:extLst>
          </p:cNvPr>
          <p:cNvSpPr/>
          <p:nvPr/>
        </p:nvSpPr>
        <p:spPr>
          <a:xfrm>
            <a:off x="0" y="6582655"/>
            <a:ext cx="12192000" cy="28768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26" name="Graphic 26" descr="Colegi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13000" y="2061881"/>
            <a:ext cx="1714500" cy="1714500"/>
          </a:xfrm>
          <a:prstGeom prst="rect">
            <a:avLst/>
          </a:prstGeom>
        </p:spPr>
      </p:pic>
      <p:pic>
        <p:nvPicPr>
          <p:cNvPr id="27" name="Graphic 27" descr="Famili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05500" y="2031999"/>
            <a:ext cx="1841500" cy="1841500"/>
          </a:xfrm>
          <a:prstGeom prst="rect">
            <a:avLst/>
          </a:prstGeom>
        </p:spPr>
      </p:pic>
      <p:pic>
        <p:nvPicPr>
          <p:cNvPr id="28" name="Graphic 28" descr="Análisi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15500" y="2086730"/>
            <a:ext cx="1685365" cy="1685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196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86537-06EF-C4D4-BDD1-9F1B5617D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C540BB75-8F59-84F1-C8CD-C49BCA454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CO" sz="3300">
                <a:solidFill>
                  <a:srgbClr val="1F4E8C"/>
                </a:solidFill>
              </a:rPr>
              <a:t>Análisis Descriptivo y de Correlación</a:t>
            </a:r>
            <a:endParaRPr lang="en-US" sz="3300">
              <a:solidFill>
                <a:srgbClr val="1F4E8C"/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B11336E-D7EC-96E7-B2B2-53A7EBE86275}"/>
              </a:ext>
            </a:extLst>
          </p:cNvPr>
          <p:cNvSpPr/>
          <p:nvPr/>
        </p:nvSpPr>
        <p:spPr>
          <a:xfrm>
            <a:off x="0" y="6582655"/>
            <a:ext cx="12192000" cy="28768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ConclusionesCard">
            <a:extLst>
              <a:ext uri="{FF2B5EF4-FFF2-40B4-BE49-F238E27FC236}">
                <a16:creationId xmlns:a16="http://schemas.microsoft.com/office/drawing/2014/main" id="{AE20BA80-1BBB-4B1E-8D9E-2748FA0D2D55}"/>
              </a:ext>
            </a:extLst>
          </p:cNvPr>
          <p:cNvSpPr/>
          <p:nvPr/>
        </p:nvSpPr>
        <p:spPr>
          <a:xfrm>
            <a:off x="254000" y="4508500"/>
            <a:ext cx="11684000" cy="1841500"/>
          </a:xfrm>
          <a:prstGeom prst="rect">
            <a:avLst/>
          </a:prstGeom>
          <a:solidFill>
            <a:srgbClr val="E8F0F7"/>
          </a:solidFill>
          <a:ln w="12700" cap="rnd" cmpd="sng" algn="ctr">
            <a:solidFill>
              <a:srgbClr val="1F4E8C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5" name="ConclusionesBar">
            <a:extLst>
              <a:ext uri="{FF2B5EF4-FFF2-40B4-BE49-F238E27FC236}">
                <a16:creationId xmlns:a16="http://schemas.microsoft.com/office/drawing/2014/main" id="{037CB4B4-BD7A-4932-96C0-62F9BB5B9EF5}"/>
              </a:ext>
            </a:extLst>
          </p:cNvPr>
          <p:cNvSpPr/>
          <p:nvPr/>
        </p:nvSpPr>
        <p:spPr>
          <a:xfrm>
            <a:off x="254000" y="4508500"/>
            <a:ext cx="11684000" cy="50800"/>
          </a:xfrm>
          <a:prstGeom prst="rect">
            <a:avLst/>
          </a:prstGeom>
          <a:solidFill>
            <a:srgbClr val="1F4E8C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6" name="ConclusionesTexto">
            <a:extLst>
              <a:ext uri="{FF2B5EF4-FFF2-40B4-BE49-F238E27FC236}">
                <a16:creationId xmlns:a16="http://schemas.microsoft.com/office/drawing/2014/main" id="{21F6B3B3-2BC1-4F21-8F5B-40781FD1916E}"/>
              </a:ext>
            </a:extLst>
          </p:cNvPr>
          <p:cNvSpPr txBox="1"/>
          <p:nvPr/>
        </p:nvSpPr>
        <p:spPr>
          <a:xfrm>
            <a:off x="444500" y="4610100"/>
            <a:ext cx="11303000" cy="167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s-CO" sz="1500" b="1">
                <a:solidFill>
                  <a:srgbClr val="1F4E8C"/>
                </a:solidFill>
              </a:rPr>
              <a:t>Conclusiones del análisis</a:t>
            </a:r>
          </a:p>
          <a:p>
            <a:pPr>
              <a:buNone/>
            </a:pPr>
            <a:endParaRPr lang="es-CO" sz="400"/>
          </a:p>
          <a:p>
            <a:pPr marL="171450" indent="-171450">
              <a:lnSpc>
                <a:spcPts val="1400"/>
              </a:lnSpc>
              <a:spcBef>
                <a:spcPts val="100"/>
              </a:spcBef>
              <a:buClr>
                <a:srgbClr val="3B82C4"/>
              </a:buClr>
              <a:buFont typeface="Arial"/>
              <a:buChar char="▸"/>
            </a:pPr>
            <a:r>
              <a:rPr lang="es-CO" sz="1200">
                <a:solidFill>
                  <a:srgbClr val="1F4E8C"/>
                </a:solidFill>
              </a:rPr>
              <a:t>Distribución aproximadamente </a:t>
            </a:r>
            <a:r>
              <a:rPr lang="es-CO" sz="1200" b="1">
                <a:solidFill>
                  <a:srgbClr val="1F4E8C"/>
                </a:solidFill>
              </a:rPr>
              <a:t>normal</a:t>
            </a:r>
            <a:r>
              <a:rPr lang="es-CO" sz="1200">
                <a:solidFill>
                  <a:srgbClr val="1F4E8C"/>
                </a:solidFill>
              </a:rPr>
              <a:t> con media </a:t>
            </a:r>
            <a:r>
              <a:rPr lang="es-CO" sz="1200" b="1">
                <a:solidFill>
                  <a:srgbClr val="1F4E8C"/>
                </a:solidFill>
              </a:rPr>
              <a:t>249,6</a:t>
            </a:r>
            <a:r>
              <a:rPr lang="es-CO" sz="1200">
                <a:solidFill>
                  <a:srgbClr val="1F4E8C"/>
                </a:solidFill>
              </a:rPr>
              <a:t> y desviación </a:t>
            </a:r>
            <a:r>
              <a:rPr lang="es-CO" sz="1200" b="1">
                <a:solidFill>
                  <a:srgbClr val="1F4E8C"/>
                </a:solidFill>
              </a:rPr>
              <a:t>51,7</a:t>
            </a:r>
            <a:r>
              <a:rPr lang="es-CO" sz="1200">
                <a:solidFill>
                  <a:srgbClr val="1F4E8C"/>
                </a:solidFill>
              </a:rPr>
              <a:t>; base de 210.695 registros sin valores faltantes y dentro del rango válido (0–500)</a:t>
            </a:r>
          </a:p>
          <a:p>
            <a:pPr marL="171450" indent="-171450">
              <a:lnSpc>
                <a:spcPts val="1400"/>
              </a:lnSpc>
              <a:spcBef>
                <a:spcPts val="100"/>
              </a:spcBef>
              <a:buClr>
                <a:srgbClr val="3B82C4"/>
              </a:buClr>
              <a:buFont typeface="Arial"/>
              <a:buChar char="▸"/>
            </a:pPr>
            <a:r>
              <a:rPr lang="es-CO" sz="1200">
                <a:solidFill>
                  <a:srgbClr val="1F4E8C"/>
                </a:solidFill>
              </a:rPr>
              <a:t>Variables institucionales con mayor señal: </a:t>
            </a:r>
            <a:r>
              <a:rPr lang="es-CO" sz="1200" b="1">
                <a:solidFill>
                  <a:srgbClr val="1F4E8C"/>
                </a:solidFill>
              </a:rPr>
              <a:t>jornada completa, calendario B, naturaleza no oficial y bilingüismo</a:t>
            </a:r>
            <a:r>
              <a:rPr lang="es-CO" sz="1200">
                <a:solidFill>
                  <a:srgbClr val="1F4E8C"/>
                </a:solidFill>
              </a:rPr>
              <a:t>; las de mayor signo opuesto son </a:t>
            </a:r>
            <a:r>
              <a:rPr lang="es-CO" sz="1200" b="1">
                <a:solidFill>
                  <a:srgbClr val="1F4E8C"/>
                </a:solidFill>
              </a:rPr>
              <a:t>jornada nocturna y calendario A</a:t>
            </a:r>
          </a:p>
          <a:p>
            <a:pPr marL="171450" indent="-171450">
              <a:lnSpc>
                <a:spcPts val="1400"/>
              </a:lnSpc>
              <a:spcBef>
                <a:spcPts val="100"/>
              </a:spcBef>
              <a:buClr>
                <a:srgbClr val="3B82C4"/>
              </a:buClr>
              <a:buFont typeface="Arial"/>
              <a:buChar char="▸"/>
            </a:pPr>
            <a:r>
              <a:rPr lang="es-CO" sz="1200">
                <a:solidFill>
                  <a:srgbClr val="1F4E8C"/>
                </a:solidFill>
              </a:rPr>
              <a:t>Puntajes por área presentan correlación </a:t>
            </a:r>
            <a:r>
              <a:rPr lang="es-CO" sz="1200" b="1">
                <a:solidFill>
                  <a:srgbClr val="1F4E8C"/>
                </a:solidFill>
              </a:rPr>
              <a:t>&gt; 0,8</a:t>
            </a:r>
            <a:r>
              <a:rPr lang="es-CO" sz="1200">
                <a:solidFill>
                  <a:srgbClr val="1F4E8C"/>
                </a:solidFill>
              </a:rPr>
              <a:t> con el puntaje global; entre las variables familiares destacan </a:t>
            </a:r>
            <a:r>
              <a:rPr lang="es-CO" sz="1200" b="1">
                <a:solidFill>
                  <a:srgbClr val="1F4E8C"/>
                </a:solidFill>
              </a:rPr>
              <a:t>estrato de vivienda y educación de los padres</a:t>
            </a:r>
            <a:r>
              <a:rPr lang="es-CO" sz="1200">
                <a:solidFill>
                  <a:srgbClr val="1F4E8C"/>
                </a:solidFill>
              </a:rPr>
              <a:t>, lo que justifica construir un modelo predictivo</a:t>
            </a:r>
          </a:p>
        </p:txBody>
      </p:sp>
      <p:graphicFrame>
        <p:nvGraphicFramePr>
          <p:cNvPr id="200" name="Chart 1"/>
          <p:cNvGraphicFramePr/>
          <p:nvPr/>
        </p:nvGraphicFramePr>
        <p:xfrm>
          <a:off x="190500" y="1625600"/>
          <a:ext cx="3238500" cy="2768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1" name="Chart 2"/>
          <p:cNvGraphicFramePr/>
          <p:nvPr/>
        </p:nvGraphicFramePr>
        <p:xfrm>
          <a:off x="3556000" y="1625600"/>
          <a:ext cx="4064000" cy="2768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02" name="Chart 3"/>
          <p:cNvGraphicFramePr/>
          <p:nvPr/>
        </p:nvGraphicFramePr>
        <p:xfrm>
          <a:off x="7747000" y="1625600"/>
          <a:ext cx="4254500" cy="2768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70033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239EE-3792-B7E3-53C7-9FA772BC3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B1914536-8AC3-9CD5-2847-C981283D1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CO" sz="3300">
                <a:solidFill>
                  <a:srgbClr val="1F4E8C"/>
                </a:solidFill>
              </a:rPr>
              <a:t>Pregunta 1</a:t>
            </a:r>
            <a:br>
              <a:rPr lang="es-CO" sz="3300">
                <a:solidFill>
                  <a:srgbClr val="1F4E8C"/>
                </a:solidFill>
              </a:rPr>
            </a:br>
            <a:r>
              <a:rPr lang="es-CO" sz="3300">
                <a:solidFill>
                  <a:srgbClr val="1F4E8C"/>
                </a:solidFill>
              </a:rPr>
              <a:t>Variables institucionales</a:t>
            </a:r>
            <a:endParaRPr lang="en-US" sz="3300">
              <a:solidFill>
                <a:srgbClr val="1F4E8C"/>
              </a:solidFill>
            </a:endParaRP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7A6DEF50-2CB1-09B5-6E87-25E87D50ABF9}"/>
              </a:ext>
            </a:extLst>
          </p:cNvPr>
          <p:cNvGraphicFramePr>
            <a:graphicFrameLocks noGrp="1"/>
          </p:cNvGraphicFramePr>
          <p:nvPr>
            <p:ph type="tbl" sz="quarter" idx="10"/>
          </p:nvPr>
        </p:nvGraphicFramePr>
        <p:xfrm>
          <a:off x="838200" y="1860550"/>
          <a:ext cx="10515600" cy="4198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Rectángulo 1">
            <a:extLst>
              <a:ext uri="{FF2B5EF4-FFF2-40B4-BE49-F238E27FC236}">
                <a16:creationId xmlns:a16="http://schemas.microsoft.com/office/drawing/2014/main" id="{7153A7C4-8E87-13B9-C0FE-88527B99F39A}"/>
              </a:ext>
            </a:extLst>
          </p:cNvPr>
          <p:cNvSpPr/>
          <p:nvPr/>
        </p:nvSpPr>
        <p:spPr>
          <a:xfrm>
            <a:off x="0" y="6582655"/>
            <a:ext cx="12192000" cy="28768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48759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4D5ED170-DBD9-C32A-B6FE-918E0B856B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07FBB55-EF55-03D8-7D3C-29341A40D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81000"/>
            <a:ext cx="11176000" cy="952500"/>
          </a:xfrm>
        </p:spPr>
        <p:txBody>
          <a:bodyPr/>
          <a:lstStyle/>
          <a:p>
            <a:pPr algn="l">
              <a:buNone/>
            </a:pPr>
            <a:r>
              <a:rPr lang="es-CO">
                <a:solidFill>
                  <a:srgbClr val="002060"/>
                </a:solidFill>
              </a:rPr>
              <a:t>Modelo institucional          </a:t>
            </a:r>
            <a:r>
              <a:rPr lang="es-CO" sz="1600" b="0">
                <a:solidFill>
                  <a:schemeClr val="accent1"/>
                </a:solidFill>
              </a:rPr>
              <a:t>Red neuronal binaria (Saber 11 ≥ 300)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500682E-3BE0-4E2C-A4EE-F47B132ECEC5}"/>
              </a:ext>
            </a:extLst>
          </p:cNvPr>
          <p:cNvSpPr/>
          <p:nvPr/>
        </p:nvSpPr>
        <p:spPr>
          <a:xfrm>
            <a:off x="533400" y="1587500"/>
            <a:ext cx="5499100" cy="2413000"/>
          </a:xfrm>
          <a:prstGeom prst="rect">
            <a:avLst/>
          </a:prstGeom>
          <a:solidFill>
            <a:srgbClr val="F5F7FA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997AF1F-AC6C-4266-B1BD-208EA504278E}"/>
              </a:ext>
            </a:extLst>
          </p:cNvPr>
          <p:cNvSpPr/>
          <p:nvPr/>
        </p:nvSpPr>
        <p:spPr>
          <a:xfrm>
            <a:off x="533400" y="1587500"/>
            <a:ext cx="5499100" cy="50800"/>
          </a:xfrm>
          <a:prstGeom prst="rect">
            <a:avLst/>
          </a:prstGeom>
          <a:solidFill>
            <a:srgbClr val="1F4E8C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Card_Variables">
            <a:extLst>
              <a:ext uri="{FF2B5EF4-FFF2-40B4-BE49-F238E27FC236}">
                <a16:creationId xmlns:a16="http://schemas.microsoft.com/office/drawing/2014/main" id="{561FCC04-95B3-4F38-BB5E-76D28A1CBC38}"/>
              </a:ext>
            </a:extLst>
          </p:cNvPr>
          <p:cNvSpPr txBox="1"/>
          <p:nvPr/>
        </p:nvSpPr>
        <p:spPr>
          <a:xfrm>
            <a:off x="762000" y="1765300"/>
            <a:ext cx="5041900" cy="2108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buNone/>
            </a:pPr>
            <a:r>
              <a:rPr lang="es-CO" sz="1600" b="1">
                <a:solidFill>
                  <a:srgbClr val="1F4E8C"/>
                </a:solidFill>
              </a:rPr>
              <a:t>Variables institucionales</a:t>
            </a:r>
          </a:p>
          <a:p>
            <a:pPr algn="l">
              <a:buNone/>
            </a:pPr>
            <a:endParaRPr lang="es-CO" sz="1600" b="1">
              <a:solidFill>
                <a:srgbClr val="1F4E8C"/>
              </a:solidFill>
            </a:endParaRPr>
          </a:p>
          <a:p>
            <a:pPr>
              <a:buNone/>
            </a:pPr>
            <a:endParaRPr lang="es-CO" sz="600"/>
          </a:p>
          <a:p>
            <a:pPr marL="171450" indent="-171450">
              <a:lnSpc>
                <a:spcPts val="1700"/>
              </a:lnSpc>
              <a:spcBef>
                <a:spcPts val="200"/>
              </a:spcBef>
              <a:buClr>
                <a:srgbClr val="3B82C4"/>
              </a:buClr>
              <a:buFont typeface="Arial"/>
              <a:buChar char="▸"/>
            </a:pPr>
            <a:r>
              <a:rPr lang="es-CO" sz="1400">
                <a:solidFill>
                  <a:srgbClr val="1F4E8C"/>
                </a:solidFill>
              </a:rPr>
              <a:t>Naturaleza · Bilingüismo · Jornada</a:t>
            </a:r>
          </a:p>
          <a:p>
            <a:pPr marL="171450" indent="-171450">
              <a:lnSpc>
                <a:spcPts val="1700"/>
              </a:lnSpc>
              <a:spcBef>
                <a:spcPts val="200"/>
              </a:spcBef>
              <a:buClr>
                <a:srgbClr val="3B82C4"/>
              </a:buClr>
              <a:buFont typeface="Arial"/>
              <a:buChar char="▸"/>
            </a:pPr>
            <a:r>
              <a:rPr lang="es-CO" sz="1400">
                <a:solidFill>
                  <a:srgbClr val="1F4E8C"/>
                </a:solidFill>
              </a:rPr>
              <a:t>Calendario · Área · Carácter</a:t>
            </a:r>
          </a:p>
          <a:p>
            <a:pPr marL="171450" indent="-171450">
              <a:lnSpc>
                <a:spcPts val="1700"/>
              </a:lnSpc>
              <a:spcBef>
                <a:spcPts val="200"/>
              </a:spcBef>
              <a:buClr>
                <a:srgbClr val="3B82C4"/>
              </a:buClr>
              <a:buFont typeface="Arial"/>
              <a:buChar char="▸"/>
            </a:pPr>
            <a:r>
              <a:rPr lang="es-CO" sz="1400">
                <a:solidFill>
                  <a:srgbClr val="1F4E8C"/>
                </a:solidFill>
              </a:rPr>
              <a:t>Género del colegio</a:t>
            </a:r>
          </a:p>
          <a:p>
            <a:pPr marL="171450" indent="-171450">
              <a:lnSpc>
                <a:spcPts val="1700"/>
              </a:lnSpc>
              <a:spcBef>
                <a:spcPts val="200"/>
              </a:spcBef>
              <a:buClr>
                <a:srgbClr val="3B82C4"/>
              </a:buClr>
              <a:buFont typeface="Arial"/>
              <a:buChar char="▸"/>
            </a:pPr>
            <a:r>
              <a:rPr lang="es-CO" sz="1400" b="1">
                <a:solidFill>
                  <a:srgbClr val="1F4E8C"/>
                </a:solidFill>
              </a:rPr>
              <a:t>Codificación </a:t>
            </a:r>
            <a:r>
              <a:rPr lang="es-CO" sz="1400" b="1" err="1">
                <a:solidFill>
                  <a:srgbClr val="1F4E8C"/>
                </a:solidFill>
              </a:rPr>
              <a:t>One</a:t>
            </a:r>
            <a:r>
              <a:rPr lang="es-CO" sz="1400" b="1">
                <a:solidFill>
                  <a:srgbClr val="1F4E8C"/>
                </a:solidFill>
              </a:rPr>
              <a:t>-Hot + normalización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076A863-35C0-436C-BC8E-8F60F14666F3}"/>
              </a:ext>
            </a:extLst>
          </p:cNvPr>
          <p:cNvSpPr/>
          <p:nvPr/>
        </p:nvSpPr>
        <p:spPr>
          <a:xfrm>
            <a:off x="6210300" y="1587500"/>
            <a:ext cx="5499100" cy="2413000"/>
          </a:xfrm>
          <a:prstGeom prst="rect">
            <a:avLst/>
          </a:prstGeom>
          <a:solidFill>
            <a:srgbClr val="F5F7FA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BA330CD-92D4-450C-92C5-657E2E280B0D}"/>
              </a:ext>
            </a:extLst>
          </p:cNvPr>
          <p:cNvSpPr/>
          <p:nvPr/>
        </p:nvSpPr>
        <p:spPr>
          <a:xfrm>
            <a:off x="6210300" y="1587500"/>
            <a:ext cx="5499100" cy="50800"/>
          </a:xfrm>
          <a:prstGeom prst="rect">
            <a:avLst/>
          </a:prstGeom>
          <a:solidFill>
            <a:srgbClr val="3B82C4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Card_Arquitectura">
            <a:extLst>
              <a:ext uri="{FF2B5EF4-FFF2-40B4-BE49-F238E27FC236}">
                <a16:creationId xmlns:a16="http://schemas.microsoft.com/office/drawing/2014/main" id="{ECA4C3E5-D489-47C8-9B7D-1B5C00EA1DB0}"/>
              </a:ext>
            </a:extLst>
          </p:cNvPr>
          <p:cNvSpPr txBox="1"/>
          <p:nvPr/>
        </p:nvSpPr>
        <p:spPr>
          <a:xfrm>
            <a:off x="6438900" y="1765300"/>
            <a:ext cx="5041900" cy="2108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buNone/>
            </a:pPr>
            <a:r>
              <a:rPr lang="es-CO" sz="1600" b="1">
                <a:solidFill>
                  <a:srgbClr val="1F4E8C"/>
                </a:solidFill>
              </a:rPr>
              <a:t>Arquitectura</a:t>
            </a:r>
          </a:p>
          <a:p>
            <a:pPr>
              <a:buNone/>
            </a:pPr>
            <a:endParaRPr lang="es-CO" sz="600"/>
          </a:p>
          <a:p>
            <a:pPr marL="171450" indent="-171450">
              <a:lnSpc>
                <a:spcPts val="1700"/>
              </a:lnSpc>
              <a:spcBef>
                <a:spcPts val="200"/>
              </a:spcBef>
              <a:buClr>
                <a:srgbClr val="3B82C4"/>
              </a:buClr>
              <a:buFont typeface="Arial"/>
              <a:buChar char="▸"/>
            </a:pPr>
            <a:endParaRPr lang="es-CO" sz="1400" b="1">
              <a:solidFill>
                <a:srgbClr val="1F4E8C"/>
              </a:solidFill>
            </a:endParaRPr>
          </a:p>
          <a:p>
            <a:pPr marL="171450" indent="-171450">
              <a:lnSpc>
                <a:spcPts val="1700"/>
              </a:lnSpc>
              <a:spcBef>
                <a:spcPts val="200"/>
              </a:spcBef>
              <a:buClr>
                <a:srgbClr val="3B82C4"/>
              </a:buClr>
              <a:buFont typeface="Arial"/>
              <a:buChar char="▸"/>
            </a:pPr>
            <a:r>
              <a:rPr lang="es-CO" sz="1400" err="1">
                <a:solidFill>
                  <a:srgbClr val="1F4E8C"/>
                </a:solidFill>
              </a:rPr>
              <a:t>Hiperparámetros</a:t>
            </a:r>
            <a:r>
              <a:rPr lang="es-CO" sz="1400">
                <a:solidFill>
                  <a:srgbClr val="1F4E8C"/>
                </a:solidFill>
              </a:rPr>
              <a:t> vía </a:t>
            </a:r>
            <a:r>
              <a:rPr lang="es-CO" sz="1400" b="1" err="1">
                <a:solidFill>
                  <a:srgbClr val="1F4E8C"/>
                </a:solidFill>
              </a:rPr>
              <a:t>Grid</a:t>
            </a:r>
            <a:r>
              <a:rPr lang="es-CO" sz="1400" b="1">
                <a:solidFill>
                  <a:srgbClr val="1F4E8C"/>
                </a:solidFill>
              </a:rPr>
              <a:t> Search</a:t>
            </a:r>
          </a:p>
          <a:p>
            <a:pPr marL="171450" indent="-171450">
              <a:lnSpc>
                <a:spcPts val="1700"/>
              </a:lnSpc>
              <a:spcBef>
                <a:spcPts val="200"/>
              </a:spcBef>
              <a:buClr>
                <a:srgbClr val="3B82C4"/>
              </a:buClr>
              <a:buFont typeface="Arial"/>
              <a:buChar char="▸"/>
            </a:pPr>
            <a:r>
              <a:rPr lang="es-CO" sz="1400" b="1">
                <a:solidFill>
                  <a:srgbClr val="1F4E8C"/>
                </a:solidFill>
              </a:rPr>
              <a:t>3 capas densas</a:t>
            </a:r>
            <a:r>
              <a:rPr lang="es-CO" sz="1400">
                <a:solidFill>
                  <a:srgbClr val="1F4E8C"/>
                </a:solidFill>
              </a:rPr>
              <a:t>: 96 · 48 · 24 neuronas</a:t>
            </a:r>
          </a:p>
          <a:p>
            <a:pPr marL="171450" indent="-171450">
              <a:lnSpc>
                <a:spcPts val="1700"/>
              </a:lnSpc>
              <a:spcBef>
                <a:spcPts val="200"/>
              </a:spcBef>
              <a:buClr>
                <a:srgbClr val="3B82C4"/>
              </a:buClr>
              <a:buFont typeface="Arial"/>
              <a:buChar char="▸"/>
            </a:pPr>
            <a:r>
              <a:rPr lang="es-CO" sz="1400">
                <a:solidFill>
                  <a:srgbClr val="1F4E8C"/>
                </a:solidFill>
              </a:rPr>
              <a:t>Activación </a:t>
            </a:r>
            <a:r>
              <a:rPr lang="es-CO" sz="1400" b="1">
                <a:solidFill>
                  <a:srgbClr val="1F4E8C"/>
                </a:solidFill>
              </a:rPr>
              <a:t>LeakyReLU</a:t>
            </a:r>
            <a:r>
              <a:rPr lang="es-CO" sz="1400">
                <a:solidFill>
                  <a:srgbClr val="1F4E8C"/>
                </a:solidFill>
              </a:rPr>
              <a:t> + Batch Norm + Dropout</a:t>
            </a:r>
          </a:p>
          <a:p>
            <a:pPr marL="171450" indent="-171450">
              <a:lnSpc>
                <a:spcPts val="1700"/>
              </a:lnSpc>
              <a:spcBef>
                <a:spcPts val="200"/>
              </a:spcBef>
              <a:buClr>
                <a:srgbClr val="3B82C4"/>
              </a:buClr>
              <a:buFont typeface="Arial"/>
              <a:buChar char="▸"/>
            </a:pPr>
            <a:r>
              <a:rPr lang="es-CO" sz="1400">
                <a:solidFill>
                  <a:srgbClr val="1F4E8C"/>
                </a:solidFill>
              </a:rPr>
              <a:t>Salida </a:t>
            </a:r>
            <a:r>
              <a:rPr lang="es-CO" sz="1400" b="1">
                <a:solidFill>
                  <a:srgbClr val="1F4E8C"/>
                </a:solidFill>
              </a:rPr>
              <a:t>sigmoide</a:t>
            </a:r>
            <a:r>
              <a:rPr lang="es-CO" sz="1400">
                <a:solidFill>
                  <a:srgbClr val="1F4E8C"/>
                </a:solidFill>
              </a:rPr>
              <a:t> · Optimizador Adam (lr = 0.001)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D6CDB96-4E92-445B-B1BA-F383494936A3}"/>
              </a:ext>
            </a:extLst>
          </p:cNvPr>
          <p:cNvSpPr/>
          <p:nvPr/>
        </p:nvSpPr>
        <p:spPr>
          <a:xfrm>
            <a:off x="533400" y="4178300"/>
            <a:ext cx="5499100" cy="2425700"/>
          </a:xfrm>
          <a:prstGeom prst="rect">
            <a:avLst/>
          </a:prstGeom>
          <a:solidFill>
            <a:srgbClr val="F5F7FA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4A6733D-537D-4A00-BCC6-52FE77D3E4DD}"/>
              </a:ext>
            </a:extLst>
          </p:cNvPr>
          <p:cNvSpPr/>
          <p:nvPr/>
        </p:nvSpPr>
        <p:spPr>
          <a:xfrm>
            <a:off x="533400" y="4178300"/>
            <a:ext cx="5499100" cy="50800"/>
          </a:xfrm>
          <a:prstGeom prst="rect">
            <a:avLst/>
          </a:prstGeom>
          <a:solidFill>
            <a:srgbClr val="1F4E8C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Card_Resultados">
            <a:extLst>
              <a:ext uri="{FF2B5EF4-FFF2-40B4-BE49-F238E27FC236}">
                <a16:creationId xmlns:a16="http://schemas.microsoft.com/office/drawing/2014/main" id="{7B68087B-7A51-4A3F-8C92-0C96834350B9}"/>
              </a:ext>
            </a:extLst>
          </p:cNvPr>
          <p:cNvSpPr txBox="1"/>
          <p:nvPr/>
        </p:nvSpPr>
        <p:spPr>
          <a:xfrm>
            <a:off x="762000" y="4356100"/>
            <a:ext cx="5041900" cy="2120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buNone/>
            </a:pPr>
            <a:r>
              <a:rPr lang="es-CO" sz="1600" b="1">
                <a:solidFill>
                  <a:srgbClr val="1F4E8C"/>
                </a:solidFill>
              </a:rPr>
              <a:t>Resultados</a:t>
            </a:r>
          </a:p>
          <a:p>
            <a:pPr algn="l">
              <a:buNone/>
            </a:pPr>
            <a:endParaRPr lang="es-CO" sz="1600" b="1">
              <a:solidFill>
                <a:srgbClr val="1F4E8C"/>
              </a:solidFill>
            </a:endParaRPr>
          </a:p>
          <a:p>
            <a:pPr>
              <a:buNone/>
            </a:pPr>
            <a:endParaRPr lang="es-CO" sz="600"/>
          </a:p>
          <a:p>
            <a:pPr marL="171450" indent="-171450">
              <a:lnSpc>
                <a:spcPts val="1700"/>
              </a:lnSpc>
              <a:spcBef>
                <a:spcPts val="200"/>
              </a:spcBef>
              <a:buClr>
                <a:srgbClr val="3B82C4"/>
              </a:buClr>
              <a:buFont typeface="Arial"/>
              <a:buChar char="▸"/>
            </a:pPr>
            <a:r>
              <a:rPr lang="es-CO" sz="1400" b="1" err="1">
                <a:solidFill>
                  <a:srgbClr val="1F4E8C"/>
                </a:solidFill>
              </a:rPr>
              <a:t>Accuracy</a:t>
            </a:r>
            <a:r>
              <a:rPr lang="es-CO" sz="1400" b="1">
                <a:solidFill>
                  <a:srgbClr val="1F4E8C"/>
                </a:solidFill>
              </a:rPr>
              <a:t> ≈ 80%  ·  ROC-AUC ≈ 0.74</a:t>
            </a:r>
          </a:p>
          <a:p>
            <a:pPr marL="171450" indent="-171450">
              <a:lnSpc>
                <a:spcPts val="1700"/>
              </a:lnSpc>
              <a:spcBef>
                <a:spcPts val="200"/>
              </a:spcBef>
              <a:buClr>
                <a:srgbClr val="3B82C4"/>
              </a:buClr>
              <a:buFont typeface="Arial"/>
              <a:buChar char="▸"/>
            </a:pPr>
            <a:r>
              <a:rPr lang="es-CO" sz="1400">
                <a:solidFill>
                  <a:srgbClr val="1F4E8C"/>
                </a:solidFill>
              </a:rPr>
              <a:t>Umbral de aprobación: 300 puntos</a:t>
            </a:r>
          </a:p>
          <a:p>
            <a:pPr marL="171450" indent="-171450">
              <a:lnSpc>
                <a:spcPts val="1700"/>
              </a:lnSpc>
              <a:spcBef>
                <a:spcPts val="200"/>
              </a:spcBef>
              <a:buClr>
                <a:srgbClr val="3B82C4"/>
              </a:buClr>
              <a:buFont typeface="Arial"/>
              <a:buChar char="▸"/>
            </a:pPr>
            <a:r>
              <a:rPr lang="es-CO" sz="1400">
                <a:solidFill>
                  <a:srgbClr val="1F4E8C"/>
                </a:solidFill>
              </a:rPr>
              <a:t>Regularización efectiva </a:t>
            </a:r>
            <a:r>
              <a:rPr lang="es-CO" sz="1400">
                <a:solidFill>
                  <a:srgbClr val="1F4E8C"/>
                </a:solidFill>
                <a:sym typeface="Wingdings" panose="05000000000000000000" pitchFamily="2" charset="2"/>
              </a:rPr>
              <a:t></a:t>
            </a:r>
            <a:r>
              <a:rPr lang="es-CO" sz="1400">
                <a:solidFill>
                  <a:srgbClr val="1F4E8C"/>
                </a:solidFill>
              </a:rPr>
              <a:t> bajo sobreajuste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BF8C313-0273-41BB-BFFA-9FF404F12ED3}"/>
              </a:ext>
            </a:extLst>
          </p:cNvPr>
          <p:cNvSpPr/>
          <p:nvPr/>
        </p:nvSpPr>
        <p:spPr>
          <a:xfrm>
            <a:off x="6210300" y="4178300"/>
            <a:ext cx="5499100" cy="2425700"/>
          </a:xfrm>
          <a:prstGeom prst="rect">
            <a:avLst/>
          </a:prstGeom>
          <a:solidFill>
            <a:srgbClr val="F5F7FA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4A7E0A9-2C4A-4019-8888-B4EDDDFBD1E0}"/>
              </a:ext>
            </a:extLst>
          </p:cNvPr>
          <p:cNvSpPr/>
          <p:nvPr/>
        </p:nvSpPr>
        <p:spPr>
          <a:xfrm>
            <a:off x="6210300" y="4178300"/>
            <a:ext cx="5499100" cy="50800"/>
          </a:xfrm>
          <a:prstGeom prst="rect">
            <a:avLst/>
          </a:prstGeom>
          <a:solidFill>
            <a:srgbClr val="3B82C4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Card_Hallazgos">
            <a:extLst>
              <a:ext uri="{FF2B5EF4-FFF2-40B4-BE49-F238E27FC236}">
                <a16:creationId xmlns:a16="http://schemas.microsoft.com/office/drawing/2014/main" id="{632AE766-6D48-4DA6-8D28-3049FEBA053A}"/>
              </a:ext>
            </a:extLst>
          </p:cNvPr>
          <p:cNvSpPr txBox="1"/>
          <p:nvPr/>
        </p:nvSpPr>
        <p:spPr>
          <a:xfrm>
            <a:off x="6438900" y="4356100"/>
            <a:ext cx="5041900" cy="2120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buNone/>
            </a:pPr>
            <a:r>
              <a:rPr lang="es-CO" sz="1600" b="1">
                <a:solidFill>
                  <a:srgbClr val="1F4E8C"/>
                </a:solidFill>
              </a:rPr>
              <a:t>Hallazgos clave</a:t>
            </a:r>
          </a:p>
          <a:p>
            <a:pPr>
              <a:buNone/>
            </a:pPr>
            <a:endParaRPr lang="es-CO" sz="600"/>
          </a:p>
          <a:p>
            <a:pPr marL="171450" indent="-171450">
              <a:lnSpc>
                <a:spcPts val="1700"/>
              </a:lnSpc>
              <a:spcBef>
                <a:spcPts val="200"/>
              </a:spcBef>
              <a:buClr>
                <a:srgbClr val="3B82C4"/>
              </a:buClr>
              <a:buFont typeface="Arial"/>
              <a:buChar char="▸"/>
            </a:pPr>
            <a:r>
              <a:rPr lang="es-CO" sz="1400">
                <a:solidFill>
                  <a:srgbClr val="1F4E8C"/>
                </a:solidFill>
              </a:rPr>
              <a:t>Variables con mayor relación con el puntaje global: </a:t>
            </a:r>
            <a:r>
              <a:rPr lang="es-CO" sz="1400" b="1">
                <a:solidFill>
                  <a:srgbClr val="1F4E8C"/>
                </a:solidFill>
              </a:rPr>
              <a:t>jornada, bilingüismo, calendario y naturaleza del colegio</a:t>
            </a:r>
          </a:p>
          <a:p>
            <a:pPr marL="171450" indent="-171450">
              <a:lnSpc>
                <a:spcPts val="1700"/>
              </a:lnSpc>
              <a:spcBef>
                <a:spcPts val="200"/>
              </a:spcBef>
              <a:buClr>
                <a:srgbClr val="3B82C4"/>
              </a:buClr>
              <a:buFont typeface="Arial"/>
              <a:buChar char="▸"/>
            </a:pPr>
            <a:r>
              <a:rPr lang="es-CO" sz="1400">
                <a:solidFill>
                  <a:srgbClr val="1F4E8C"/>
                </a:solidFill>
              </a:rPr>
              <a:t>Capacidad predictiva </a:t>
            </a:r>
            <a:r>
              <a:rPr lang="es-CO" sz="1400" b="1">
                <a:solidFill>
                  <a:srgbClr val="1F4E8C"/>
                </a:solidFill>
              </a:rPr>
              <a:t>moderada</a:t>
            </a:r>
            <a:r>
              <a:rPr lang="es-CO" sz="1400">
                <a:solidFill>
                  <a:srgbClr val="1F4E8C"/>
                </a:solidFill>
              </a:rPr>
              <a:t> con variables institucionales</a:t>
            </a:r>
          </a:p>
          <a:p>
            <a:pPr marL="171450" indent="-171450">
              <a:lnSpc>
                <a:spcPts val="1700"/>
              </a:lnSpc>
              <a:spcBef>
                <a:spcPts val="200"/>
              </a:spcBef>
              <a:buClr>
                <a:srgbClr val="3B82C4"/>
              </a:buClr>
              <a:buFont typeface="Arial"/>
              <a:buChar char="▸"/>
            </a:pPr>
            <a:r>
              <a:rPr lang="es-CO" sz="1400">
                <a:solidFill>
                  <a:srgbClr val="1F4E8C"/>
                </a:solidFill>
              </a:rPr>
              <a:t>El colegio aporta, pero no explica todo el rendimiento</a:t>
            </a:r>
          </a:p>
        </p:txBody>
      </p:sp>
      <p:pic>
        <p:nvPicPr>
          <p:cNvPr id="17" name="Gráfico 16" descr="Network contorno">
            <a:extLst>
              <a:ext uri="{FF2B5EF4-FFF2-40B4-BE49-F238E27FC236}">
                <a16:creationId xmlns:a16="http://schemas.microsoft.com/office/drawing/2014/main" id="{695A207F-7CE8-D724-05EB-FAD32F8EDE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81600" y="381000"/>
            <a:ext cx="914400" cy="914400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C14A658F-E608-2260-3AD4-9CC16C66CF2E}"/>
              </a:ext>
            </a:extLst>
          </p:cNvPr>
          <p:cNvSpPr/>
          <p:nvPr/>
        </p:nvSpPr>
        <p:spPr>
          <a:xfrm>
            <a:off x="0" y="6582655"/>
            <a:ext cx="12192000" cy="28768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58290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B86C7-E8A3-134C-E951-B6A614915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00E4BB00-4FAF-BF62-7F4A-7808F4051C4F}"/>
              </a:ext>
            </a:extLst>
          </p:cNvPr>
          <p:cNvSpPr/>
          <p:nvPr/>
        </p:nvSpPr>
        <p:spPr>
          <a:xfrm>
            <a:off x="25400" y="-254000"/>
            <a:ext cx="12192000" cy="6858000"/>
          </a:xfrm>
          <a:prstGeom prst="rect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3E13A8D-3854-33ED-60BB-3CD82CAAA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81000"/>
            <a:ext cx="11176000" cy="952500"/>
          </a:xfrm>
        </p:spPr>
        <p:txBody>
          <a:bodyPr/>
          <a:lstStyle/>
          <a:p>
            <a:pPr algn="l">
              <a:buNone/>
            </a:pPr>
            <a:r>
              <a:rPr lang="es-CO">
                <a:solidFill>
                  <a:srgbClr val="002060"/>
                </a:solidFill>
              </a:rPr>
              <a:t>Modelo institucional          </a:t>
            </a:r>
            <a:r>
              <a:rPr lang="es-CO" sz="1600" b="0">
                <a:solidFill>
                  <a:schemeClr val="accent1"/>
                </a:solidFill>
              </a:rPr>
              <a:t>Red neuronal binaria (Saber 11 ≥ 300)</a:t>
            </a:r>
          </a:p>
        </p:txBody>
      </p:sp>
      <p:pic>
        <p:nvPicPr>
          <p:cNvPr id="17" name="Gráfico 16" descr="Network contorno">
            <a:extLst>
              <a:ext uri="{FF2B5EF4-FFF2-40B4-BE49-F238E27FC236}">
                <a16:creationId xmlns:a16="http://schemas.microsoft.com/office/drawing/2014/main" id="{6BD7902B-5080-953A-C091-0BA659932E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81600" y="381000"/>
            <a:ext cx="914400" cy="914400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A95BF3DB-C527-314B-C2DF-B66F16D39AA1}"/>
              </a:ext>
            </a:extLst>
          </p:cNvPr>
          <p:cNvSpPr/>
          <p:nvPr/>
        </p:nvSpPr>
        <p:spPr>
          <a:xfrm>
            <a:off x="0" y="6582655"/>
            <a:ext cx="12192000" cy="28768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KPI_0">
            <a:extLst>
              <a:ext uri="{FF2B5EF4-FFF2-40B4-BE49-F238E27FC236}">
                <a16:creationId xmlns:a16="http://schemas.microsoft.com/office/drawing/2014/main" id="{539A51D1-E26B-40CB-8EBB-EB940158E81A}"/>
              </a:ext>
            </a:extLst>
          </p:cNvPr>
          <p:cNvSpPr/>
          <p:nvPr/>
        </p:nvSpPr>
        <p:spPr>
          <a:xfrm>
            <a:off x="241300" y="1460500"/>
            <a:ext cx="1866900" cy="635000"/>
          </a:xfrm>
          <a:prstGeom prst="rect">
            <a:avLst/>
          </a:prstGeom>
          <a:solidFill>
            <a:srgbClr val="E8F0F7"/>
          </a:solidFill>
          <a:ln w="9525" cap="rnd" cmpd="sng" algn="ctr">
            <a:solidFill>
              <a:srgbClr val="7BB3E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>
              <a:buNone/>
            </a:pPr>
            <a:r>
              <a:rPr lang="es-CO" sz="1800" b="1">
                <a:solidFill>
                  <a:srgbClr val="1F4E8C"/>
                </a:solidFill>
              </a:rPr>
              <a:t>80,3%</a:t>
            </a:r>
          </a:p>
          <a:p>
            <a:pPr algn="ctr">
              <a:buNone/>
            </a:pPr>
            <a:r>
              <a:rPr lang="es-CO" sz="1000">
                <a:solidFill>
                  <a:srgbClr val="1F4E8C"/>
                </a:solidFill>
              </a:rPr>
              <a:t>Accuracy</a:t>
            </a:r>
          </a:p>
        </p:txBody>
      </p:sp>
      <p:sp>
        <p:nvSpPr>
          <p:cNvPr id="19" name="KPI_1">
            <a:extLst>
              <a:ext uri="{FF2B5EF4-FFF2-40B4-BE49-F238E27FC236}">
                <a16:creationId xmlns:a16="http://schemas.microsoft.com/office/drawing/2014/main" id="{95C0C3BD-3241-4D38-B704-6A0533A31435}"/>
              </a:ext>
            </a:extLst>
          </p:cNvPr>
          <p:cNvSpPr/>
          <p:nvPr/>
        </p:nvSpPr>
        <p:spPr>
          <a:xfrm>
            <a:off x="2209800" y="1460500"/>
            <a:ext cx="1866900" cy="635000"/>
          </a:xfrm>
          <a:prstGeom prst="rect">
            <a:avLst/>
          </a:prstGeom>
          <a:solidFill>
            <a:srgbClr val="E8F0F7"/>
          </a:solidFill>
          <a:ln w="9525" cap="rnd" cmpd="sng" algn="ctr">
            <a:solidFill>
              <a:srgbClr val="7BB3E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>
              <a:buNone/>
            </a:pPr>
            <a:r>
              <a:rPr lang="es-CO" sz="1800" b="1">
                <a:solidFill>
                  <a:srgbClr val="1F4E8C"/>
                </a:solidFill>
              </a:rPr>
              <a:t>0,744</a:t>
            </a:r>
          </a:p>
          <a:p>
            <a:pPr algn="ctr">
              <a:buNone/>
            </a:pPr>
            <a:r>
              <a:rPr lang="es-CO" sz="1000">
                <a:solidFill>
                  <a:srgbClr val="1F4E8C"/>
                </a:solidFill>
              </a:rPr>
              <a:t>ROC-AUC</a:t>
            </a:r>
          </a:p>
        </p:txBody>
      </p:sp>
      <p:sp>
        <p:nvSpPr>
          <p:cNvPr id="20" name="KPI_2">
            <a:extLst>
              <a:ext uri="{FF2B5EF4-FFF2-40B4-BE49-F238E27FC236}">
                <a16:creationId xmlns:a16="http://schemas.microsoft.com/office/drawing/2014/main" id="{456DAC3A-1D3B-478B-A4FB-830778517F67}"/>
              </a:ext>
            </a:extLst>
          </p:cNvPr>
          <p:cNvSpPr/>
          <p:nvPr/>
        </p:nvSpPr>
        <p:spPr>
          <a:xfrm>
            <a:off x="4178300" y="1460500"/>
            <a:ext cx="1866900" cy="635000"/>
          </a:xfrm>
          <a:prstGeom prst="rect">
            <a:avLst/>
          </a:prstGeom>
          <a:solidFill>
            <a:srgbClr val="E8F0F7"/>
          </a:solidFill>
          <a:ln w="9525" cap="rnd" cmpd="sng" algn="ctr">
            <a:solidFill>
              <a:srgbClr val="7BB3E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>
              <a:buNone/>
            </a:pPr>
            <a:r>
              <a:rPr lang="es-CO" sz="1800" b="1">
                <a:solidFill>
                  <a:srgbClr val="1F4E8C"/>
                </a:solidFill>
              </a:rPr>
              <a:t>0,453</a:t>
            </a:r>
          </a:p>
          <a:p>
            <a:pPr algn="ctr">
              <a:buNone/>
            </a:pPr>
            <a:r>
              <a:rPr lang="es-CO" sz="1000">
                <a:solidFill>
                  <a:srgbClr val="1F4E8C"/>
                </a:solidFill>
              </a:rPr>
              <a:t>Precision</a:t>
            </a:r>
          </a:p>
        </p:txBody>
      </p:sp>
      <p:sp>
        <p:nvSpPr>
          <p:cNvPr id="21" name="KPI_3">
            <a:extLst>
              <a:ext uri="{FF2B5EF4-FFF2-40B4-BE49-F238E27FC236}">
                <a16:creationId xmlns:a16="http://schemas.microsoft.com/office/drawing/2014/main" id="{A5454161-4131-4E22-AAC0-E3251766CB4C}"/>
              </a:ext>
            </a:extLst>
          </p:cNvPr>
          <p:cNvSpPr/>
          <p:nvPr/>
        </p:nvSpPr>
        <p:spPr>
          <a:xfrm>
            <a:off x="6146800" y="1460500"/>
            <a:ext cx="1866900" cy="635000"/>
          </a:xfrm>
          <a:prstGeom prst="rect">
            <a:avLst/>
          </a:prstGeom>
          <a:solidFill>
            <a:srgbClr val="E8F0F7"/>
          </a:solidFill>
          <a:ln w="9525" cap="rnd" cmpd="sng" algn="ctr">
            <a:solidFill>
              <a:srgbClr val="7BB3E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>
              <a:buNone/>
            </a:pPr>
            <a:r>
              <a:rPr lang="es-CO" sz="1800" b="1">
                <a:solidFill>
                  <a:srgbClr val="1F4E8C"/>
                </a:solidFill>
              </a:rPr>
              <a:t>0,466</a:t>
            </a:r>
          </a:p>
          <a:p>
            <a:pPr algn="ctr">
              <a:buNone/>
            </a:pPr>
            <a:r>
              <a:rPr lang="es-CO" sz="1000">
                <a:solidFill>
                  <a:srgbClr val="1F4E8C"/>
                </a:solidFill>
              </a:rPr>
              <a:t>Recall</a:t>
            </a:r>
          </a:p>
        </p:txBody>
      </p:sp>
      <p:sp>
        <p:nvSpPr>
          <p:cNvPr id="22" name="KPI_4">
            <a:extLst>
              <a:ext uri="{FF2B5EF4-FFF2-40B4-BE49-F238E27FC236}">
                <a16:creationId xmlns:a16="http://schemas.microsoft.com/office/drawing/2014/main" id="{B159145B-3B3F-4DB4-AC56-A5C4EB95F04B}"/>
              </a:ext>
            </a:extLst>
          </p:cNvPr>
          <p:cNvSpPr/>
          <p:nvPr/>
        </p:nvSpPr>
        <p:spPr>
          <a:xfrm>
            <a:off x="8115300" y="1460500"/>
            <a:ext cx="1866900" cy="635000"/>
          </a:xfrm>
          <a:prstGeom prst="rect">
            <a:avLst/>
          </a:prstGeom>
          <a:solidFill>
            <a:srgbClr val="E8F0F7"/>
          </a:solidFill>
          <a:ln w="9525" cap="rnd" cmpd="sng" algn="ctr">
            <a:solidFill>
              <a:srgbClr val="7BB3E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>
              <a:buNone/>
            </a:pPr>
            <a:r>
              <a:rPr lang="es-CO" sz="1800" b="1">
                <a:solidFill>
                  <a:srgbClr val="1F4E8C"/>
                </a:solidFill>
              </a:rPr>
              <a:t>0,459</a:t>
            </a:r>
          </a:p>
          <a:p>
            <a:pPr algn="ctr">
              <a:buNone/>
            </a:pPr>
            <a:r>
              <a:rPr lang="es-CO" sz="1000">
                <a:solidFill>
                  <a:srgbClr val="1F4E8C"/>
                </a:solidFill>
              </a:rPr>
              <a:t>F1-score</a:t>
            </a:r>
          </a:p>
        </p:txBody>
      </p:sp>
      <p:sp>
        <p:nvSpPr>
          <p:cNvPr id="23" name="KPI_5">
            <a:extLst>
              <a:ext uri="{FF2B5EF4-FFF2-40B4-BE49-F238E27FC236}">
                <a16:creationId xmlns:a16="http://schemas.microsoft.com/office/drawing/2014/main" id="{3961B49B-4E87-4858-B446-DEB2D220F07B}"/>
              </a:ext>
            </a:extLst>
          </p:cNvPr>
          <p:cNvSpPr/>
          <p:nvPr/>
        </p:nvSpPr>
        <p:spPr>
          <a:xfrm>
            <a:off x="10083800" y="1460500"/>
            <a:ext cx="1866900" cy="635000"/>
          </a:xfrm>
          <a:prstGeom prst="rect">
            <a:avLst/>
          </a:prstGeom>
          <a:solidFill>
            <a:srgbClr val="E8F0F7"/>
          </a:solidFill>
          <a:ln w="9525" cap="rnd" cmpd="sng" algn="ctr">
            <a:solidFill>
              <a:srgbClr val="7BB3E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>
              <a:buNone/>
            </a:pPr>
            <a:r>
              <a:rPr lang="es-CO" sz="1800" b="1">
                <a:solidFill>
                  <a:srgbClr val="1F4E8C"/>
                </a:solidFill>
              </a:rPr>
              <a:t>0,350</a:t>
            </a:r>
          </a:p>
          <a:p>
            <a:pPr algn="ctr">
              <a:buNone/>
            </a:pPr>
            <a:r>
              <a:rPr lang="es-CO" sz="1000">
                <a:solidFill>
                  <a:srgbClr val="1F4E8C"/>
                </a:solidFill>
              </a:rPr>
              <a:t>Umbral</a:t>
            </a:r>
          </a:p>
        </p:txBody>
      </p:sp>
      <p:sp>
        <p:nvSpPr>
          <p:cNvPr id="24" name="Header_0">
            <a:extLst>
              <a:ext uri="{FF2B5EF4-FFF2-40B4-BE49-F238E27FC236}">
                <a16:creationId xmlns:a16="http://schemas.microsoft.com/office/drawing/2014/main" id="{65774D08-2A6E-4921-9F2E-5A990F2B641F}"/>
              </a:ext>
            </a:extLst>
          </p:cNvPr>
          <p:cNvSpPr txBox="1"/>
          <p:nvPr/>
        </p:nvSpPr>
        <p:spPr>
          <a:xfrm>
            <a:off x="190500" y="2286000"/>
            <a:ext cx="37465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CO" sz="1600" b="1">
                <a:solidFill>
                  <a:srgbClr val="1F4E8C"/>
                </a:solidFill>
              </a:rPr>
              <a:t>Matriz de confusión</a:t>
            </a:r>
          </a:p>
        </p:txBody>
      </p:sp>
      <p:sp>
        <p:nvSpPr>
          <p:cNvPr id="25" name="Header_1">
            <a:extLst>
              <a:ext uri="{FF2B5EF4-FFF2-40B4-BE49-F238E27FC236}">
                <a16:creationId xmlns:a16="http://schemas.microsoft.com/office/drawing/2014/main" id="{7EF0D85D-4A1E-4974-BFEF-F9142152DCD5}"/>
              </a:ext>
            </a:extLst>
          </p:cNvPr>
          <p:cNvSpPr txBox="1"/>
          <p:nvPr/>
        </p:nvSpPr>
        <p:spPr>
          <a:xfrm>
            <a:off x="4127500" y="2286000"/>
            <a:ext cx="37465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CO" sz="1600" b="1">
                <a:solidFill>
                  <a:srgbClr val="1F4E8C"/>
                </a:solidFill>
              </a:rPr>
              <a:t>Curva ROC</a:t>
            </a:r>
          </a:p>
        </p:txBody>
      </p:sp>
      <p:sp>
        <p:nvSpPr>
          <p:cNvPr id="26" name="Header_2">
            <a:extLst>
              <a:ext uri="{FF2B5EF4-FFF2-40B4-BE49-F238E27FC236}">
                <a16:creationId xmlns:a16="http://schemas.microsoft.com/office/drawing/2014/main" id="{818E5D8D-6300-4DC8-A7D7-8343A5F0AFAD}"/>
              </a:ext>
            </a:extLst>
          </p:cNvPr>
          <p:cNvSpPr txBox="1"/>
          <p:nvPr/>
        </p:nvSpPr>
        <p:spPr>
          <a:xfrm>
            <a:off x="8064500" y="2286000"/>
            <a:ext cx="3937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CO" sz="1600" b="1">
                <a:solidFill>
                  <a:srgbClr val="1F4E8C"/>
                </a:solidFill>
              </a:rPr>
              <a:t>Métricas por clase</a:t>
            </a:r>
          </a:p>
        </p:txBody>
      </p:sp>
      <p:sp>
        <p:nvSpPr>
          <p:cNvPr id="27" name="PredHdr">
            <a:extLst>
              <a:ext uri="{FF2B5EF4-FFF2-40B4-BE49-F238E27FC236}">
                <a16:creationId xmlns:a16="http://schemas.microsoft.com/office/drawing/2014/main" id="{D20F128D-20C8-436E-BABE-DDEB5F31B255}"/>
              </a:ext>
            </a:extLst>
          </p:cNvPr>
          <p:cNvSpPr txBox="1"/>
          <p:nvPr/>
        </p:nvSpPr>
        <p:spPr>
          <a:xfrm>
            <a:off x="1016000" y="2667000"/>
            <a:ext cx="2921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CO" sz="1100" b="1">
                <a:solidFill>
                  <a:srgbClr val="1F4E8C"/>
                </a:solidFill>
              </a:rPr>
              <a:t>Predicción</a:t>
            </a:r>
          </a:p>
        </p:txBody>
      </p:sp>
      <p:sp>
        <p:nvSpPr>
          <p:cNvPr id="28" name="RealHdr">
            <a:extLst>
              <a:ext uri="{FF2B5EF4-FFF2-40B4-BE49-F238E27FC236}">
                <a16:creationId xmlns:a16="http://schemas.microsoft.com/office/drawing/2014/main" id="{4AD3072E-60E6-4629-B30E-9A281379C542}"/>
              </a:ext>
            </a:extLst>
          </p:cNvPr>
          <p:cNvSpPr txBox="1"/>
          <p:nvPr/>
        </p:nvSpPr>
        <p:spPr>
          <a:xfrm>
            <a:off x="787400" y="3175000"/>
            <a:ext cx="228600" cy="2641600"/>
          </a:xfrm>
          <a:prstGeom prst="rect">
            <a:avLst/>
          </a:prstGeom>
          <a:noFill/>
        </p:spPr>
        <p:txBody>
          <a:bodyPr vertOverflow="overflow" vert="vert270" wrap="square" rtlCol="0" anchor="ctr" anchorCtr="0">
            <a:noAutofit/>
          </a:bodyPr>
          <a:lstStyle/>
          <a:p>
            <a:pPr algn="l"/>
            <a:r>
              <a:rPr lang="es-CO" sz="1100" b="1">
                <a:solidFill>
                  <a:srgbClr val="1F4E8C"/>
                </a:solidFill>
              </a:rPr>
              <a:t>Real</a:t>
            </a:r>
          </a:p>
        </p:txBody>
      </p:sp>
      <p:sp>
        <p:nvSpPr>
          <p:cNvPr id="29" name="ColLabel0">
            <a:extLst>
              <a:ext uri="{FF2B5EF4-FFF2-40B4-BE49-F238E27FC236}">
                <a16:creationId xmlns:a16="http://schemas.microsoft.com/office/drawing/2014/main" id="{7F426DCE-32D4-45EF-925A-F17D2FC28B3F}"/>
              </a:ext>
            </a:extLst>
          </p:cNvPr>
          <p:cNvSpPr txBox="1"/>
          <p:nvPr/>
        </p:nvSpPr>
        <p:spPr>
          <a:xfrm>
            <a:off x="1016000" y="2895600"/>
            <a:ext cx="14605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CO" sz="1100">
                <a:solidFill>
                  <a:srgbClr val="1F4E8C"/>
                </a:solidFill>
              </a:rPr>
              <a:t>No alto</a:t>
            </a:r>
          </a:p>
        </p:txBody>
      </p:sp>
      <p:sp>
        <p:nvSpPr>
          <p:cNvPr id="30" name="ColLabel1">
            <a:extLst>
              <a:ext uri="{FF2B5EF4-FFF2-40B4-BE49-F238E27FC236}">
                <a16:creationId xmlns:a16="http://schemas.microsoft.com/office/drawing/2014/main" id="{BF5908D1-CBF0-488B-A4B0-2B3401C308FE}"/>
              </a:ext>
            </a:extLst>
          </p:cNvPr>
          <p:cNvSpPr txBox="1"/>
          <p:nvPr/>
        </p:nvSpPr>
        <p:spPr>
          <a:xfrm>
            <a:off x="2476500" y="2895600"/>
            <a:ext cx="14605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CO" sz="1100">
                <a:solidFill>
                  <a:srgbClr val="1F4E8C"/>
                </a:solidFill>
              </a:rPr>
              <a:t>Alto</a:t>
            </a:r>
          </a:p>
        </p:txBody>
      </p:sp>
      <p:sp>
        <p:nvSpPr>
          <p:cNvPr id="31" name="RowLabel0">
            <a:extLst>
              <a:ext uri="{FF2B5EF4-FFF2-40B4-BE49-F238E27FC236}">
                <a16:creationId xmlns:a16="http://schemas.microsoft.com/office/drawing/2014/main" id="{B8F4F539-01CA-4BB9-96B0-D1DAF3DF6496}"/>
              </a:ext>
            </a:extLst>
          </p:cNvPr>
          <p:cNvSpPr txBox="1"/>
          <p:nvPr/>
        </p:nvSpPr>
        <p:spPr>
          <a:xfrm>
            <a:off x="419100" y="3175000"/>
            <a:ext cx="596900" cy="1333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CO" sz="1100">
                <a:solidFill>
                  <a:srgbClr val="1F4E8C"/>
                </a:solidFill>
              </a:rPr>
              <a:t>No alto</a:t>
            </a:r>
          </a:p>
        </p:txBody>
      </p:sp>
      <p:sp>
        <p:nvSpPr>
          <p:cNvPr id="32" name="RowLabel1">
            <a:extLst>
              <a:ext uri="{FF2B5EF4-FFF2-40B4-BE49-F238E27FC236}">
                <a16:creationId xmlns:a16="http://schemas.microsoft.com/office/drawing/2014/main" id="{4874F115-04AD-4A8B-84F2-E32F08E4BA9F}"/>
              </a:ext>
            </a:extLst>
          </p:cNvPr>
          <p:cNvSpPr txBox="1"/>
          <p:nvPr/>
        </p:nvSpPr>
        <p:spPr>
          <a:xfrm>
            <a:off x="419100" y="4508500"/>
            <a:ext cx="596900" cy="1333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CO" sz="1100">
                <a:solidFill>
                  <a:srgbClr val="1F4E8C"/>
                </a:solidFill>
              </a:rPr>
              <a:t>Alto</a:t>
            </a:r>
          </a:p>
        </p:txBody>
      </p:sp>
      <p:sp>
        <p:nvSpPr>
          <p:cNvPr id="33" name="CM_0_0">
            <a:extLst>
              <a:ext uri="{FF2B5EF4-FFF2-40B4-BE49-F238E27FC236}">
                <a16:creationId xmlns:a16="http://schemas.microsoft.com/office/drawing/2014/main" id="{67B0E8E9-A67A-4545-A0B8-19B6FBEF4DE0}"/>
              </a:ext>
            </a:extLst>
          </p:cNvPr>
          <p:cNvSpPr/>
          <p:nvPr/>
        </p:nvSpPr>
        <p:spPr>
          <a:xfrm>
            <a:off x="1041400" y="3175000"/>
            <a:ext cx="1409700" cy="1295400"/>
          </a:xfrm>
          <a:prstGeom prst="rect">
            <a:avLst/>
          </a:prstGeom>
          <a:solidFill>
            <a:srgbClr val="1F4E8C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>
              <a:buNone/>
            </a:pPr>
            <a:r>
              <a:rPr lang="es-CO" sz="2200" b="1">
                <a:solidFill>
                  <a:srgbClr val="FFFFFF"/>
                </a:solidFill>
              </a:rPr>
              <a:t>30.302</a:t>
            </a:r>
          </a:p>
          <a:p>
            <a:pPr algn="ctr">
              <a:buNone/>
            </a:pPr>
            <a:r>
              <a:rPr lang="es-CO" sz="1000">
                <a:solidFill>
                  <a:srgbClr val="FFFFFF"/>
                </a:solidFill>
              </a:rPr>
              <a:t>Verdadero negativo</a:t>
            </a:r>
          </a:p>
        </p:txBody>
      </p:sp>
      <p:sp>
        <p:nvSpPr>
          <p:cNvPr id="34" name="CM_0_1">
            <a:extLst>
              <a:ext uri="{FF2B5EF4-FFF2-40B4-BE49-F238E27FC236}">
                <a16:creationId xmlns:a16="http://schemas.microsoft.com/office/drawing/2014/main" id="{01B25576-1ADE-43BE-8A26-2CA98DC51839}"/>
              </a:ext>
            </a:extLst>
          </p:cNvPr>
          <p:cNvSpPr/>
          <p:nvPr/>
        </p:nvSpPr>
        <p:spPr>
          <a:xfrm>
            <a:off x="2501900" y="3175000"/>
            <a:ext cx="1409700" cy="1295400"/>
          </a:xfrm>
          <a:prstGeom prst="rect">
            <a:avLst/>
          </a:prstGeom>
          <a:solidFill>
            <a:srgbClr val="7BB3E0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>
              <a:buNone/>
            </a:pPr>
            <a:r>
              <a:rPr lang="es-CO" sz="2200" b="1">
                <a:solidFill>
                  <a:srgbClr val="1F4E8C"/>
                </a:solidFill>
              </a:rPr>
              <a:t>4.261</a:t>
            </a:r>
          </a:p>
          <a:p>
            <a:pPr algn="ctr">
              <a:buNone/>
            </a:pPr>
            <a:r>
              <a:rPr lang="es-CO" sz="1000">
                <a:solidFill>
                  <a:srgbClr val="1F4E8C"/>
                </a:solidFill>
              </a:rPr>
              <a:t>Falso positivo</a:t>
            </a:r>
          </a:p>
        </p:txBody>
      </p:sp>
      <p:sp>
        <p:nvSpPr>
          <p:cNvPr id="35" name="CM_1_0">
            <a:extLst>
              <a:ext uri="{FF2B5EF4-FFF2-40B4-BE49-F238E27FC236}">
                <a16:creationId xmlns:a16="http://schemas.microsoft.com/office/drawing/2014/main" id="{1B687080-4E68-4D51-BEC8-9F7451437501}"/>
              </a:ext>
            </a:extLst>
          </p:cNvPr>
          <p:cNvSpPr/>
          <p:nvPr/>
        </p:nvSpPr>
        <p:spPr>
          <a:xfrm>
            <a:off x="1041400" y="4521200"/>
            <a:ext cx="1409700" cy="1295400"/>
          </a:xfrm>
          <a:prstGeom prst="rect">
            <a:avLst/>
          </a:prstGeom>
          <a:solidFill>
            <a:srgbClr val="7BB3E0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>
              <a:buNone/>
            </a:pPr>
            <a:r>
              <a:rPr lang="es-CO" sz="2200" b="1">
                <a:solidFill>
                  <a:srgbClr val="1F4E8C"/>
                </a:solidFill>
              </a:rPr>
              <a:t>4.049</a:t>
            </a:r>
          </a:p>
          <a:p>
            <a:pPr algn="ctr">
              <a:buNone/>
            </a:pPr>
            <a:r>
              <a:rPr lang="es-CO" sz="1000">
                <a:solidFill>
                  <a:srgbClr val="1F4E8C"/>
                </a:solidFill>
              </a:rPr>
              <a:t>Falso negativo</a:t>
            </a:r>
          </a:p>
        </p:txBody>
      </p:sp>
      <p:sp>
        <p:nvSpPr>
          <p:cNvPr id="36" name="CM_1_1">
            <a:extLst>
              <a:ext uri="{FF2B5EF4-FFF2-40B4-BE49-F238E27FC236}">
                <a16:creationId xmlns:a16="http://schemas.microsoft.com/office/drawing/2014/main" id="{828B8323-B4DA-4BC1-96AE-13510605385B}"/>
              </a:ext>
            </a:extLst>
          </p:cNvPr>
          <p:cNvSpPr/>
          <p:nvPr/>
        </p:nvSpPr>
        <p:spPr>
          <a:xfrm>
            <a:off x="2501900" y="4521200"/>
            <a:ext cx="1409700" cy="1295400"/>
          </a:xfrm>
          <a:prstGeom prst="rect">
            <a:avLst/>
          </a:prstGeom>
          <a:solidFill>
            <a:srgbClr val="3B82C4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>
              <a:buNone/>
            </a:pPr>
            <a:r>
              <a:rPr lang="es-CO" sz="2200" b="1">
                <a:solidFill>
                  <a:srgbClr val="FFFFFF"/>
                </a:solidFill>
              </a:rPr>
              <a:t>3.527</a:t>
            </a:r>
          </a:p>
          <a:p>
            <a:pPr algn="ctr">
              <a:buNone/>
            </a:pPr>
            <a:r>
              <a:rPr lang="es-CO" sz="1000">
                <a:solidFill>
                  <a:srgbClr val="FFFFFF"/>
                </a:solidFill>
              </a:rPr>
              <a:t>Verdadero positivo</a:t>
            </a:r>
          </a:p>
        </p:txBody>
      </p:sp>
      <p:graphicFrame>
        <p:nvGraphicFramePr>
          <p:cNvPr id="38" name="MetricsTable">
            <a:extLst>
              <a:ext uri="{FF2B5EF4-FFF2-40B4-BE49-F238E27FC236}">
                <a16:creationId xmlns:a16="http://schemas.microsoft.com/office/drawing/2014/main" id="{3F6456BC-A34A-4999-8F7C-9D4C804D98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96104"/>
              </p:ext>
            </p:extLst>
          </p:nvPr>
        </p:nvGraphicFramePr>
        <p:xfrm>
          <a:off x="8064500" y="2730499"/>
          <a:ext cx="3937000" cy="3746496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1041400">
                  <a:extLst>
                    <a:ext uri="{9D8B030D-6E8A-4147-A177-3AD203B41FA5}">
                      <a16:colId xmlns:a16="http://schemas.microsoft.com/office/drawing/2014/main" val="3208394918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688459089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21665393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307678575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78393423"/>
                    </a:ext>
                  </a:extLst>
                </a:gridCol>
              </a:tblGrid>
              <a:tr h="624416">
                <a:tc>
                  <a:txBody>
                    <a:bodyPr/>
                    <a:lstStyle/>
                    <a:p>
                      <a:pPr algn="ctr"/>
                      <a:r>
                        <a:rPr lang="es-CO" sz="1200" b="1">
                          <a:solidFill>
                            <a:srgbClr val="FFFFFF"/>
                          </a:solidFill>
                        </a:rPr>
                        <a:t>Clase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1" err="1">
                          <a:solidFill>
                            <a:srgbClr val="FFFFFF"/>
                          </a:solidFill>
                        </a:rPr>
                        <a:t>Prec.</a:t>
                      </a:r>
                      <a:endParaRPr lang="es-CO" sz="12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1">
                          <a:solidFill>
                            <a:srgbClr val="FFFFFF"/>
                          </a:solidFill>
                        </a:rPr>
                        <a:t>Soporte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796003"/>
                  </a:ext>
                </a:extLst>
              </a:tr>
              <a:tr h="624416">
                <a:tc>
                  <a:txBody>
                    <a:bodyPr/>
                    <a:lstStyle/>
                    <a:p>
                      <a:pPr algn="l"/>
                      <a:r>
                        <a:rPr lang="es-CO" sz="1200">
                          <a:solidFill>
                            <a:srgbClr val="1F4E8C"/>
                          </a:solidFill>
                        </a:rPr>
                        <a:t>No alto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1200">
                          <a:solidFill>
                            <a:srgbClr val="1F4E8C"/>
                          </a:solidFill>
                        </a:rPr>
                        <a:t>0,88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1200">
                          <a:solidFill>
                            <a:srgbClr val="1F4E8C"/>
                          </a:solidFill>
                        </a:rPr>
                        <a:t>0,88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1200">
                          <a:solidFill>
                            <a:srgbClr val="1F4E8C"/>
                          </a:solidFill>
                        </a:rPr>
                        <a:t>0,88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1200">
                          <a:solidFill>
                            <a:srgbClr val="1F4E8C"/>
                          </a:solidFill>
                        </a:rPr>
                        <a:t>34.563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1948577"/>
                  </a:ext>
                </a:extLst>
              </a:tr>
              <a:tr h="624416">
                <a:tc>
                  <a:txBody>
                    <a:bodyPr/>
                    <a:lstStyle/>
                    <a:p>
                      <a:pPr algn="l"/>
                      <a:r>
                        <a:rPr lang="es-CO" sz="1200">
                          <a:solidFill>
                            <a:srgbClr val="1F4E8C"/>
                          </a:solidFill>
                        </a:rPr>
                        <a:t>Alto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1200">
                          <a:solidFill>
                            <a:srgbClr val="1F4E8C"/>
                          </a:solidFill>
                        </a:rPr>
                        <a:t>0,45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1200">
                          <a:solidFill>
                            <a:srgbClr val="1F4E8C"/>
                          </a:solidFill>
                        </a:rPr>
                        <a:t>0,47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1200">
                          <a:solidFill>
                            <a:srgbClr val="1F4E8C"/>
                          </a:solidFill>
                        </a:rPr>
                        <a:t>0,46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1200">
                          <a:solidFill>
                            <a:srgbClr val="1F4E8C"/>
                          </a:solidFill>
                        </a:rPr>
                        <a:t>7.576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0706991"/>
                  </a:ext>
                </a:extLst>
              </a:tr>
              <a:tr h="624416">
                <a:tc>
                  <a:txBody>
                    <a:bodyPr/>
                    <a:lstStyle/>
                    <a:p>
                      <a:pPr algn="l"/>
                      <a:r>
                        <a:rPr lang="es-CO" sz="1200" b="1">
                          <a:solidFill>
                            <a:srgbClr val="1F4E8C"/>
                          </a:solidFill>
                        </a:rPr>
                        <a:t>Accuracy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1200"/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1200"/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1200" b="1">
                          <a:solidFill>
                            <a:srgbClr val="1F4E8C"/>
                          </a:solidFill>
                        </a:rPr>
                        <a:t>0,80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1200" b="1">
                          <a:solidFill>
                            <a:srgbClr val="1F4E8C"/>
                          </a:solidFill>
                        </a:rPr>
                        <a:t>42.139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97429"/>
                  </a:ext>
                </a:extLst>
              </a:tr>
              <a:tr h="624416">
                <a:tc>
                  <a:txBody>
                    <a:bodyPr/>
                    <a:lstStyle/>
                    <a:p>
                      <a:pPr algn="l"/>
                      <a:r>
                        <a:rPr lang="es-CO" sz="1200" b="1">
                          <a:solidFill>
                            <a:srgbClr val="1F4E8C"/>
                          </a:solidFill>
                        </a:rPr>
                        <a:t>Macro </a:t>
                      </a:r>
                      <a:r>
                        <a:rPr lang="es-CO" sz="1200" b="1" err="1">
                          <a:solidFill>
                            <a:srgbClr val="1F4E8C"/>
                          </a:solidFill>
                        </a:rPr>
                        <a:t>Avg</a:t>
                      </a:r>
                      <a:endParaRPr lang="es-CO" sz="1200" b="1">
                        <a:solidFill>
                          <a:srgbClr val="1F4E8C"/>
                        </a:solidFill>
                      </a:endParaRP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1200" b="1">
                          <a:solidFill>
                            <a:srgbClr val="1F4E8C"/>
                          </a:solidFill>
                        </a:rPr>
                        <a:t>0,67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1200" b="1">
                          <a:solidFill>
                            <a:srgbClr val="1F4E8C"/>
                          </a:solidFill>
                        </a:rPr>
                        <a:t>0,67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1200" b="1">
                          <a:solidFill>
                            <a:srgbClr val="1F4E8C"/>
                          </a:solidFill>
                        </a:rPr>
                        <a:t>0,67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1200" b="1">
                          <a:solidFill>
                            <a:srgbClr val="1F4E8C"/>
                          </a:solidFill>
                        </a:rPr>
                        <a:t>42.139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55649"/>
                  </a:ext>
                </a:extLst>
              </a:tr>
              <a:tr h="624416">
                <a:tc>
                  <a:txBody>
                    <a:bodyPr/>
                    <a:lstStyle/>
                    <a:p>
                      <a:pPr algn="l"/>
                      <a:r>
                        <a:rPr lang="es-CO" sz="1200" b="1">
                          <a:solidFill>
                            <a:srgbClr val="1F4E8C"/>
                          </a:solidFill>
                        </a:rPr>
                        <a:t>Ponderado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1200" b="1">
                          <a:solidFill>
                            <a:srgbClr val="1F4E8C"/>
                          </a:solidFill>
                        </a:rPr>
                        <a:t>0,80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1200" b="1">
                          <a:solidFill>
                            <a:srgbClr val="1F4E8C"/>
                          </a:solidFill>
                        </a:rPr>
                        <a:t>0,80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1200" b="1">
                          <a:solidFill>
                            <a:srgbClr val="1F4E8C"/>
                          </a:solidFill>
                        </a:rPr>
                        <a:t>0,80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1200" b="1">
                          <a:solidFill>
                            <a:srgbClr val="1F4E8C"/>
                          </a:solidFill>
                        </a:rPr>
                        <a:t>42.139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4977546"/>
                  </a:ext>
                </a:extLst>
              </a:tr>
            </a:tbl>
          </a:graphicData>
        </a:graphic>
      </p:graphicFrame>
      <p:graphicFrame>
        <p:nvGraphicFramePr>
          <p:cNvPr id="301" name="ROC Chart"/>
          <p:cNvGraphicFramePr/>
          <p:nvPr/>
        </p:nvGraphicFramePr>
        <p:xfrm>
          <a:off x="4127499" y="2666999"/>
          <a:ext cx="3806265" cy="34648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93115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28204-2C6C-CA2B-7ACE-709BD219E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pPr>
              <a:buNone/>
            </a:pPr>
            <a:r>
              <a:rPr lang="es-CO" b="1">
                <a:solidFill>
                  <a:srgbClr val="1F4E8C"/>
                </a:solidFill>
              </a:rPr>
              <a:t>Pregunta 2</a:t>
            </a:r>
            <a:br>
              <a:rPr lang="es-CO">
                <a:solidFill>
                  <a:srgbClr val="1F4E8C"/>
                </a:solidFill>
              </a:rPr>
            </a:br>
            <a:r>
              <a:rPr lang="es-CO">
                <a:solidFill>
                  <a:srgbClr val="1F4E8C"/>
                </a:solidFill>
              </a:rPr>
              <a:t>Variables familiares</a:t>
            </a:r>
            <a:endParaRPr lang="es-CO" b="1">
              <a:solidFill>
                <a:srgbClr val="1F4E8C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9512DBB-A429-BA7A-CF06-9F646F406377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3535866016"/>
              </p:ext>
            </p:extLst>
          </p:nvPr>
        </p:nvGraphicFramePr>
        <p:xfrm>
          <a:off x="838200" y="1860550"/>
          <a:ext cx="10515600" cy="4198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47A76F00-9D3B-65A3-25E8-96CAB52A4D17}"/>
              </a:ext>
            </a:extLst>
          </p:cNvPr>
          <p:cNvSpPr/>
          <p:nvPr/>
        </p:nvSpPr>
        <p:spPr>
          <a:xfrm>
            <a:off x="0" y="6582655"/>
            <a:ext cx="12192000" cy="28768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4608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A401F-4CB9-6165-FF45-BD53A7991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3156C0D1-AE1C-7C96-EA82-D94974D009F5}"/>
              </a:ext>
            </a:extLst>
          </p:cNvPr>
          <p:cNvSpPr/>
          <p:nvPr/>
        </p:nvSpPr>
        <p:spPr>
          <a:xfrm>
            <a:off x="-67519" y="0"/>
            <a:ext cx="12192000" cy="6858000"/>
          </a:xfrm>
          <a:prstGeom prst="rect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499BC90-181C-116E-8115-D97F12570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81000"/>
            <a:ext cx="11176000" cy="952500"/>
          </a:xfrm>
        </p:spPr>
        <p:txBody>
          <a:bodyPr/>
          <a:lstStyle/>
          <a:p>
            <a:pPr algn="l">
              <a:buNone/>
            </a:pPr>
            <a:r>
              <a:rPr lang="es-CO">
                <a:solidFill>
                  <a:srgbClr val="002060"/>
                </a:solidFill>
              </a:rPr>
              <a:t>Modelo familiar                </a:t>
            </a:r>
            <a:r>
              <a:rPr lang="es-CO" sz="1600" b="0">
                <a:solidFill>
                  <a:schemeClr val="accent1"/>
                </a:solidFill>
              </a:rPr>
              <a:t>Red neuronal binaria (Saber 11 ≥ 300)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3A7693D-C019-24A5-D61C-F5D9F9B4D48C}"/>
              </a:ext>
            </a:extLst>
          </p:cNvPr>
          <p:cNvSpPr/>
          <p:nvPr/>
        </p:nvSpPr>
        <p:spPr>
          <a:xfrm>
            <a:off x="533400" y="1587500"/>
            <a:ext cx="5499100" cy="2413000"/>
          </a:xfrm>
          <a:prstGeom prst="rect">
            <a:avLst/>
          </a:prstGeom>
          <a:solidFill>
            <a:srgbClr val="F5F7FA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1784BCA-F6C3-6F36-7285-DA8BDFD6B7CC}"/>
              </a:ext>
            </a:extLst>
          </p:cNvPr>
          <p:cNvSpPr/>
          <p:nvPr/>
        </p:nvSpPr>
        <p:spPr>
          <a:xfrm>
            <a:off x="533400" y="1587500"/>
            <a:ext cx="5499100" cy="50800"/>
          </a:xfrm>
          <a:prstGeom prst="rect">
            <a:avLst/>
          </a:prstGeom>
          <a:solidFill>
            <a:srgbClr val="1F4E8C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Card_Variables">
            <a:extLst>
              <a:ext uri="{FF2B5EF4-FFF2-40B4-BE49-F238E27FC236}">
                <a16:creationId xmlns:a16="http://schemas.microsoft.com/office/drawing/2014/main" id="{79B3C5A4-F944-F953-8859-375DEA4836C6}"/>
              </a:ext>
            </a:extLst>
          </p:cNvPr>
          <p:cNvSpPr txBox="1"/>
          <p:nvPr/>
        </p:nvSpPr>
        <p:spPr>
          <a:xfrm>
            <a:off x="762000" y="1765300"/>
            <a:ext cx="5041900" cy="2108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buNone/>
            </a:pPr>
            <a:r>
              <a:rPr lang="es-CO" sz="1600" b="1">
                <a:solidFill>
                  <a:srgbClr val="1F4E8C"/>
                </a:solidFill>
              </a:rPr>
              <a:t>Variables familiares</a:t>
            </a:r>
          </a:p>
          <a:p>
            <a:pPr>
              <a:buNone/>
            </a:pPr>
            <a:endParaRPr lang="es-CO" sz="600"/>
          </a:p>
          <a:p>
            <a:pPr marL="171450" indent="-171450">
              <a:lnSpc>
                <a:spcPts val="1700"/>
              </a:lnSpc>
              <a:spcBef>
                <a:spcPts val="200"/>
              </a:spcBef>
              <a:buClr>
                <a:srgbClr val="3B82C4"/>
              </a:buClr>
              <a:buFont typeface="Arial"/>
              <a:buChar char="▸"/>
            </a:pPr>
            <a:r>
              <a:rPr lang="es-CO" sz="1400">
                <a:solidFill>
                  <a:srgbClr val="1F4E8C"/>
                </a:solidFill>
              </a:rPr>
              <a:t>Estrato, educación de madre y padre</a:t>
            </a:r>
          </a:p>
          <a:p>
            <a:pPr marL="171450" indent="-171450">
              <a:lnSpc>
                <a:spcPts val="1700"/>
              </a:lnSpc>
              <a:spcBef>
                <a:spcPts val="200"/>
              </a:spcBef>
              <a:buClr>
                <a:srgbClr val="3B82C4"/>
              </a:buClr>
              <a:buFont typeface="Arial"/>
              <a:buChar char="▸"/>
            </a:pPr>
            <a:r>
              <a:rPr lang="es-CO" sz="1400">
                <a:solidFill>
                  <a:srgbClr val="1F4E8C"/>
                </a:solidFill>
              </a:rPr>
              <a:t>Personas y cuartos en el hogar </a:t>
            </a:r>
          </a:p>
          <a:p>
            <a:pPr marL="171450" indent="-171450">
              <a:lnSpc>
                <a:spcPts val="1700"/>
              </a:lnSpc>
              <a:spcBef>
                <a:spcPts val="200"/>
              </a:spcBef>
              <a:buClr>
                <a:srgbClr val="3B82C4"/>
              </a:buClr>
              <a:buFont typeface="Arial"/>
              <a:buChar char="▸"/>
            </a:pPr>
            <a:r>
              <a:rPr lang="es-CO" sz="1400">
                <a:solidFill>
                  <a:srgbClr val="1F4E8C"/>
                </a:solidFill>
              </a:rPr>
              <a:t>Tiene automóvil y</a:t>
            </a:r>
            <a:r>
              <a:rPr lang="en-US" sz="1400">
                <a:solidFill>
                  <a:srgbClr val="1F4E8C"/>
                </a:solidFill>
              </a:rPr>
              <a:t>/o</a:t>
            </a:r>
            <a:r>
              <a:rPr lang="es-CO" sz="1400">
                <a:solidFill>
                  <a:srgbClr val="1F4E8C"/>
                </a:solidFill>
              </a:rPr>
              <a:t> lavadora</a:t>
            </a:r>
          </a:p>
          <a:p>
            <a:pPr marL="171450" indent="-171450">
              <a:lnSpc>
                <a:spcPts val="1700"/>
              </a:lnSpc>
              <a:spcBef>
                <a:spcPts val="200"/>
              </a:spcBef>
              <a:buClr>
                <a:srgbClr val="3B82C4"/>
              </a:buClr>
              <a:buFont typeface="Arial"/>
              <a:buChar char="▸"/>
            </a:pPr>
            <a:r>
              <a:rPr lang="en-US" sz="1400" b="1" err="1">
                <a:solidFill>
                  <a:schemeClr val="accent1"/>
                </a:solidFill>
              </a:rPr>
              <a:t>Limpieza</a:t>
            </a:r>
            <a:r>
              <a:rPr lang="en-US" sz="1400" b="1">
                <a:solidFill>
                  <a:schemeClr val="accent1"/>
                </a:solidFill>
              </a:rPr>
              <a:t> de </a:t>
            </a:r>
            <a:r>
              <a:rPr lang="en-US" sz="1400" b="1" err="1">
                <a:solidFill>
                  <a:schemeClr val="accent1"/>
                </a:solidFill>
              </a:rPr>
              <a:t>categorías</a:t>
            </a:r>
            <a:r>
              <a:rPr lang="en-US" sz="1400" b="1">
                <a:solidFill>
                  <a:schemeClr val="accent1"/>
                </a:solidFill>
              </a:rPr>
              <a:t> + One-Hot Encoding</a:t>
            </a:r>
            <a:r>
              <a:rPr lang="es-CO" sz="1400" b="1">
                <a:solidFill>
                  <a:schemeClr val="accent1"/>
                </a:solidFill>
              </a:rPr>
              <a:t> </a:t>
            </a:r>
          </a:p>
          <a:p>
            <a:pPr marL="171450" indent="-171450">
              <a:lnSpc>
                <a:spcPts val="1700"/>
              </a:lnSpc>
              <a:spcBef>
                <a:spcPts val="200"/>
              </a:spcBef>
              <a:buClr>
                <a:srgbClr val="3B82C4"/>
              </a:buClr>
              <a:buFont typeface="Arial"/>
              <a:buChar char="▸"/>
            </a:pPr>
            <a:r>
              <a:rPr lang="es-CO" sz="1400">
                <a:solidFill>
                  <a:srgbClr val="1F4E8C"/>
                </a:solidFill>
              </a:rPr>
              <a:t>Línea base: regresión logística vs red neuronal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79D9024-8C16-C35C-0690-56EEF9CD9520}"/>
              </a:ext>
            </a:extLst>
          </p:cNvPr>
          <p:cNvSpPr/>
          <p:nvPr/>
        </p:nvSpPr>
        <p:spPr>
          <a:xfrm>
            <a:off x="6210300" y="1587500"/>
            <a:ext cx="5499100" cy="2413000"/>
          </a:xfrm>
          <a:prstGeom prst="rect">
            <a:avLst/>
          </a:prstGeom>
          <a:solidFill>
            <a:srgbClr val="F5F7FA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A038240-0E51-4EBD-FB89-1F2F83FBF4D2}"/>
              </a:ext>
            </a:extLst>
          </p:cNvPr>
          <p:cNvSpPr/>
          <p:nvPr/>
        </p:nvSpPr>
        <p:spPr>
          <a:xfrm>
            <a:off x="6210300" y="1587500"/>
            <a:ext cx="5499100" cy="50800"/>
          </a:xfrm>
          <a:prstGeom prst="rect">
            <a:avLst/>
          </a:prstGeom>
          <a:solidFill>
            <a:srgbClr val="3B82C4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Card_Arquitectura">
            <a:extLst>
              <a:ext uri="{FF2B5EF4-FFF2-40B4-BE49-F238E27FC236}">
                <a16:creationId xmlns:a16="http://schemas.microsoft.com/office/drawing/2014/main" id="{59AF51E2-3EA3-684D-B146-698C7A4308D8}"/>
              </a:ext>
            </a:extLst>
          </p:cNvPr>
          <p:cNvSpPr txBox="1"/>
          <p:nvPr/>
        </p:nvSpPr>
        <p:spPr>
          <a:xfrm>
            <a:off x="6438900" y="1765300"/>
            <a:ext cx="5041900" cy="2108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buNone/>
            </a:pPr>
            <a:r>
              <a:rPr lang="es-CO" sz="1600" b="1">
                <a:solidFill>
                  <a:srgbClr val="1F4E8C"/>
                </a:solidFill>
              </a:rPr>
              <a:t>Arquitectura</a:t>
            </a:r>
          </a:p>
          <a:p>
            <a:pPr>
              <a:buNone/>
            </a:pPr>
            <a:endParaRPr lang="es-CO" sz="600"/>
          </a:p>
          <a:p>
            <a:pPr marL="171450" indent="-171450">
              <a:lnSpc>
                <a:spcPts val="1700"/>
              </a:lnSpc>
              <a:spcBef>
                <a:spcPts val="200"/>
              </a:spcBef>
              <a:buClr>
                <a:srgbClr val="3B82C4"/>
              </a:buClr>
              <a:buFont typeface="Arial"/>
              <a:buChar char="▸"/>
            </a:pPr>
            <a:r>
              <a:rPr lang="en-US" sz="1400" err="1">
                <a:solidFill>
                  <a:srgbClr val="1F4E8C"/>
                </a:solidFill>
              </a:rPr>
              <a:t>Problema</a:t>
            </a:r>
            <a:r>
              <a:rPr lang="en-US" sz="1400">
                <a:solidFill>
                  <a:srgbClr val="1F4E8C"/>
                </a:solidFill>
              </a:rPr>
              <a:t> de </a:t>
            </a:r>
            <a:r>
              <a:rPr lang="en-US" sz="1400" err="1">
                <a:solidFill>
                  <a:srgbClr val="1F4E8C"/>
                </a:solidFill>
              </a:rPr>
              <a:t>clasificación</a:t>
            </a:r>
            <a:r>
              <a:rPr lang="en-US" sz="1400">
                <a:solidFill>
                  <a:srgbClr val="1F4E8C"/>
                </a:solidFill>
              </a:rPr>
              <a:t> </a:t>
            </a:r>
            <a:r>
              <a:rPr lang="en-US" sz="1400" err="1">
                <a:solidFill>
                  <a:srgbClr val="1F4E8C"/>
                </a:solidFill>
              </a:rPr>
              <a:t>binaria</a:t>
            </a:r>
            <a:r>
              <a:rPr lang="en-US" sz="1400">
                <a:solidFill>
                  <a:srgbClr val="1F4E8C"/>
                </a:solidFill>
              </a:rPr>
              <a:t> </a:t>
            </a:r>
          </a:p>
          <a:p>
            <a:pPr marL="171450" indent="-171450">
              <a:lnSpc>
                <a:spcPts val="1700"/>
              </a:lnSpc>
              <a:spcBef>
                <a:spcPts val="200"/>
              </a:spcBef>
              <a:buClr>
                <a:srgbClr val="3B82C4"/>
              </a:buClr>
              <a:buFont typeface="Arial"/>
              <a:buChar char="▸"/>
            </a:pPr>
            <a:r>
              <a:rPr lang="en-US" sz="1400">
                <a:solidFill>
                  <a:srgbClr val="1F4E8C"/>
                </a:solidFill>
              </a:rPr>
              <a:t>2 </a:t>
            </a:r>
            <a:r>
              <a:rPr lang="en-US" sz="1400" err="1">
                <a:solidFill>
                  <a:srgbClr val="1F4E8C"/>
                </a:solidFill>
              </a:rPr>
              <a:t>capas</a:t>
            </a:r>
            <a:r>
              <a:rPr lang="en-US" sz="1400">
                <a:solidFill>
                  <a:srgbClr val="1F4E8C"/>
                </a:solidFill>
              </a:rPr>
              <a:t> </a:t>
            </a:r>
            <a:r>
              <a:rPr lang="en-US" sz="1400" err="1">
                <a:solidFill>
                  <a:srgbClr val="1F4E8C"/>
                </a:solidFill>
              </a:rPr>
              <a:t>ocultas</a:t>
            </a:r>
            <a:r>
              <a:rPr lang="en-US" sz="1400">
                <a:solidFill>
                  <a:srgbClr val="1F4E8C"/>
                </a:solidFill>
              </a:rPr>
              <a:t> con </a:t>
            </a:r>
            <a:r>
              <a:rPr lang="en-US" sz="1400" err="1">
                <a:solidFill>
                  <a:srgbClr val="1F4E8C"/>
                </a:solidFill>
              </a:rPr>
              <a:t>activación</a:t>
            </a:r>
            <a:r>
              <a:rPr lang="en-US" sz="1400">
                <a:solidFill>
                  <a:srgbClr val="1F4E8C"/>
                </a:solidFill>
              </a:rPr>
              <a:t> </a:t>
            </a:r>
            <a:r>
              <a:rPr lang="en-US" sz="1400" err="1">
                <a:solidFill>
                  <a:srgbClr val="1F4E8C"/>
                </a:solidFill>
              </a:rPr>
              <a:t>ReLU</a:t>
            </a:r>
            <a:r>
              <a:rPr lang="en-US" sz="1400">
                <a:solidFill>
                  <a:srgbClr val="1F4E8C"/>
                </a:solidFill>
              </a:rPr>
              <a:t> </a:t>
            </a:r>
          </a:p>
          <a:p>
            <a:pPr marL="171450" indent="-171450">
              <a:lnSpc>
                <a:spcPts val="1700"/>
              </a:lnSpc>
              <a:spcBef>
                <a:spcPts val="200"/>
              </a:spcBef>
              <a:buClr>
                <a:srgbClr val="3B82C4"/>
              </a:buClr>
              <a:buFont typeface="Arial"/>
              <a:buChar char="▸"/>
            </a:pPr>
            <a:r>
              <a:rPr lang="en-US" sz="1400">
                <a:solidFill>
                  <a:srgbClr val="1F4E8C"/>
                </a:solidFill>
              </a:rPr>
              <a:t>Capa de </a:t>
            </a:r>
            <a:r>
              <a:rPr lang="en-US" sz="1400" err="1">
                <a:solidFill>
                  <a:srgbClr val="1F4E8C"/>
                </a:solidFill>
              </a:rPr>
              <a:t>salida</a:t>
            </a:r>
            <a:r>
              <a:rPr lang="en-US" sz="1400">
                <a:solidFill>
                  <a:srgbClr val="1F4E8C"/>
                </a:solidFill>
              </a:rPr>
              <a:t> </a:t>
            </a:r>
            <a:r>
              <a:rPr lang="en-US" sz="1400" err="1">
                <a:solidFill>
                  <a:srgbClr val="1F4E8C"/>
                </a:solidFill>
              </a:rPr>
              <a:t>sigmoide</a:t>
            </a:r>
            <a:endParaRPr lang="en-US" sz="1400">
              <a:solidFill>
                <a:srgbClr val="1F4E8C"/>
              </a:solidFill>
            </a:endParaRPr>
          </a:p>
          <a:p>
            <a:pPr marL="171450" indent="-171450">
              <a:lnSpc>
                <a:spcPts val="1700"/>
              </a:lnSpc>
              <a:spcBef>
                <a:spcPts val="200"/>
              </a:spcBef>
              <a:buClr>
                <a:srgbClr val="3B82C4"/>
              </a:buClr>
              <a:buFont typeface="Arial"/>
              <a:buChar char="▸"/>
            </a:pPr>
            <a:r>
              <a:rPr lang="en-US" sz="1400">
                <a:solidFill>
                  <a:srgbClr val="1F4E8C"/>
                </a:solidFill>
              </a:rPr>
              <a:t> </a:t>
            </a:r>
            <a:r>
              <a:rPr lang="en-US" sz="1400" err="1">
                <a:solidFill>
                  <a:srgbClr val="1F4E8C"/>
                </a:solidFill>
              </a:rPr>
              <a:t>Entrenamiento</a:t>
            </a:r>
            <a:r>
              <a:rPr lang="en-US" sz="1400">
                <a:solidFill>
                  <a:srgbClr val="1F4E8C"/>
                </a:solidFill>
              </a:rPr>
              <a:t> con </a:t>
            </a:r>
            <a:r>
              <a:rPr lang="en-US" sz="1400" err="1">
                <a:solidFill>
                  <a:srgbClr val="1F4E8C"/>
                </a:solidFill>
              </a:rPr>
              <a:t>validación</a:t>
            </a:r>
            <a:r>
              <a:rPr lang="en-US" sz="1400">
                <a:solidFill>
                  <a:srgbClr val="1F4E8C"/>
                </a:solidFill>
              </a:rPr>
              <a:t> </a:t>
            </a:r>
          </a:p>
          <a:p>
            <a:pPr marL="171450" indent="-171450">
              <a:lnSpc>
                <a:spcPts val="1700"/>
              </a:lnSpc>
              <a:spcBef>
                <a:spcPts val="200"/>
              </a:spcBef>
              <a:buClr>
                <a:srgbClr val="3B82C4"/>
              </a:buClr>
              <a:buFont typeface="Arial"/>
              <a:buChar char="▸"/>
            </a:pPr>
            <a:r>
              <a:rPr lang="en-US" sz="1400" err="1">
                <a:solidFill>
                  <a:srgbClr val="1F4E8C"/>
                </a:solidFill>
              </a:rPr>
              <a:t>Comparación</a:t>
            </a:r>
            <a:r>
              <a:rPr lang="en-US" sz="1400">
                <a:solidFill>
                  <a:srgbClr val="1F4E8C"/>
                </a:solidFill>
              </a:rPr>
              <a:t> </a:t>
            </a:r>
            <a:r>
              <a:rPr lang="en-US" sz="1400" err="1">
                <a:solidFill>
                  <a:srgbClr val="1F4E8C"/>
                </a:solidFill>
              </a:rPr>
              <a:t>frente</a:t>
            </a:r>
            <a:r>
              <a:rPr lang="en-US" sz="1400">
                <a:solidFill>
                  <a:srgbClr val="1F4E8C"/>
                </a:solidFill>
              </a:rPr>
              <a:t> a </a:t>
            </a:r>
            <a:r>
              <a:rPr lang="en-US" sz="1400" err="1">
                <a:solidFill>
                  <a:srgbClr val="1F4E8C"/>
                </a:solidFill>
              </a:rPr>
              <a:t>regresión</a:t>
            </a:r>
            <a:r>
              <a:rPr lang="en-US" sz="1400">
                <a:solidFill>
                  <a:srgbClr val="1F4E8C"/>
                </a:solidFill>
              </a:rPr>
              <a:t> </a:t>
            </a:r>
            <a:r>
              <a:rPr lang="en-US" sz="1400" err="1">
                <a:solidFill>
                  <a:srgbClr val="1F4E8C"/>
                </a:solidFill>
              </a:rPr>
              <a:t>logística</a:t>
            </a:r>
            <a:r>
              <a:rPr lang="en-US" sz="1400">
                <a:solidFill>
                  <a:srgbClr val="1F4E8C"/>
                </a:solidFill>
              </a:rPr>
              <a:t> baseline</a:t>
            </a:r>
            <a:endParaRPr lang="es-CO" sz="1400">
              <a:solidFill>
                <a:srgbClr val="1F4E8C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8C97AF1-0963-1CEC-CBDD-9888A8FE680F}"/>
              </a:ext>
            </a:extLst>
          </p:cNvPr>
          <p:cNvSpPr/>
          <p:nvPr/>
        </p:nvSpPr>
        <p:spPr>
          <a:xfrm>
            <a:off x="533400" y="4178300"/>
            <a:ext cx="5499100" cy="2425700"/>
          </a:xfrm>
          <a:prstGeom prst="rect">
            <a:avLst/>
          </a:prstGeom>
          <a:solidFill>
            <a:srgbClr val="F5F7FA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6482F27-A825-CA21-87F5-A1C65E2B8DEA}"/>
              </a:ext>
            </a:extLst>
          </p:cNvPr>
          <p:cNvSpPr/>
          <p:nvPr/>
        </p:nvSpPr>
        <p:spPr>
          <a:xfrm>
            <a:off x="533400" y="4178300"/>
            <a:ext cx="5499100" cy="50800"/>
          </a:xfrm>
          <a:prstGeom prst="rect">
            <a:avLst/>
          </a:prstGeom>
          <a:solidFill>
            <a:srgbClr val="1F4E8C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Card_Resultados">
            <a:extLst>
              <a:ext uri="{FF2B5EF4-FFF2-40B4-BE49-F238E27FC236}">
                <a16:creationId xmlns:a16="http://schemas.microsoft.com/office/drawing/2014/main" id="{7BB8D03F-C1FA-CC04-42D8-C27A0CF3F2A1}"/>
              </a:ext>
            </a:extLst>
          </p:cNvPr>
          <p:cNvSpPr txBox="1"/>
          <p:nvPr/>
        </p:nvSpPr>
        <p:spPr>
          <a:xfrm>
            <a:off x="762000" y="4356100"/>
            <a:ext cx="5041900" cy="2120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buNone/>
            </a:pPr>
            <a:r>
              <a:rPr lang="es-CO" sz="1600" b="1">
                <a:solidFill>
                  <a:srgbClr val="1F4E8C"/>
                </a:solidFill>
              </a:rPr>
              <a:t>Resultados</a:t>
            </a:r>
          </a:p>
          <a:p>
            <a:pPr>
              <a:buNone/>
            </a:pPr>
            <a:endParaRPr lang="es-CO" sz="600"/>
          </a:p>
          <a:p>
            <a:pPr marL="171450" indent="-171450">
              <a:lnSpc>
                <a:spcPts val="1700"/>
              </a:lnSpc>
              <a:spcBef>
                <a:spcPts val="200"/>
              </a:spcBef>
              <a:buClr>
                <a:srgbClr val="3B82C4"/>
              </a:buClr>
              <a:buFont typeface="Arial"/>
              <a:buChar char="▸"/>
            </a:pPr>
            <a:r>
              <a:rPr lang="es-CO" sz="1400" b="1">
                <a:solidFill>
                  <a:srgbClr val="1F4E8C"/>
                </a:solidFill>
              </a:rPr>
              <a:t>Accuracy ≈ 85%  ·  ROC-AUC ≈ 0.77</a:t>
            </a:r>
          </a:p>
          <a:p>
            <a:pPr marL="171450" indent="-171450">
              <a:lnSpc>
                <a:spcPts val="1700"/>
              </a:lnSpc>
              <a:spcBef>
                <a:spcPts val="200"/>
              </a:spcBef>
              <a:buClr>
                <a:srgbClr val="3B82C4"/>
              </a:buClr>
              <a:buFont typeface="Arial"/>
              <a:buChar char="▸"/>
            </a:pPr>
            <a:r>
              <a:rPr lang="es-CO" sz="1400">
                <a:solidFill>
                  <a:srgbClr val="1F4E8C"/>
                </a:solidFill>
              </a:rPr>
              <a:t>Umbral de aprobación: 300 puntos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51C9177-75B6-8222-83AC-2718CDF3F99C}"/>
              </a:ext>
            </a:extLst>
          </p:cNvPr>
          <p:cNvSpPr/>
          <p:nvPr/>
        </p:nvSpPr>
        <p:spPr>
          <a:xfrm>
            <a:off x="6210300" y="4178300"/>
            <a:ext cx="5499100" cy="2425700"/>
          </a:xfrm>
          <a:prstGeom prst="rect">
            <a:avLst/>
          </a:prstGeom>
          <a:solidFill>
            <a:srgbClr val="F5F7FA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8FFDFB3-EC6C-E0E6-5190-DD2AB02AB252}"/>
              </a:ext>
            </a:extLst>
          </p:cNvPr>
          <p:cNvSpPr/>
          <p:nvPr/>
        </p:nvSpPr>
        <p:spPr>
          <a:xfrm>
            <a:off x="6210300" y="4178300"/>
            <a:ext cx="5499100" cy="50800"/>
          </a:xfrm>
          <a:prstGeom prst="rect">
            <a:avLst/>
          </a:prstGeom>
          <a:solidFill>
            <a:srgbClr val="3B82C4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Card_Hallazgos">
            <a:extLst>
              <a:ext uri="{FF2B5EF4-FFF2-40B4-BE49-F238E27FC236}">
                <a16:creationId xmlns:a16="http://schemas.microsoft.com/office/drawing/2014/main" id="{8FD308DE-FE8D-0F31-ACA2-097E918705AE}"/>
              </a:ext>
            </a:extLst>
          </p:cNvPr>
          <p:cNvSpPr txBox="1"/>
          <p:nvPr/>
        </p:nvSpPr>
        <p:spPr>
          <a:xfrm>
            <a:off x="6438900" y="4356100"/>
            <a:ext cx="5041900" cy="21209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buNone/>
            </a:pPr>
            <a:r>
              <a:rPr lang="es-CO" sz="1600" b="1">
                <a:solidFill>
                  <a:srgbClr val="1F4E8C"/>
                </a:solidFill>
              </a:rPr>
              <a:t>Hallazgos clave</a:t>
            </a:r>
          </a:p>
          <a:p>
            <a:pPr>
              <a:buNone/>
            </a:pPr>
            <a:endParaRPr lang="es-CO" sz="600"/>
          </a:p>
          <a:p>
            <a:pPr marL="171450" indent="-171450">
              <a:lnSpc>
                <a:spcPts val="1700"/>
              </a:lnSpc>
              <a:spcBef>
                <a:spcPts val="200"/>
              </a:spcBef>
              <a:buClr>
                <a:srgbClr val="3B82C4"/>
              </a:buClr>
              <a:buFont typeface="Arial"/>
              <a:buChar char="▸"/>
            </a:pPr>
            <a:r>
              <a:rPr lang="en-US" sz="1400">
                <a:solidFill>
                  <a:srgbClr val="1F4E8C"/>
                </a:solidFill>
              </a:rPr>
              <a:t>Las variables </a:t>
            </a:r>
            <a:r>
              <a:rPr lang="en-US" sz="1400" err="1">
                <a:solidFill>
                  <a:srgbClr val="1F4E8C"/>
                </a:solidFill>
              </a:rPr>
              <a:t>familiares</a:t>
            </a:r>
            <a:r>
              <a:rPr lang="en-US" sz="1400">
                <a:solidFill>
                  <a:srgbClr val="1F4E8C"/>
                </a:solidFill>
              </a:rPr>
              <a:t> </a:t>
            </a:r>
            <a:r>
              <a:rPr lang="en-US" sz="1400" err="1">
                <a:solidFill>
                  <a:srgbClr val="1F4E8C"/>
                </a:solidFill>
              </a:rPr>
              <a:t>sí</a:t>
            </a:r>
            <a:r>
              <a:rPr lang="en-US" sz="1400">
                <a:solidFill>
                  <a:srgbClr val="1F4E8C"/>
                </a:solidFill>
              </a:rPr>
              <a:t> </a:t>
            </a:r>
            <a:r>
              <a:rPr lang="en-US" sz="1400" err="1">
                <a:solidFill>
                  <a:srgbClr val="1F4E8C"/>
                </a:solidFill>
              </a:rPr>
              <a:t>presentan</a:t>
            </a:r>
            <a:r>
              <a:rPr lang="en-US" sz="1400">
                <a:solidFill>
                  <a:srgbClr val="1F4E8C"/>
                </a:solidFill>
              </a:rPr>
              <a:t> </a:t>
            </a:r>
            <a:r>
              <a:rPr lang="en-US" sz="1400" err="1">
                <a:solidFill>
                  <a:srgbClr val="1F4E8C"/>
                </a:solidFill>
              </a:rPr>
              <a:t>capacidad</a:t>
            </a:r>
            <a:r>
              <a:rPr lang="en-US" sz="1400">
                <a:solidFill>
                  <a:srgbClr val="1F4E8C"/>
                </a:solidFill>
              </a:rPr>
              <a:t> </a:t>
            </a:r>
            <a:r>
              <a:rPr lang="en-US" sz="1400" err="1">
                <a:solidFill>
                  <a:srgbClr val="1F4E8C"/>
                </a:solidFill>
              </a:rPr>
              <a:t>predictiva</a:t>
            </a:r>
            <a:r>
              <a:rPr lang="en-US" sz="1400">
                <a:solidFill>
                  <a:srgbClr val="1F4E8C"/>
                </a:solidFill>
              </a:rPr>
              <a:t> </a:t>
            </a:r>
            <a:r>
              <a:rPr lang="en-US" sz="1400" err="1">
                <a:solidFill>
                  <a:srgbClr val="1F4E8C"/>
                </a:solidFill>
              </a:rPr>
              <a:t>sobre</a:t>
            </a:r>
            <a:r>
              <a:rPr lang="en-US" sz="1400">
                <a:solidFill>
                  <a:srgbClr val="1F4E8C"/>
                </a:solidFill>
              </a:rPr>
              <a:t> </a:t>
            </a:r>
            <a:r>
              <a:rPr lang="en-US" sz="1400" err="1">
                <a:solidFill>
                  <a:srgbClr val="1F4E8C"/>
                </a:solidFill>
              </a:rPr>
              <a:t>el</a:t>
            </a:r>
            <a:r>
              <a:rPr lang="en-US" sz="1400">
                <a:solidFill>
                  <a:srgbClr val="1F4E8C"/>
                </a:solidFill>
              </a:rPr>
              <a:t> </a:t>
            </a:r>
            <a:r>
              <a:rPr lang="en-US" sz="1400" err="1">
                <a:solidFill>
                  <a:srgbClr val="1F4E8C"/>
                </a:solidFill>
              </a:rPr>
              <a:t>desempeño</a:t>
            </a:r>
            <a:r>
              <a:rPr lang="en-US" sz="1400">
                <a:solidFill>
                  <a:srgbClr val="1F4E8C"/>
                </a:solidFill>
              </a:rPr>
              <a:t> </a:t>
            </a:r>
            <a:r>
              <a:rPr lang="en-US" sz="1400" err="1">
                <a:solidFill>
                  <a:srgbClr val="1F4E8C"/>
                </a:solidFill>
              </a:rPr>
              <a:t>académico</a:t>
            </a:r>
            <a:r>
              <a:rPr lang="en-US" sz="1400">
                <a:solidFill>
                  <a:srgbClr val="1F4E8C"/>
                </a:solidFill>
              </a:rPr>
              <a:t> </a:t>
            </a:r>
          </a:p>
          <a:p>
            <a:pPr marL="171450" indent="-171450">
              <a:lnSpc>
                <a:spcPts val="1700"/>
              </a:lnSpc>
              <a:spcBef>
                <a:spcPts val="200"/>
              </a:spcBef>
              <a:buClr>
                <a:srgbClr val="3B82C4"/>
              </a:buClr>
              <a:buFont typeface="Arial"/>
              <a:buChar char="▸"/>
            </a:pPr>
            <a:r>
              <a:rPr lang="en-US" sz="1400" err="1">
                <a:solidFill>
                  <a:srgbClr val="1F4E8C"/>
                </a:solidFill>
              </a:rPr>
              <a:t>Estrato</a:t>
            </a:r>
            <a:r>
              <a:rPr lang="en-US" sz="1400">
                <a:solidFill>
                  <a:srgbClr val="1F4E8C"/>
                </a:solidFill>
              </a:rPr>
              <a:t> </a:t>
            </a:r>
            <a:r>
              <a:rPr lang="en-US" sz="1400" err="1">
                <a:solidFill>
                  <a:srgbClr val="1F4E8C"/>
                </a:solidFill>
              </a:rPr>
              <a:t>socioeconómico</a:t>
            </a:r>
            <a:r>
              <a:rPr lang="en-US" sz="1400">
                <a:solidFill>
                  <a:srgbClr val="1F4E8C"/>
                </a:solidFill>
              </a:rPr>
              <a:t> y </a:t>
            </a:r>
            <a:r>
              <a:rPr lang="en-US" sz="1400" err="1">
                <a:solidFill>
                  <a:srgbClr val="1F4E8C"/>
                </a:solidFill>
              </a:rPr>
              <a:t>educación</a:t>
            </a:r>
            <a:r>
              <a:rPr lang="en-US" sz="1400">
                <a:solidFill>
                  <a:srgbClr val="1F4E8C"/>
                </a:solidFill>
              </a:rPr>
              <a:t> de </a:t>
            </a:r>
            <a:r>
              <a:rPr lang="en-US" sz="1400" err="1">
                <a:solidFill>
                  <a:srgbClr val="1F4E8C"/>
                </a:solidFill>
              </a:rPr>
              <a:t>los</a:t>
            </a:r>
            <a:r>
              <a:rPr lang="en-US" sz="1400">
                <a:solidFill>
                  <a:srgbClr val="1F4E8C"/>
                </a:solidFill>
              </a:rPr>
              <a:t> padres </a:t>
            </a:r>
            <a:r>
              <a:rPr lang="en-US" sz="1400" err="1">
                <a:solidFill>
                  <a:srgbClr val="1F4E8C"/>
                </a:solidFill>
              </a:rPr>
              <a:t>fueron</a:t>
            </a:r>
            <a:r>
              <a:rPr lang="en-US" sz="1400">
                <a:solidFill>
                  <a:srgbClr val="1F4E8C"/>
                </a:solidFill>
              </a:rPr>
              <a:t> las variables </a:t>
            </a:r>
            <a:r>
              <a:rPr lang="en-US" sz="1400" err="1">
                <a:solidFill>
                  <a:srgbClr val="1F4E8C"/>
                </a:solidFill>
              </a:rPr>
              <a:t>más</a:t>
            </a:r>
            <a:r>
              <a:rPr lang="en-US" sz="1400">
                <a:solidFill>
                  <a:srgbClr val="1F4E8C"/>
                </a:solidFill>
              </a:rPr>
              <a:t> </a:t>
            </a:r>
            <a:r>
              <a:rPr lang="en-US" sz="1400" err="1">
                <a:solidFill>
                  <a:srgbClr val="1F4E8C"/>
                </a:solidFill>
              </a:rPr>
              <a:t>relevantes</a:t>
            </a:r>
            <a:endParaRPr lang="en-US" sz="1400">
              <a:solidFill>
                <a:srgbClr val="1F4E8C"/>
              </a:solidFill>
            </a:endParaRPr>
          </a:p>
          <a:p>
            <a:pPr marL="171450" indent="-171450">
              <a:lnSpc>
                <a:spcPts val="1700"/>
              </a:lnSpc>
              <a:spcBef>
                <a:spcPts val="200"/>
              </a:spcBef>
              <a:buClr>
                <a:srgbClr val="3B82C4"/>
              </a:buClr>
              <a:buFont typeface="Arial"/>
              <a:buChar char="▸"/>
            </a:pPr>
            <a:r>
              <a:rPr lang="en-US" sz="1400">
                <a:solidFill>
                  <a:srgbClr val="1F4E8C"/>
                </a:solidFill>
              </a:rPr>
              <a:t>La red neuronal </a:t>
            </a:r>
            <a:r>
              <a:rPr lang="en-US" sz="1400" err="1">
                <a:solidFill>
                  <a:srgbClr val="1F4E8C"/>
                </a:solidFill>
              </a:rPr>
              <a:t>obtuvo</a:t>
            </a:r>
            <a:r>
              <a:rPr lang="en-US" sz="1400">
                <a:solidFill>
                  <a:srgbClr val="1F4E8C"/>
                </a:solidFill>
              </a:rPr>
              <a:t> </a:t>
            </a:r>
            <a:r>
              <a:rPr lang="en-US" sz="1400" err="1">
                <a:solidFill>
                  <a:srgbClr val="1F4E8C"/>
                </a:solidFill>
              </a:rPr>
              <a:t>mejor</a:t>
            </a:r>
            <a:r>
              <a:rPr lang="en-US" sz="1400">
                <a:solidFill>
                  <a:srgbClr val="1F4E8C"/>
                </a:solidFill>
              </a:rPr>
              <a:t> </a:t>
            </a:r>
            <a:r>
              <a:rPr lang="en-US" sz="1400" err="1">
                <a:solidFill>
                  <a:srgbClr val="1F4E8C"/>
                </a:solidFill>
              </a:rPr>
              <a:t>desempeño</a:t>
            </a:r>
            <a:r>
              <a:rPr lang="en-US" sz="1400">
                <a:solidFill>
                  <a:srgbClr val="1F4E8C"/>
                </a:solidFill>
              </a:rPr>
              <a:t> </a:t>
            </a:r>
            <a:r>
              <a:rPr lang="en-US" sz="1400" err="1">
                <a:solidFill>
                  <a:srgbClr val="1F4E8C"/>
                </a:solidFill>
              </a:rPr>
              <a:t>que</a:t>
            </a:r>
            <a:r>
              <a:rPr lang="en-US" sz="1400">
                <a:solidFill>
                  <a:srgbClr val="1F4E8C"/>
                </a:solidFill>
              </a:rPr>
              <a:t> la </a:t>
            </a:r>
            <a:r>
              <a:rPr lang="en-US" sz="1400" err="1">
                <a:solidFill>
                  <a:srgbClr val="1F4E8C"/>
                </a:solidFill>
              </a:rPr>
              <a:t>regresión</a:t>
            </a:r>
            <a:r>
              <a:rPr lang="en-US" sz="1400">
                <a:solidFill>
                  <a:srgbClr val="1F4E8C"/>
                </a:solidFill>
              </a:rPr>
              <a:t> </a:t>
            </a:r>
            <a:r>
              <a:rPr lang="en-US" sz="1400" err="1">
                <a:solidFill>
                  <a:srgbClr val="1F4E8C"/>
                </a:solidFill>
              </a:rPr>
              <a:t>logística</a:t>
            </a:r>
            <a:r>
              <a:rPr lang="en-US" sz="1400">
                <a:solidFill>
                  <a:srgbClr val="1F4E8C"/>
                </a:solidFill>
              </a:rPr>
              <a:t> </a:t>
            </a:r>
          </a:p>
          <a:p>
            <a:pPr marL="171450" indent="-171450">
              <a:lnSpc>
                <a:spcPts val="1700"/>
              </a:lnSpc>
              <a:spcBef>
                <a:spcPts val="200"/>
              </a:spcBef>
              <a:buClr>
                <a:srgbClr val="3B82C4"/>
              </a:buClr>
              <a:buFont typeface="Arial"/>
              <a:buChar char="▸"/>
            </a:pPr>
            <a:r>
              <a:rPr lang="en-US" sz="1400">
                <a:solidFill>
                  <a:srgbClr val="1F4E8C"/>
                </a:solidFill>
              </a:rPr>
              <a:t>El </a:t>
            </a:r>
            <a:r>
              <a:rPr lang="en-US" sz="1400" err="1">
                <a:solidFill>
                  <a:srgbClr val="1F4E8C"/>
                </a:solidFill>
              </a:rPr>
              <a:t>modelo</a:t>
            </a:r>
            <a:r>
              <a:rPr lang="en-US" sz="1400">
                <a:solidFill>
                  <a:srgbClr val="1F4E8C"/>
                </a:solidFill>
              </a:rPr>
              <a:t> </a:t>
            </a:r>
            <a:r>
              <a:rPr lang="en-US" sz="1400" err="1">
                <a:solidFill>
                  <a:srgbClr val="1F4E8C"/>
                </a:solidFill>
              </a:rPr>
              <a:t>logró</a:t>
            </a:r>
            <a:r>
              <a:rPr lang="en-US" sz="1400">
                <a:solidFill>
                  <a:srgbClr val="1F4E8C"/>
                </a:solidFill>
              </a:rPr>
              <a:t> </a:t>
            </a:r>
            <a:r>
              <a:rPr lang="en-US" sz="1400" err="1">
                <a:solidFill>
                  <a:srgbClr val="1F4E8C"/>
                </a:solidFill>
              </a:rPr>
              <a:t>capturar</a:t>
            </a:r>
            <a:r>
              <a:rPr lang="en-US" sz="1400">
                <a:solidFill>
                  <a:srgbClr val="1F4E8C"/>
                </a:solidFill>
              </a:rPr>
              <a:t> </a:t>
            </a:r>
            <a:r>
              <a:rPr lang="en-US" sz="1400" err="1">
                <a:solidFill>
                  <a:srgbClr val="1F4E8C"/>
                </a:solidFill>
              </a:rPr>
              <a:t>relaciones</a:t>
            </a:r>
            <a:r>
              <a:rPr lang="en-US" sz="1400">
                <a:solidFill>
                  <a:srgbClr val="1F4E8C"/>
                </a:solidFill>
              </a:rPr>
              <a:t> no </a:t>
            </a:r>
            <a:r>
              <a:rPr lang="en-US" sz="1400" err="1">
                <a:solidFill>
                  <a:srgbClr val="1F4E8C"/>
                </a:solidFill>
              </a:rPr>
              <a:t>lineales</a:t>
            </a:r>
            <a:r>
              <a:rPr lang="en-US" sz="1400">
                <a:solidFill>
                  <a:srgbClr val="1F4E8C"/>
                </a:solidFill>
              </a:rPr>
              <a:t> entre variables </a:t>
            </a:r>
            <a:r>
              <a:rPr lang="en-US" sz="1400" err="1">
                <a:solidFill>
                  <a:srgbClr val="1F4E8C"/>
                </a:solidFill>
              </a:rPr>
              <a:t>familiares</a:t>
            </a:r>
            <a:r>
              <a:rPr lang="en-US" sz="1400">
                <a:solidFill>
                  <a:srgbClr val="1F4E8C"/>
                </a:solidFill>
              </a:rPr>
              <a:t> y </a:t>
            </a:r>
            <a:r>
              <a:rPr lang="en-US" sz="1400" err="1">
                <a:solidFill>
                  <a:srgbClr val="1F4E8C"/>
                </a:solidFill>
              </a:rPr>
              <a:t>desempeño</a:t>
            </a:r>
            <a:r>
              <a:rPr lang="en-US" sz="1400">
                <a:solidFill>
                  <a:srgbClr val="1F4E8C"/>
                </a:solidFill>
              </a:rPr>
              <a:t> </a:t>
            </a:r>
            <a:r>
              <a:rPr lang="en-US" sz="1400" err="1">
                <a:solidFill>
                  <a:srgbClr val="1F4E8C"/>
                </a:solidFill>
              </a:rPr>
              <a:t>académico</a:t>
            </a:r>
            <a:endParaRPr lang="es-CO" sz="1400">
              <a:solidFill>
                <a:srgbClr val="1F4E8C"/>
              </a:solidFill>
            </a:endParaRPr>
          </a:p>
        </p:txBody>
      </p:sp>
      <p:pic>
        <p:nvPicPr>
          <p:cNvPr id="17" name="Gráfico 16" descr="Network contorno">
            <a:extLst>
              <a:ext uri="{FF2B5EF4-FFF2-40B4-BE49-F238E27FC236}">
                <a16:creationId xmlns:a16="http://schemas.microsoft.com/office/drawing/2014/main" id="{675BDA5E-863B-FC7D-7A55-D07B8A356D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69997" y="330200"/>
            <a:ext cx="914400" cy="914400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BCA23B9F-5DA7-4BD6-4FCB-071B4174F35F}"/>
              </a:ext>
            </a:extLst>
          </p:cNvPr>
          <p:cNvSpPr/>
          <p:nvPr/>
        </p:nvSpPr>
        <p:spPr>
          <a:xfrm>
            <a:off x="0" y="6582655"/>
            <a:ext cx="12192000" cy="28768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79058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FE9A8-57A5-818C-85D6-1FD01EA87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1E131BC8-EF87-63F9-1A39-1A9464550FBF}"/>
              </a:ext>
            </a:extLst>
          </p:cNvPr>
          <p:cNvSpPr/>
          <p:nvPr/>
        </p:nvSpPr>
        <p:spPr>
          <a:xfrm>
            <a:off x="25400" y="-254000"/>
            <a:ext cx="12192000" cy="6858000"/>
          </a:xfrm>
          <a:prstGeom prst="rect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D528760-9BE7-272D-013B-F14F5BACC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81000"/>
            <a:ext cx="11176000" cy="952500"/>
          </a:xfrm>
        </p:spPr>
        <p:txBody>
          <a:bodyPr/>
          <a:lstStyle/>
          <a:p>
            <a:pPr algn="l">
              <a:buNone/>
            </a:pPr>
            <a:r>
              <a:rPr lang="es-CO">
                <a:solidFill>
                  <a:srgbClr val="002060"/>
                </a:solidFill>
              </a:rPr>
              <a:t>Modelo familiar          </a:t>
            </a:r>
            <a:r>
              <a:rPr lang="es-CO" sz="1600" b="0">
                <a:solidFill>
                  <a:schemeClr val="accent1"/>
                </a:solidFill>
              </a:rPr>
              <a:t>Red neuronal binaria (Saber 11 ≥ 300)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D10C5F9-D330-7A93-FF7E-3AF4A1D37AE2}"/>
              </a:ext>
            </a:extLst>
          </p:cNvPr>
          <p:cNvSpPr/>
          <p:nvPr/>
        </p:nvSpPr>
        <p:spPr>
          <a:xfrm>
            <a:off x="0" y="6582655"/>
            <a:ext cx="12192000" cy="28768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KPI_0">
            <a:extLst>
              <a:ext uri="{FF2B5EF4-FFF2-40B4-BE49-F238E27FC236}">
                <a16:creationId xmlns:a16="http://schemas.microsoft.com/office/drawing/2014/main" id="{76E69449-12FF-CAC7-424D-56F7BE91BC5E}"/>
              </a:ext>
            </a:extLst>
          </p:cNvPr>
          <p:cNvSpPr/>
          <p:nvPr/>
        </p:nvSpPr>
        <p:spPr>
          <a:xfrm>
            <a:off x="241300" y="1460500"/>
            <a:ext cx="1866900" cy="635000"/>
          </a:xfrm>
          <a:prstGeom prst="rect">
            <a:avLst/>
          </a:prstGeom>
          <a:solidFill>
            <a:srgbClr val="E8F0F7"/>
          </a:solidFill>
          <a:ln w="9525" cap="rnd" cmpd="sng" algn="ctr">
            <a:solidFill>
              <a:srgbClr val="7BB3E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>
              <a:buNone/>
            </a:pPr>
            <a:r>
              <a:rPr lang="es-CO" sz="1800" b="1">
                <a:solidFill>
                  <a:srgbClr val="1F4E8C"/>
                </a:solidFill>
              </a:rPr>
              <a:t>83,6%</a:t>
            </a:r>
          </a:p>
          <a:p>
            <a:pPr algn="ctr">
              <a:buNone/>
            </a:pPr>
            <a:r>
              <a:rPr lang="es-CO" sz="1000">
                <a:solidFill>
                  <a:srgbClr val="1F4E8C"/>
                </a:solidFill>
              </a:rPr>
              <a:t>Accuracy</a:t>
            </a:r>
          </a:p>
        </p:txBody>
      </p:sp>
      <p:sp>
        <p:nvSpPr>
          <p:cNvPr id="19" name="KPI_1">
            <a:extLst>
              <a:ext uri="{FF2B5EF4-FFF2-40B4-BE49-F238E27FC236}">
                <a16:creationId xmlns:a16="http://schemas.microsoft.com/office/drawing/2014/main" id="{243F439A-5220-0F68-FB98-C107B59E21BD}"/>
              </a:ext>
            </a:extLst>
          </p:cNvPr>
          <p:cNvSpPr/>
          <p:nvPr/>
        </p:nvSpPr>
        <p:spPr>
          <a:xfrm>
            <a:off x="2209800" y="1460500"/>
            <a:ext cx="1866900" cy="635000"/>
          </a:xfrm>
          <a:prstGeom prst="rect">
            <a:avLst/>
          </a:prstGeom>
          <a:solidFill>
            <a:srgbClr val="E8F0F7"/>
          </a:solidFill>
          <a:ln w="9525" cap="rnd" cmpd="sng" algn="ctr">
            <a:solidFill>
              <a:srgbClr val="7BB3E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>
              <a:buNone/>
            </a:pPr>
            <a:r>
              <a:rPr lang="es-CO" sz="1800" b="1">
                <a:solidFill>
                  <a:srgbClr val="1F4E8C"/>
                </a:solidFill>
              </a:rPr>
              <a:t>0,768</a:t>
            </a:r>
          </a:p>
          <a:p>
            <a:pPr algn="ctr">
              <a:buNone/>
            </a:pPr>
            <a:r>
              <a:rPr lang="es-CO" sz="1000">
                <a:solidFill>
                  <a:srgbClr val="1F4E8C"/>
                </a:solidFill>
              </a:rPr>
              <a:t>ROC-AUC</a:t>
            </a:r>
          </a:p>
        </p:txBody>
      </p:sp>
      <p:sp>
        <p:nvSpPr>
          <p:cNvPr id="20" name="KPI_2">
            <a:extLst>
              <a:ext uri="{FF2B5EF4-FFF2-40B4-BE49-F238E27FC236}">
                <a16:creationId xmlns:a16="http://schemas.microsoft.com/office/drawing/2014/main" id="{DA26A3C3-CF73-268A-4C43-C07162230224}"/>
              </a:ext>
            </a:extLst>
          </p:cNvPr>
          <p:cNvSpPr/>
          <p:nvPr/>
        </p:nvSpPr>
        <p:spPr>
          <a:xfrm>
            <a:off x="4178300" y="1460500"/>
            <a:ext cx="1866900" cy="635000"/>
          </a:xfrm>
          <a:prstGeom prst="rect">
            <a:avLst/>
          </a:prstGeom>
          <a:solidFill>
            <a:srgbClr val="E8F0F7"/>
          </a:solidFill>
          <a:ln w="9525" cap="rnd" cmpd="sng" algn="ctr">
            <a:solidFill>
              <a:srgbClr val="7BB3E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>
              <a:buNone/>
            </a:pPr>
            <a:r>
              <a:rPr lang="es-CO" sz="1800" b="1">
                <a:solidFill>
                  <a:srgbClr val="1F4E8C"/>
                </a:solidFill>
              </a:rPr>
              <a:t>0,578</a:t>
            </a:r>
          </a:p>
          <a:p>
            <a:pPr algn="ctr">
              <a:buNone/>
            </a:pPr>
            <a:r>
              <a:rPr lang="es-CO" sz="1000">
                <a:solidFill>
                  <a:srgbClr val="1F4E8C"/>
                </a:solidFill>
              </a:rPr>
              <a:t>Precision</a:t>
            </a:r>
          </a:p>
        </p:txBody>
      </p:sp>
      <p:sp>
        <p:nvSpPr>
          <p:cNvPr id="21" name="KPI_3">
            <a:extLst>
              <a:ext uri="{FF2B5EF4-FFF2-40B4-BE49-F238E27FC236}">
                <a16:creationId xmlns:a16="http://schemas.microsoft.com/office/drawing/2014/main" id="{383756F0-25AD-E23E-594A-8128507C28CA}"/>
              </a:ext>
            </a:extLst>
          </p:cNvPr>
          <p:cNvSpPr/>
          <p:nvPr/>
        </p:nvSpPr>
        <p:spPr>
          <a:xfrm>
            <a:off x="6146800" y="1460500"/>
            <a:ext cx="1866900" cy="635000"/>
          </a:xfrm>
          <a:prstGeom prst="rect">
            <a:avLst/>
          </a:prstGeom>
          <a:solidFill>
            <a:srgbClr val="E8F0F7"/>
          </a:solidFill>
          <a:ln w="9525" cap="rnd" cmpd="sng" algn="ctr">
            <a:solidFill>
              <a:srgbClr val="7BB3E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>
              <a:buNone/>
            </a:pPr>
            <a:r>
              <a:rPr lang="es-CO" sz="1800" b="1">
                <a:solidFill>
                  <a:srgbClr val="1F4E8C"/>
                </a:solidFill>
              </a:rPr>
              <a:t>0,300</a:t>
            </a:r>
          </a:p>
          <a:p>
            <a:pPr algn="ctr">
              <a:buNone/>
            </a:pPr>
            <a:r>
              <a:rPr lang="es-CO" sz="1000">
                <a:solidFill>
                  <a:srgbClr val="1F4E8C"/>
                </a:solidFill>
              </a:rPr>
              <a:t>Recall</a:t>
            </a:r>
          </a:p>
        </p:txBody>
      </p:sp>
      <p:sp>
        <p:nvSpPr>
          <p:cNvPr id="22" name="KPI_4">
            <a:extLst>
              <a:ext uri="{FF2B5EF4-FFF2-40B4-BE49-F238E27FC236}">
                <a16:creationId xmlns:a16="http://schemas.microsoft.com/office/drawing/2014/main" id="{9E973195-1629-69CA-A2B0-CAE6A36B199A}"/>
              </a:ext>
            </a:extLst>
          </p:cNvPr>
          <p:cNvSpPr/>
          <p:nvPr/>
        </p:nvSpPr>
        <p:spPr>
          <a:xfrm>
            <a:off x="8115300" y="1460500"/>
            <a:ext cx="1866900" cy="635000"/>
          </a:xfrm>
          <a:prstGeom prst="rect">
            <a:avLst/>
          </a:prstGeom>
          <a:solidFill>
            <a:srgbClr val="E8F0F7"/>
          </a:solidFill>
          <a:ln w="9525" cap="rnd" cmpd="sng" algn="ctr">
            <a:solidFill>
              <a:srgbClr val="7BB3E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>
              <a:buNone/>
            </a:pPr>
            <a:r>
              <a:rPr lang="es-CO" sz="1800" b="1">
                <a:solidFill>
                  <a:srgbClr val="1F4E8C"/>
                </a:solidFill>
              </a:rPr>
              <a:t>0,395</a:t>
            </a:r>
          </a:p>
          <a:p>
            <a:pPr algn="ctr">
              <a:buNone/>
            </a:pPr>
            <a:r>
              <a:rPr lang="es-CO" sz="1000">
                <a:solidFill>
                  <a:srgbClr val="1F4E8C"/>
                </a:solidFill>
              </a:rPr>
              <a:t>F1-score</a:t>
            </a:r>
          </a:p>
        </p:txBody>
      </p:sp>
      <p:sp>
        <p:nvSpPr>
          <p:cNvPr id="23" name="KPI_5">
            <a:extLst>
              <a:ext uri="{FF2B5EF4-FFF2-40B4-BE49-F238E27FC236}">
                <a16:creationId xmlns:a16="http://schemas.microsoft.com/office/drawing/2014/main" id="{661E2F15-4395-64DB-0707-641CDBB2D686}"/>
              </a:ext>
            </a:extLst>
          </p:cNvPr>
          <p:cNvSpPr/>
          <p:nvPr/>
        </p:nvSpPr>
        <p:spPr>
          <a:xfrm>
            <a:off x="10083800" y="1460500"/>
            <a:ext cx="1866900" cy="635000"/>
          </a:xfrm>
          <a:prstGeom prst="rect">
            <a:avLst/>
          </a:prstGeom>
          <a:solidFill>
            <a:srgbClr val="E8F0F7"/>
          </a:solidFill>
          <a:ln w="9525" cap="rnd" cmpd="sng" algn="ctr">
            <a:solidFill>
              <a:srgbClr val="7BB3E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>
              <a:buNone/>
            </a:pPr>
            <a:r>
              <a:rPr lang="es-CO" sz="1800" b="1">
                <a:solidFill>
                  <a:srgbClr val="1F4E8C"/>
                </a:solidFill>
              </a:rPr>
              <a:t>0,350</a:t>
            </a:r>
          </a:p>
          <a:p>
            <a:pPr algn="ctr">
              <a:buNone/>
            </a:pPr>
            <a:r>
              <a:rPr lang="es-CO" sz="1000">
                <a:solidFill>
                  <a:srgbClr val="1F4E8C"/>
                </a:solidFill>
              </a:rPr>
              <a:t>Umbral</a:t>
            </a:r>
          </a:p>
        </p:txBody>
      </p:sp>
      <p:sp>
        <p:nvSpPr>
          <p:cNvPr id="24" name="Header_0">
            <a:extLst>
              <a:ext uri="{FF2B5EF4-FFF2-40B4-BE49-F238E27FC236}">
                <a16:creationId xmlns:a16="http://schemas.microsoft.com/office/drawing/2014/main" id="{7317EEE0-99B1-468B-F8F2-B4057A485678}"/>
              </a:ext>
            </a:extLst>
          </p:cNvPr>
          <p:cNvSpPr txBox="1"/>
          <p:nvPr/>
        </p:nvSpPr>
        <p:spPr>
          <a:xfrm>
            <a:off x="190500" y="2286000"/>
            <a:ext cx="37465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CO" sz="1600" b="1">
                <a:solidFill>
                  <a:srgbClr val="1F4E8C"/>
                </a:solidFill>
              </a:rPr>
              <a:t>Matriz de confusión</a:t>
            </a:r>
          </a:p>
        </p:txBody>
      </p:sp>
      <p:sp>
        <p:nvSpPr>
          <p:cNvPr id="25" name="Header_1">
            <a:extLst>
              <a:ext uri="{FF2B5EF4-FFF2-40B4-BE49-F238E27FC236}">
                <a16:creationId xmlns:a16="http://schemas.microsoft.com/office/drawing/2014/main" id="{B7B74B92-0772-5E67-9476-D3CB8C18FB5B}"/>
              </a:ext>
            </a:extLst>
          </p:cNvPr>
          <p:cNvSpPr txBox="1"/>
          <p:nvPr/>
        </p:nvSpPr>
        <p:spPr>
          <a:xfrm>
            <a:off x="4127500" y="2286000"/>
            <a:ext cx="37465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CO" sz="1600" b="1">
                <a:solidFill>
                  <a:srgbClr val="1F4E8C"/>
                </a:solidFill>
              </a:rPr>
              <a:t>Curva ROC</a:t>
            </a:r>
          </a:p>
        </p:txBody>
      </p:sp>
      <p:sp>
        <p:nvSpPr>
          <p:cNvPr id="26" name="Header_2">
            <a:extLst>
              <a:ext uri="{FF2B5EF4-FFF2-40B4-BE49-F238E27FC236}">
                <a16:creationId xmlns:a16="http://schemas.microsoft.com/office/drawing/2014/main" id="{3C506664-F914-90F3-5074-1E69E13BF6A1}"/>
              </a:ext>
            </a:extLst>
          </p:cNvPr>
          <p:cNvSpPr txBox="1"/>
          <p:nvPr/>
        </p:nvSpPr>
        <p:spPr>
          <a:xfrm>
            <a:off x="8064500" y="2286000"/>
            <a:ext cx="3937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CO" sz="1600" b="1">
                <a:solidFill>
                  <a:srgbClr val="1F4E8C"/>
                </a:solidFill>
              </a:rPr>
              <a:t>Métricas por clase</a:t>
            </a:r>
          </a:p>
        </p:txBody>
      </p:sp>
      <p:sp>
        <p:nvSpPr>
          <p:cNvPr id="27" name="PredHdr">
            <a:extLst>
              <a:ext uri="{FF2B5EF4-FFF2-40B4-BE49-F238E27FC236}">
                <a16:creationId xmlns:a16="http://schemas.microsoft.com/office/drawing/2014/main" id="{1E2D40AD-6DC7-D4DF-FC5F-2C02F5E8FB99}"/>
              </a:ext>
            </a:extLst>
          </p:cNvPr>
          <p:cNvSpPr txBox="1"/>
          <p:nvPr/>
        </p:nvSpPr>
        <p:spPr>
          <a:xfrm>
            <a:off x="1016000" y="2667000"/>
            <a:ext cx="2921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CO" sz="1100" b="1">
                <a:solidFill>
                  <a:srgbClr val="1F4E8C"/>
                </a:solidFill>
              </a:rPr>
              <a:t>Predicción</a:t>
            </a:r>
          </a:p>
        </p:txBody>
      </p:sp>
      <p:sp>
        <p:nvSpPr>
          <p:cNvPr id="28" name="RealHdr">
            <a:extLst>
              <a:ext uri="{FF2B5EF4-FFF2-40B4-BE49-F238E27FC236}">
                <a16:creationId xmlns:a16="http://schemas.microsoft.com/office/drawing/2014/main" id="{BC842E68-B220-B90E-D785-F4C8C4F2689C}"/>
              </a:ext>
            </a:extLst>
          </p:cNvPr>
          <p:cNvSpPr txBox="1"/>
          <p:nvPr/>
        </p:nvSpPr>
        <p:spPr>
          <a:xfrm>
            <a:off x="787400" y="3175000"/>
            <a:ext cx="228600" cy="2641600"/>
          </a:xfrm>
          <a:prstGeom prst="rect">
            <a:avLst/>
          </a:prstGeom>
          <a:noFill/>
        </p:spPr>
        <p:txBody>
          <a:bodyPr vertOverflow="overflow" vert="vert270" wrap="square" rtlCol="0" anchor="ctr" anchorCtr="0">
            <a:noAutofit/>
          </a:bodyPr>
          <a:lstStyle/>
          <a:p>
            <a:pPr algn="l"/>
            <a:r>
              <a:rPr lang="es-CO" sz="1100" b="1">
                <a:solidFill>
                  <a:srgbClr val="1F4E8C"/>
                </a:solidFill>
              </a:rPr>
              <a:t>Real</a:t>
            </a:r>
          </a:p>
        </p:txBody>
      </p:sp>
      <p:sp>
        <p:nvSpPr>
          <p:cNvPr id="29" name="ColLabel0">
            <a:extLst>
              <a:ext uri="{FF2B5EF4-FFF2-40B4-BE49-F238E27FC236}">
                <a16:creationId xmlns:a16="http://schemas.microsoft.com/office/drawing/2014/main" id="{614FE2BE-0F94-7FCA-B1F6-D4DA70503312}"/>
              </a:ext>
            </a:extLst>
          </p:cNvPr>
          <p:cNvSpPr txBox="1"/>
          <p:nvPr/>
        </p:nvSpPr>
        <p:spPr>
          <a:xfrm>
            <a:off x="1016000" y="2895600"/>
            <a:ext cx="14605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CO" sz="1100">
                <a:solidFill>
                  <a:srgbClr val="1F4E8C"/>
                </a:solidFill>
              </a:rPr>
              <a:t>No alto</a:t>
            </a:r>
          </a:p>
        </p:txBody>
      </p:sp>
      <p:sp>
        <p:nvSpPr>
          <p:cNvPr id="30" name="ColLabel1">
            <a:extLst>
              <a:ext uri="{FF2B5EF4-FFF2-40B4-BE49-F238E27FC236}">
                <a16:creationId xmlns:a16="http://schemas.microsoft.com/office/drawing/2014/main" id="{663F1E5D-23AD-5251-7105-71B695457EBC}"/>
              </a:ext>
            </a:extLst>
          </p:cNvPr>
          <p:cNvSpPr txBox="1"/>
          <p:nvPr/>
        </p:nvSpPr>
        <p:spPr>
          <a:xfrm>
            <a:off x="2476500" y="2895600"/>
            <a:ext cx="14605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CO" sz="1100">
                <a:solidFill>
                  <a:srgbClr val="1F4E8C"/>
                </a:solidFill>
              </a:rPr>
              <a:t>Alto</a:t>
            </a:r>
          </a:p>
        </p:txBody>
      </p:sp>
      <p:sp>
        <p:nvSpPr>
          <p:cNvPr id="31" name="RowLabel0">
            <a:extLst>
              <a:ext uri="{FF2B5EF4-FFF2-40B4-BE49-F238E27FC236}">
                <a16:creationId xmlns:a16="http://schemas.microsoft.com/office/drawing/2014/main" id="{88CD91C6-D3AE-C052-7AE1-BB9788A439D2}"/>
              </a:ext>
            </a:extLst>
          </p:cNvPr>
          <p:cNvSpPr txBox="1"/>
          <p:nvPr/>
        </p:nvSpPr>
        <p:spPr>
          <a:xfrm>
            <a:off x="419100" y="3175000"/>
            <a:ext cx="596900" cy="1333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CO" sz="1100">
                <a:solidFill>
                  <a:srgbClr val="1F4E8C"/>
                </a:solidFill>
              </a:rPr>
              <a:t>No alto</a:t>
            </a:r>
          </a:p>
        </p:txBody>
      </p:sp>
      <p:sp>
        <p:nvSpPr>
          <p:cNvPr id="32" name="RowLabel1">
            <a:extLst>
              <a:ext uri="{FF2B5EF4-FFF2-40B4-BE49-F238E27FC236}">
                <a16:creationId xmlns:a16="http://schemas.microsoft.com/office/drawing/2014/main" id="{8C60E544-1A62-407F-4E7A-F4F2C3899973}"/>
              </a:ext>
            </a:extLst>
          </p:cNvPr>
          <p:cNvSpPr txBox="1"/>
          <p:nvPr/>
        </p:nvSpPr>
        <p:spPr>
          <a:xfrm>
            <a:off x="419100" y="4508500"/>
            <a:ext cx="596900" cy="1333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CO" sz="1100">
                <a:solidFill>
                  <a:srgbClr val="1F4E8C"/>
                </a:solidFill>
              </a:rPr>
              <a:t>Alto</a:t>
            </a:r>
          </a:p>
        </p:txBody>
      </p:sp>
      <p:sp>
        <p:nvSpPr>
          <p:cNvPr id="33" name="CM_0_0">
            <a:extLst>
              <a:ext uri="{FF2B5EF4-FFF2-40B4-BE49-F238E27FC236}">
                <a16:creationId xmlns:a16="http://schemas.microsoft.com/office/drawing/2014/main" id="{0C50877E-665E-3D7B-C62A-BCF009CF7E25}"/>
              </a:ext>
            </a:extLst>
          </p:cNvPr>
          <p:cNvSpPr/>
          <p:nvPr/>
        </p:nvSpPr>
        <p:spPr>
          <a:xfrm>
            <a:off x="1041400" y="3175000"/>
            <a:ext cx="1409700" cy="1295400"/>
          </a:xfrm>
          <a:prstGeom prst="rect">
            <a:avLst/>
          </a:prstGeom>
          <a:solidFill>
            <a:srgbClr val="1F4E8C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>
              <a:buNone/>
            </a:pPr>
            <a:r>
              <a:rPr lang="es-CO" sz="2200" b="1">
                <a:solidFill>
                  <a:srgbClr val="FFFFFF"/>
                </a:solidFill>
              </a:rPr>
              <a:t>32.948</a:t>
            </a:r>
          </a:p>
          <a:p>
            <a:pPr algn="ctr">
              <a:buNone/>
            </a:pPr>
            <a:r>
              <a:rPr lang="es-CO" sz="1000">
                <a:solidFill>
                  <a:srgbClr val="FFFFFF"/>
                </a:solidFill>
              </a:rPr>
              <a:t>Verdadero negativo</a:t>
            </a:r>
          </a:p>
        </p:txBody>
      </p:sp>
      <p:sp>
        <p:nvSpPr>
          <p:cNvPr id="34" name="CM_0_1">
            <a:extLst>
              <a:ext uri="{FF2B5EF4-FFF2-40B4-BE49-F238E27FC236}">
                <a16:creationId xmlns:a16="http://schemas.microsoft.com/office/drawing/2014/main" id="{0EB17C6F-3586-5E20-9CFA-0EA06955A23F}"/>
              </a:ext>
            </a:extLst>
          </p:cNvPr>
          <p:cNvSpPr/>
          <p:nvPr/>
        </p:nvSpPr>
        <p:spPr>
          <a:xfrm>
            <a:off x="2501900" y="3175000"/>
            <a:ext cx="1409700" cy="1295400"/>
          </a:xfrm>
          <a:prstGeom prst="rect">
            <a:avLst/>
          </a:prstGeom>
          <a:solidFill>
            <a:srgbClr val="7BB3E0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>
              <a:buNone/>
            </a:pPr>
            <a:r>
              <a:rPr lang="es-CO" sz="2200" b="1">
                <a:solidFill>
                  <a:srgbClr val="1F4E8C"/>
                </a:solidFill>
              </a:rPr>
              <a:t>1.650</a:t>
            </a:r>
          </a:p>
          <a:p>
            <a:pPr algn="ctr">
              <a:buNone/>
            </a:pPr>
            <a:r>
              <a:rPr lang="es-CO" sz="1000">
                <a:solidFill>
                  <a:srgbClr val="1F4E8C"/>
                </a:solidFill>
              </a:rPr>
              <a:t>Falso positivo</a:t>
            </a:r>
          </a:p>
        </p:txBody>
      </p:sp>
      <p:sp>
        <p:nvSpPr>
          <p:cNvPr id="35" name="CM_1_0">
            <a:extLst>
              <a:ext uri="{FF2B5EF4-FFF2-40B4-BE49-F238E27FC236}">
                <a16:creationId xmlns:a16="http://schemas.microsoft.com/office/drawing/2014/main" id="{0E2BED44-354B-58FE-FE1E-0499948EBA98}"/>
              </a:ext>
            </a:extLst>
          </p:cNvPr>
          <p:cNvSpPr/>
          <p:nvPr/>
        </p:nvSpPr>
        <p:spPr>
          <a:xfrm>
            <a:off x="1041400" y="4521200"/>
            <a:ext cx="1409700" cy="1295400"/>
          </a:xfrm>
          <a:prstGeom prst="rect">
            <a:avLst/>
          </a:prstGeom>
          <a:solidFill>
            <a:srgbClr val="7BB3E0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>
              <a:buNone/>
            </a:pPr>
            <a:r>
              <a:rPr lang="es-CO" sz="2200" b="1">
                <a:solidFill>
                  <a:srgbClr val="1F4E8C"/>
                </a:solidFill>
              </a:rPr>
              <a:t>5.277</a:t>
            </a:r>
          </a:p>
          <a:p>
            <a:pPr algn="ctr">
              <a:buNone/>
            </a:pPr>
            <a:r>
              <a:rPr lang="es-CO" sz="1000">
                <a:solidFill>
                  <a:srgbClr val="1F4E8C"/>
                </a:solidFill>
              </a:rPr>
              <a:t>Falso negativo</a:t>
            </a:r>
          </a:p>
        </p:txBody>
      </p:sp>
      <p:sp>
        <p:nvSpPr>
          <p:cNvPr id="36" name="CM_1_1">
            <a:extLst>
              <a:ext uri="{FF2B5EF4-FFF2-40B4-BE49-F238E27FC236}">
                <a16:creationId xmlns:a16="http://schemas.microsoft.com/office/drawing/2014/main" id="{F3730B5E-14FB-93F9-9074-D26FB4B1E03D}"/>
              </a:ext>
            </a:extLst>
          </p:cNvPr>
          <p:cNvSpPr/>
          <p:nvPr/>
        </p:nvSpPr>
        <p:spPr>
          <a:xfrm>
            <a:off x="2501900" y="4521200"/>
            <a:ext cx="1409700" cy="1295400"/>
          </a:xfrm>
          <a:prstGeom prst="rect">
            <a:avLst/>
          </a:prstGeom>
          <a:solidFill>
            <a:srgbClr val="3B82C4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>
              <a:buNone/>
            </a:pPr>
            <a:r>
              <a:rPr lang="es-CO" sz="2200" b="1">
                <a:solidFill>
                  <a:srgbClr val="FFFFFF"/>
                </a:solidFill>
              </a:rPr>
              <a:t>2.264</a:t>
            </a:r>
          </a:p>
          <a:p>
            <a:pPr algn="ctr">
              <a:buNone/>
            </a:pPr>
            <a:r>
              <a:rPr lang="es-CO" sz="1000">
                <a:solidFill>
                  <a:srgbClr val="FFFFFF"/>
                </a:solidFill>
              </a:rPr>
              <a:t>Verdadero positivo</a:t>
            </a:r>
          </a:p>
        </p:txBody>
      </p:sp>
      <p:graphicFrame>
        <p:nvGraphicFramePr>
          <p:cNvPr id="38" name="MetricsTable">
            <a:extLst>
              <a:ext uri="{FF2B5EF4-FFF2-40B4-BE49-F238E27FC236}">
                <a16:creationId xmlns:a16="http://schemas.microsoft.com/office/drawing/2014/main" id="{47E3D072-0CC3-378C-4798-B6B2681216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7597769"/>
              </p:ext>
            </p:extLst>
          </p:nvPr>
        </p:nvGraphicFramePr>
        <p:xfrm>
          <a:off x="8064500" y="2730499"/>
          <a:ext cx="3937000" cy="3401358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1092200">
                  <a:extLst>
                    <a:ext uri="{9D8B030D-6E8A-4147-A177-3AD203B41FA5}">
                      <a16:colId xmlns:a16="http://schemas.microsoft.com/office/drawing/2014/main" val="3208394918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68845908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21665393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3076785754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178393423"/>
                    </a:ext>
                  </a:extLst>
                </a:gridCol>
              </a:tblGrid>
              <a:tr h="566893">
                <a:tc>
                  <a:txBody>
                    <a:bodyPr/>
                    <a:lstStyle/>
                    <a:p>
                      <a:pPr algn="ctr"/>
                      <a:r>
                        <a:rPr lang="es-CO" sz="1200" b="1">
                          <a:solidFill>
                            <a:srgbClr val="FFFFFF"/>
                          </a:solidFill>
                        </a:rPr>
                        <a:t>Clase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1">
                          <a:solidFill>
                            <a:srgbClr val="FFFFFF"/>
                          </a:solidFill>
                        </a:rPr>
                        <a:t>Prec.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1" err="1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s-CO" sz="12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1">
                          <a:solidFill>
                            <a:srgbClr val="FFFFFF"/>
                          </a:solidFill>
                        </a:rPr>
                        <a:t>Soporte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796003"/>
                  </a:ext>
                </a:extLst>
              </a:tr>
              <a:tr h="566893">
                <a:tc>
                  <a:txBody>
                    <a:bodyPr/>
                    <a:lstStyle/>
                    <a:p>
                      <a:pPr algn="l"/>
                      <a:r>
                        <a:rPr lang="es-CO" sz="1200">
                          <a:solidFill>
                            <a:srgbClr val="1F4E8C"/>
                          </a:solidFill>
                        </a:rPr>
                        <a:t>No alto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1200">
                          <a:solidFill>
                            <a:srgbClr val="1F4E8C"/>
                          </a:solidFill>
                        </a:rPr>
                        <a:t>0,86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1200">
                          <a:solidFill>
                            <a:srgbClr val="1F4E8C"/>
                          </a:solidFill>
                        </a:rPr>
                        <a:t>0,95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1200">
                          <a:solidFill>
                            <a:srgbClr val="1F4E8C"/>
                          </a:solidFill>
                        </a:rPr>
                        <a:t>0,90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1200">
                          <a:solidFill>
                            <a:srgbClr val="1F4E8C"/>
                          </a:solidFill>
                        </a:rPr>
                        <a:t>34.598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1948577"/>
                  </a:ext>
                </a:extLst>
              </a:tr>
              <a:tr h="566893">
                <a:tc>
                  <a:txBody>
                    <a:bodyPr/>
                    <a:lstStyle/>
                    <a:p>
                      <a:pPr algn="l"/>
                      <a:r>
                        <a:rPr lang="es-CO" sz="1200">
                          <a:solidFill>
                            <a:srgbClr val="1F4E8C"/>
                          </a:solidFill>
                        </a:rPr>
                        <a:t>Alto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1200">
                          <a:solidFill>
                            <a:srgbClr val="1F4E8C"/>
                          </a:solidFill>
                        </a:rPr>
                        <a:t>0,58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1200">
                          <a:solidFill>
                            <a:srgbClr val="1F4E8C"/>
                          </a:solidFill>
                        </a:rPr>
                        <a:t>0,30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1200">
                          <a:solidFill>
                            <a:srgbClr val="1F4E8C"/>
                          </a:solidFill>
                        </a:rPr>
                        <a:t>0,40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1200">
                          <a:solidFill>
                            <a:srgbClr val="1F4E8C"/>
                          </a:solidFill>
                        </a:rPr>
                        <a:t>7.541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0706991"/>
                  </a:ext>
                </a:extLst>
              </a:tr>
              <a:tr h="566893">
                <a:tc>
                  <a:txBody>
                    <a:bodyPr/>
                    <a:lstStyle/>
                    <a:p>
                      <a:pPr algn="l"/>
                      <a:r>
                        <a:rPr lang="es-CO" sz="1200" b="1">
                          <a:solidFill>
                            <a:srgbClr val="1F4E8C"/>
                          </a:solidFill>
                        </a:rPr>
                        <a:t>Acc.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1200" b="1">
                          <a:solidFill>
                            <a:srgbClr val="1F4E8C"/>
                          </a:solidFill>
                        </a:rPr>
                        <a:t>0,84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1200" b="1">
                          <a:solidFill>
                            <a:srgbClr val="1F4E8C"/>
                          </a:solidFill>
                        </a:rPr>
                        <a:t>42.139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55649"/>
                  </a:ext>
                </a:extLst>
              </a:tr>
              <a:tr h="566893">
                <a:tc>
                  <a:txBody>
                    <a:bodyPr/>
                    <a:lstStyle/>
                    <a:p>
                      <a:pPr algn="l"/>
                      <a:r>
                        <a:rPr lang="es-CO" sz="1200" b="1">
                          <a:solidFill>
                            <a:srgbClr val="1F4E8C"/>
                          </a:solidFill>
                        </a:rPr>
                        <a:t>Macro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1200" b="1">
                          <a:solidFill>
                            <a:srgbClr val="1F4E8C"/>
                          </a:solidFill>
                        </a:rPr>
                        <a:t>0,72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1200" b="1">
                          <a:solidFill>
                            <a:srgbClr val="1F4E8C"/>
                          </a:solidFill>
                        </a:rPr>
                        <a:t>0,63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1200" b="1">
                          <a:solidFill>
                            <a:srgbClr val="1F4E8C"/>
                          </a:solidFill>
                        </a:rPr>
                        <a:t>0,65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1200" b="1">
                          <a:solidFill>
                            <a:srgbClr val="1F4E8C"/>
                          </a:solidFill>
                        </a:rPr>
                        <a:t>42.139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4977546"/>
                  </a:ext>
                </a:extLst>
              </a:tr>
              <a:tr h="566893">
                <a:tc>
                  <a:txBody>
                    <a:bodyPr/>
                    <a:lstStyle/>
                    <a:p>
                      <a:pPr algn="l"/>
                      <a:r>
                        <a:rPr lang="es-CO" sz="1200" b="1">
                          <a:solidFill>
                            <a:srgbClr val="1F4E8C"/>
                          </a:solidFill>
                        </a:rPr>
                        <a:t>Ponderado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1200" b="1">
                          <a:solidFill>
                            <a:srgbClr val="1F4E8C"/>
                          </a:solidFill>
                        </a:rPr>
                        <a:t>0,81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1200" b="1">
                          <a:solidFill>
                            <a:srgbClr val="1F4E8C"/>
                          </a:solidFill>
                        </a:rPr>
                        <a:t>0,84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1200" b="1">
                          <a:solidFill>
                            <a:srgbClr val="1F4E8C"/>
                          </a:solidFill>
                        </a:rPr>
                        <a:t>0,81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1200" b="1">
                          <a:solidFill>
                            <a:srgbClr val="1F4E8C"/>
                          </a:solidFill>
                        </a:rPr>
                        <a:t>42.139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8448405"/>
                  </a:ext>
                </a:extLst>
              </a:tr>
            </a:tbl>
          </a:graphicData>
        </a:graphic>
      </p:graphicFrame>
      <p:graphicFrame>
        <p:nvGraphicFramePr>
          <p:cNvPr id="301" name="ROC Chart">
            <a:extLst>
              <a:ext uri="{FF2B5EF4-FFF2-40B4-BE49-F238E27FC236}">
                <a16:creationId xmlns:a16="http://schemas.microsoft.com/office/drawing/2014/main" id="{D2A3A847-1BE6-9A21-06BE-B215D063CDD9}"/>
              </a:ext>
            </a:extLst>
          </p:cNvPr>
          <p:cNvGraphicFramePr/>
          <p:nvPr/>
        </p:nvGraphicFramePr>
        <p:xfrm>
          <a:off x="4127499" y="2666999"/>
          <a:ext cx="3806265" cy="34648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2" name="Gráfico 1" descr="Network contorno">
            <a:extLst>
              <a:ext uri="{FF2B5EF4-FFF2-40B4-BE49-F238E27FC236}">
                <a16:creationId xmlns:a16="http://schemas.microsoft.com/office/drawing/2014/main" id="{0511EBB6-794E-3112-9F8F-621D935CBD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69997" y="3302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67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68543-19AA-C731-5E86-86922DA7E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87CBF-6CA2-6A8F-CFD0-674A75FC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s-CO" b="1">
                <a:solidFill>
                  <a:srgbClr val="1F4E8C"/>
                </a:solidFill>
              </a:rPr>
              <a:t>Pregunta </a:t>
            </a:r>
            <a:r>
              <a:rPr lang="es-CO">
                <a:solidFill>
                  <a:srgbClr val="1F4E8C"/>
                </a:solidFill>
              </a:rPr>
              <a:t>3</a:t>
            </a:r>
            <a:br>
              <a:rPr lang="es-CO" dirty="0">
                <a:solidFill>
                  <a:srgbClr val="1F4E8C"/>
                </a:solidFill>
              </a:rPr>
            </a:br>
            <a:r>
              <a:rPr lang="es-CO">
                <a:solidFill>
                  <a:srgbClr val="1F4E8C"/>
                </a:solidFill>
              </a:rPr>
              <a:t>Modelo General</a:t>
            </a:r>
            <a:endParaRPr lang="es-CO" b="1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413DF74-0771-961C-9EC2-AA3941CAB8C6}"/>
              </a:ext>
            </a:extLst>
          </p:cNvPr>
          <p:cNvGraphicFramePr>
            <a:graphicFrameLocks noGrp="1"/>
          </p:cNvGraphicFramePr>
          <p:nvPr>
            <p:ph type="tbl" sz="quarter" idx="10"/>
          </p:nvPr>
        </p:nvGraphicFramePr>
        <p:xfrm>
          <a:off x="838200" y="1860550"/>
          <a:ext cx="10515600" cy="4198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B4546563-A0A5-990D-A103-5A7D3936CD7D}"/>
              </a:ext>
            </a:extLst>
          </p:cNvPr>
          <p:cNvSpPr/>
          <p:nvPr/>
        </p:nvSpPr>
        <p:spPr>
          <a:xfrm>
            <a:off x="0" y="6582655"/>
            <a:ext cx="12192000" cy="28768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44906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85532-91AD-D651-3463-80EC5ECEC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908F2B6E-0ECC-95A4-3870-9E414B67A0ED}"/>
              </a:ext>
            </a:extLst>
          </p:cNvPr>
          <p:cNvSpPr/>
          <p:nvPr/>
        </p:nvSpPr>
        <p:spPr>
          <a:xfrm>
            <a:off x="-67519" y="125392"/>
            <a:ext cx="12192000" cy="6858000"/>
          </a:xfrm>
          <a:prstGeom prst="rect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BB36C40-5BB3-16A1-79FD-D78219C01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81000"/>
            <a:ext cx="11176000" cy="952500"/>
          </a:xfrm>
        </p:spPr>
        <p:txBody>
          <a:bodyPr/>
          <a:lstStyle/>
          <a:p>
            <a:pPr algn="l"/>
            <a:r>
              <a:rPr lang="es-CO" dirty="0">
                <a:solidFill>
                  <a:srgbClr val="002060"/>
                </a:solidFill>
              </a:rPr>
              <a:t>Modelo General              </a:t>
            </a:r>
            <a:r>
              <a:rPr lang="es-CO" sz="1600" b="0">
                <a:solidFill>
                  <a:schemeClr val="accent1"/>
                </a:solidFill>
              </a:rPr>
              <a:t>Red neuronal de Regresión Lineal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8F3B447-9B05-E0FC-8180-94AD4AA31E13}"/>
              </a:ext>
            </a:extLst>
          </p:cNvPr>
          <p:cNvSpPr/>
          <p:nvPr/>
        </p:nvSpPr>
        <p:spPr>
          <a:xfrm>
            <a:off x="533400" y="1587500"/>
            <a:ext cx="5499100" cy="2413000"/>
          </a:xfrm>
          <a:prstGeom prst="rect">
            <a:avLst/>
          </a:prstGeom>
          <a:solidFill>
            <a:srgbClr val="F5F7FA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927F16C-F196-FF0B-E65B-1450CDEC56E1}"/>
              </a:ext>
            </a:extLst>
          </p:cNvPr>
          <p:cNvSpPr/>
          <p:nvPr/>
        </p:nvSpPr>
        <p:spPr>
          <a:xfrm>
            <a:off x="533400" y="1587500"/>
            <a:ext cx="5499100" cy="50800"/>
          </a:xfrm>
          <a:prstGeom prst="rect">
            <a:avLst/>
          </a:prstGeom>
          <a:solidFill>
            <a:srgbClr val="1F4E8C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Card_Variables">
            <a:extLst>
              <a:ext uri="{FF2B5EF4-FFF2-40B4-BE49-F238E27FC236}">
                <a16:creationId xmlns:a16="http://schemas.microsoft.com/office/drawing/2014/main" id="{9DB1006F-5624-6F08-D4D6-D1C18F3427A2}"/>
              </a:ext>
            </a:extLst>
          </p:cNvPr>
          <p:cNvSpPr txBox="1"/>
          <p:nvPr/>
        </p:nvSpPr>
        <p:spPr>
          <a:xfrm>
            <a:off x="762000" y="1765300"/>
            <a:ext cx="5041900" cy="2108200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 anchorCtr="0">
            <a:noAutofit/>
          </a:bodyPr>
          <a:lstStyle/>
          <a:p>
            <a:pPr algn="l">
              <a:buNone/>
            </a:pPr>
            <a:r>
              <a:rPr lang="es-CO" sz="1600" b="1">
                <a:solidFill>
                  <a:srgbClr val="1F4E8C"/>
                </a:solidFill>
              </a:rPr>
              <a:t>Limpieza Variables</a:t>
            </a:r>
          </a:p>
          <a:p>
            <a:pPr>
              <a:buNone/>
            </a:pPr>
            <a:endParaRPr lang="es-CO" sz="600" dirty="0"/>
          </a:p>
          <a:p>
            <a:pPr marL="171450" indent="-171450">
              <a:lnSpc>
                <a:spcPts val="1700"/>
              </a:lnSpc>
              <a:spcBef>
                <a:spcPts val="200"/>
              </a:spcBef>
              <a:buClr>
                <a:srgbClr val="3B82C4"/>
              </a:buClr>
              <a:buFont typeface="Arial"/>
              <a:buChar char="•"/>
            </a:pPr>
            <a:r>
              <a:rPr lang="es-CO" sz="1400" dirty="0">
                <a:solidFill>
                  <a:srgbClr val="1F4E8C"/>
                </a:solidFill>
              </a:rPr>
              <a:t>Se eliminaron identificadores, códigos </a:t>
            </a:r>
            <a:r>
              <a:rPr lang="es-CO" sz="1400" dirty="0" err="1">
                <a:solidFill>
                  <a:srgbClr val="1F4E8C"/>
                </a:solidFill>
              </a:rPr>
              <a:t>admin</a:t>
            </a:r>
            <a:r>
              <a:rPr lang="es-CO" sz="1400" dirty="0">
                <a:solidFill>
                  <a:srgbClr val="1F4E8C"/>
                </a:solidFill>
              </a:rPr>
              <a:t>, puntajes por área. Mediana para </a:t>
            </a:r>
            <a:r>
              <a:rPr lang="es-CO" sz="1400" dirty="0" err="1">
                <a:solidFill>
                  <a:srgbClr val="1F4E8C"/>
                </a:solidFill>
              </a:rPr>
              <a:t>outliers</a:t>
            </a:r>
            <a:r>
              <a:rPr lang="es-CO" sz="1400" dirty="0">
                <a:solidFill>
                  <a:srgbClr val="1F4E8C"/>
                </a:solidFill>
              </a:rPr>
              <a:t> 0,18%</a:t>
            </a:r>
          </a:p>
          <a:p>
            <a:pPr marL="171450" indent="-171450">
              <a:lnSpc>
                <a:spcPts val="1700"/>
              </a:lnSpc>
              <a:spcBef>
                <a:spcPts val="200"/>
              </a:spcBef>
              <a:buClr>
                <a:srgbClr val="3B82C4"/>
              </a:buClr>
              <a:buFont typeface="Arial"/>
              <a:buChar char="•"/>
            </a:pPr>
            <a:r>
              <a:rPr lang="es-CO" sz="1400">
                <a:solidFill>
                  <a:srgbClr val="1F4E8C"/>
                </a:solidFill>
              </a:rPr>
              <a:t>Creación edad presentación usando fecha de nacimiento y periodo</a:t>
            </a:r>
          </a:p>
          <a:p>
            <a:pPr marL="171450" indent="-171450">
              <a:lnSpc>
                <a:spcPts val="1700"/>
              </a:lnSpc>
              <a:spcBef>
                <a:spcPts val="200"/>
              </a:spcBef>
              <a:buClr>
                <a:srgbClr val="3B82C4"/>
              </a:buClr>
              <a:buFont typeface="Arial"/>
              <a:buChar char="•"/>
            </a:pPr>
            <a:r>
              <a:rPr lang="es-CO" sz="1400">
                <a:solidFill>
                  <a:srgbClr val="1F4E8C"/>
                </a:solidFill>
              </a:rPr>
              <a:t>Se trataron valores faltantes creando categoría sin información</a:t>
            </a:r>
          </a:p>
          <a:p>
            <a:pPr marL="171450" indent="-171450">
              <a:lnSpc>
                <a:spcPts val="1700"/>
              </a:lnSpc>
              <a:spcBef>
                <a:spcPts val="200"/>
              </a:spcBef>
              <a:buClr>
                <a:srgbClr val="3B82C4"/>
              </a:buClr>
              <a:buFont typeface="Arial"/>
              <a:buChar char="•"/>
            </a:pPr>
            <a:r>
              <a:rPr lang="es-CO" sz="1400" dirty="0">
                <a:solidFill>
                  <a:srgbClr val="1F4E8C"/>
                </a:solidFill>
              </a:rPr>
              <a:t>One-hot encoding </a:t>
            </a:r>
          </a:p>
        </p:txBody>
      </p:sp>
      <p:pic>
        <p:nvPicPr>
          <p:cNvPr id="17" name="Gráfico 16" descr="Network contorno">
            <a:extLst>
              <a:ext uri="{FF2B5EF4-FFF2-40B4-BE49-F238E27FC236}">
                <a16:creationId xmlns:a16="http://schemas.microsoft.com/office/drawing/2014/main" id="{A6892C2F-C290-CE13-4819-3C49B4F492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83025" y="393865"/>
            <a:ext cx="914400" cy="914400"/>
          </a:xfrm>
          <a:prstGeom prst="rect">
            <a:avLst/>
          </a:prstGeom>
        </p:spPr>
      </p:pic>
      <p:sp>
        <p:nvSpPr>
          <p:cNvPr id="20" name="Rectángulo 19">
            <a:extLst>
              <a:ext uri="{FF2B5EF4-FFF2-40B4-BE49-F238E27FC236}">
                <a16:creationId xmlns:a16="http://schemas.microsoft.com/office/drawing/2014/main" id="{43679C35-1CF5-E4F1-EEB1-76EC1F5E36E0}"/>
              </a:ext>
            </a:extLst>
          </p:cNvPr>
          <p:cNvSpPr/>
          <p:nvPr/>
        </p:nvSpPr>
        <p:spPr>
          <a:xfrm>
            <a:off x="533400" y="4178300"/>
            <a:ext cx="5499100" cy="2425700"/>
          </a:xfrm>
          <a:prstGeom prst="rect">
            <a:avLst/>
          </a:prstGeom>
          <a:solidFill>
            <a:srgbClr val="F5F7FA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BFA16D97-27FE-C654-59C1-1E3CBB932870}"/>
              </a:ext>
            </a:extLst>
          </p:cNvPr>
          <p:cNvSpPr/>
          <p:nvPr/>
        </p:nvSpPr>
        <p:spPr>
          <a:xfrm>
            <a:off x="533400" y="4178300"/>
            <a:ext cx="5499100" cy="50800"/>
          </a:xfrm>
          <a:prstGeom prst="rect">
            <a:avLst/>
          </a:prstGeom>
          <a:solidFill>
            <a:srgbClr val="1F4E8C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Card_Resultados">
            <a:extLst>
              <a:ext uri="{FF2B5EF4-FFF2-40B4-BE49-F238E27FC236}">
                <a16:creationId xmlns:a16="http://schemas.microsoft.com/office/drawing/2014/main" id="{3683BDF7-77FD-B1A8-B415-FDBCBF57A5C3}"/>
              </a:ext>
            </a:extLst>
          </p:cNvPr>
          <p:cNvSpPr txBox="1"/>
          <p:nvPr/>
        </p:nvSpPr>
        <p:spPr>
          <a:xfrm>
            <a:off x="762000" y="4356100"/>
            <a:ext cx="5041900" cy="2120900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 anchorCtr="0">
            <a:noAutofit/>
          </a:bodyPr>
          <a:lstStyle/>
          <a:p>
            <a:r>
              <a:rPr lang="es-CO" sz="1600" b="1">
                <a:solidFill>
                  <a:srgbClr val="1F4E8C"/>
                </a:solidFill>
              </a:rPr>
              <a:t>Justificación Variables</a:t>
            </a:r>
            <a:endParaRPr lang="en-US" sz="1400">
              <a:solidFill>
                <a:srgbClr val="FFFFFF"/>
              </a:solidFill>
            </a:endParaRPr>
          </a:p>
          <a:p>
            <a:endParaRPr lang="es-CO" sz="1600" b="1" dirty="0">
              <a:solidFill>
                <a:srgbClr val="1F4E8C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s-CO" sz="1400" b="1">
                <a:solidFill>
                  <a:srgbClr val="1F4E8C"/>
                </a:solidFill>
              </a:rPr>
              <a:t>Edad presentación:</a:t>
            </a:r>
            <a:r>
              <a:rPr lang="es-CO" sz="1400">
                <a:solidFill>
                  <a:srgbClr val="1F4E8C"/>
                </a:solidFill>
              </a:rPr>
              <a:t> mayor edad se asocia con menor puntaje (</a:t>
            </a:r>
            <a:r>
              <a:rPr lang="es-CO" sz="1400" b="1">
                <a:solidFill>
                  <a:srgbClr val="1F4E8C"/>
                </a:solidFill>
              </a:rPr>
              <a:t>-0.21</a:t>
            </a:r>
            <a:r>
              <a:rPr lang="es-CO" sz="1400">
                <a:solidFill>
                  <a:srgbClr val="1F4E8C"/>
                </a:solidFill>
              </a:rPr>
              <a:t>). </a:t>
            </a:r>
            <a:endParaRPr lang="en-US" sz="1400">
              <a:solidFill>
                <a:srgbClr val="FFFFFF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s-CO" sz="1400" b="1">
                <a:solidFill>
                  <a:srgbClr val="1F4E8C"/>
                </a:solidFill>
              </a:rPr>
              <a:t>Cole jornada:</a:t>
            </a:r>
            <a:r>
              <a:rPr lang="es-CO" sz="1400">
                <a:solidFill>
                  <a:srgbClr val="1F4E8C"/>
                </a:solidFill>
              </a:rPr>
              <a:t> jornada completa sube (</a:t>
            </a:r>
            <a:r>
              <a:rPr lang="es-CO" sz="1400" b="1">
                <a:solidFill>
                  <a:srgbClr val="1F4E8C"/>
                </a:solidFill>
              </a:rPr>
              <a:t>0.35</a:t>
            </a:r>
            <a:r>
              <a:rPr lang="es-CO" sz="1400">
                <a:solidFill>
                  <a:srgbClr val="1F4E8C"/>
                </a:solidFill>
              </a:rPr>
              <a:t>) y jornada nocturna baja (</a:t>
            </a:r>
            <a:r>
              <a:rPr lang="es-CO" sz="1400" b="1">
                <a:solidFill>
                  <a:srgbClr val="1F4E8C"/>
                </a:solidFill>
              </a:rPr>
              <a:t>-0.28</a:t>
            </a:r>
            <a:r>
              <a:rPr lang="es-CO" sz="1400">
                <a:solidFill>
                  <a:srgbClr val="1F4E8C"/>
                </a:solidFill>
              </a:rPr>
              <a:t>). </a:t>
            </a:r>
            <a:endParaRPr lang="es-CO" sz="1400">
              <a:solidFill>
                <a:srgbClr val="FFFFFF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s-CO" sz="1400" b="1">
                <a:solidFill>
                  <a:srgbClr val="1F4E8C"/>
                </a:solidFill>
              </a:rPr>
              <a:t>Colegio: Calendario, bilingüe, naturaleza</a:t>
            </a:r>
            <a:endParaRPr lang="en-US" sz="1400">
              <a:solidFill>
                <a:srgbClr val="FFFFFF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s-CO" sz="1400" b="1">
                <a:solidFill>
                  <a:srgbClr val="1F4E8C"/>
                </a:solidFill>
              </a:rPr>
              <a:t>Familia: Internet, Computador, Educación madre y padre, Estrato y Automóvil</a:t>
            </a:r>
            <a:endParaRPr lang="es-CO" sz="1400"/>
          </a:p>
          <a:p>
            <a:pPr marL="285750" indent="-285750">
              <a:buFont typeface="Arial"/>
              <a:buChar char="•"/>
            </a:pPr>
            <a:endParaRPr lang="es-CO" sz="1400" dirty="0">
              <a:solidFill>
                <a:srgbClr val="1F4E8C"/>
              </a:solidFill>
            </a:endParaRPr>
          </a:p>
          <a:p>
            <a:pPr>
              <a:buFont typeface="Arial"/>
              <a:buChar char="•"/>
            </a:pPr>
            <a:endParaRPr lang="es-CO" sz="1400" dirty="0">
              <a:solidFill>
                <a:srgbClr val="1F4E8C"/>
              </a:solidFill>
            </a:endParaRPr>
          </a:p>
          <a:p>
            <a:pPr>
              <a:lnSpc>
                <a:spcPts val="1700"/>
              </a:lnSpc>
              <a:spcBef>
                <a:spcPts val="200"/>
              </a:spcBef>
              <a:buClr>
                <a:srgbClr val="3B82C4"/>
              </a:buClr>
            </a:pPr>
            <a:endParaRPr lang="es-CO" sz="1400" b="1" dirty="0">
              <a:solidFill>
                <a:srgbClr val="1F4E8C"/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FB5A13D-96D6-ABAC-AEB8-3B92541824F0}"/>
              </a:ext>
            </a:extLst>
          </p:cNvPr>
          <p:cNvSpPr/>
          <p:nvPr/>
        </p:nvSpPr>
        <p:spPr>
          <a:xfrm>
            <a:off x="0" y="6582655"/>
            <a:ext cx="12192000" cy="28768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26" name="Imagen 25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6C1A3CC1-A343-586B-3A22-A477635A96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804" y="1954171"/>
            <a:ext cx="5470938" cy="3662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747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A4662-61DA-BC35-D946-43A8F0C79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CE20AAF2-83B1-889F-3BBD-1DFB30B8D4DB}"/>
              </a:ext>
            </a:extLst>
          </p:cNvPr>
          <p:cNvSpPr/>
          <p:nvPr/>
        </p:nvSpPr>
        <p:spPr>
          <a:xfrm>
            <a:off x="-59498" y="-4950"/>
            <a:ext cx="12192000" cy="6858000"/>
          </a:xfrm>
          <a:prstGeom prst="rect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57BC963-7C5A-5F24-C491-86083A651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81000"/>
            <a:ext cx="11176000" cy="952500"/>
          </a:xfrm>
        </p:spPr>
        <p:txBody>
          <a:bodyPr/>
          <a:lstStyle/>
          <a:p>
            <a:pPr algn="l"/>
            <a:r>
              <a:rPr lang="es-CO" dirty="0">
                <a:solidFill>
                  <a:srgbClr val="002060"/>
                </a:solidFill>
              </a:rPr>
              <a:t>Modelo General              </a:t>
            </a:r>
            <a:r>
              <a:rPr lang="es-CO" sz="1600" b="0">
                <a:solidFill>
                  <a:schemeClr val="accent1"/>
                </a:solidFill>
              </a:rPr>
              <a:t>Red neuronal de Regresión 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FC556BA-8860-0C62-FAAB-EDA091504462}"/>
              </a:ext>
            </a:extLst>
          </p:cNvPr>
          <p:cNvSpPr/>
          <p:nvPr/>
        </p:nvSpPr>
        <p:spPr>
          <a:xfrm>
            <a:off x="533400" y="1587500"/>
            <a:ext cx="5499100" cy="2413000"/>
          </a:xfrm>
          <a:prstGeom prst="rect">
            <a:avLst/>
          </a:prstGeom>
          <a:solidFill>
            <a:srgbClr val="F5F7FA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8B7F21B-8ED3-0B20-A4F2-D90A823D7859}"/>
              </a:ext>
            </a:extLst>
          </p:cNvPr>
          <p:cNvSpPr/>
          <p:nvPr/>
        </p:nvSpPr>
        <p:spPr>
          <a:xfrm>
            <a:off x="533400" y="1587500"/>
            <a:ext cx="5499100" cy="50800"/>
          </a:xfrm>
          <a:prstGeom prst="rect">
            <a:avLst/>
          </a:prstGeom>
          <a:solidFill>
            <a:srgbClr val="1F4E8C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Card_Variables">
            <a:extLst>
              <a:ext uri="{FF2B5EF4-FFF2-40B4-BE49-F238E27FC236}">
                <a16:creationId xmlns:a16="http://schemas.microsoft.com/office/drawing/2014/main" id="{7B6522C9-FFEC-1940-FD3F-2212DACDF961}"/>
              </a:ext>
            </a:extLst>
          </p:cNvPr>
          <p:cNvSpPr txBox="1"/>
          <p:nvPr/>
        </p:nvSpPr>
        <p:spPr>
          <a:xfrm>
            <a:off x="762000" y="1733216"/>
            <a:ext cx="5041900" cy="455863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 anchorCtr="0">
            <a:noAutofit/>
          </a:bodyPr>
          <a:lstStyle/>
          <a:p>
            <a:pPr algn="l">
              <a:buNone/>
            </a:pPr>
            <a:r>
              <a:rPr lang="es-CO" sz="1600" b="1">
                <a:solidFill>
                  <a:srgbClr val="1F4E8C"/>
                </a:solidFill>
              </a:rPr>
              <a:t>Resultados</a:t>
            </a:r>
          </a:p>
          <a:p>
            <a:pPr>
              <a:buNone/>
            </a:pPr>
            <a:endParaRPr lang="es-CO" sz="600" dirty="0"/>
          </a:p>
          <a:p>
            <a:pPr>
              <a:lnSpc>
                <a:spcPts val="1700"/>
              </a:lnSpc>
              <a:spcBef>
                <a:spcPts val="200"/>
              </a:spcBef>
              <a:buClr>
                <a:srgbClr val="3B82C4"/>
              </a:buClr>
            </a:pPr>
            <a:endParaRPr lang="es-CO" sz="1400">
              <a:solidFill>
                <a:srgbClr val="1F4E8C"/>
              </a:solidFill>
            </a:endParaRPr>
          </a:p>
        </p:txBody>
      </p:sp>
      <p:pic>
        <p:nvPicPr>
          <p:cNvPr id="17" name="Gráfico 16" descr="Network contorno">
            <a:extLst>
              <a:ext uri="{FF2B5EF4-FFF2-40B4-BE49-F238E27FC236}">
                <a16:creationId xmlns:a16="http://schemas.microsoft.com/office/drawing/2014/main" id="{9302BB39-5F07-F59E-920A-A21B340715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83025" y="393865"/>
            <a:ext cx="914400" cy="914400"/>
          </a:xfrm>
          <a:prstGeom prst="rect">
            <a:avLst/>
          </a:prstGeom>
        </p:spPr>
      </p:pic>
      <p:sp>
        <p:nvSpPr>
          <p:cNvPr id="20" name="Rectángulo 19">
            <a:extLst>
              <a:ext uri="{FF2B5EF4-FFF2-40B4-BE49-F238E27FC236}">
                <a16:creationId xmlns:a16="http://schemas.microsoft.com/office/drawing/2014/main" id="{E238B693-2AB8-FD5D-2F4B-CE56EDA8E5D8}"/>
              </a:ext>
            </a:extLst>
          </p:cNvPr>
          <p:cNvSpPr/>
          <p:nvPr/>
        </p:nvSpPr>
        <p:spPr>
          <a:xfrm>
            <a:off x="533400" y="4178300"/>
            <a:ext cx="5499100" cy="2425700"/>
          </a:xfrm>
          <a:prstGeom prst="rect">
            <a:avLst/>
          </a:prstGeom>
          <a:solidFill>
            <a:srgbClr val="F5F7FA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30D5F3C-A399-6C72-8BED-9E8DB40E827C}"/>
              </a:ext>
            </a:extLst>
          </p:cNvPr>
          <p:cNvSpPr/>
          <p:nvPr/>
        </p:nvSpPr>
        <p:spPr>
          <a:xfrm>
            <a:off x="533400" y="4178300"/>
            <a:ext cx="5499100" cy="50800"/>
          </a:xfrm>
          <a:prstGeom prst="rect">
            <a:avLst/>
          </a:prstGeom>
          <a:solidFill>
            <a:srgbClr val="1F4E8C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Card_Resultados">
            <a:extLst>
              <a:ext uri="{FF2B5EF4-FFF2-40B4-BE49-F238E27FC236}">
                <a16:creationId xmlns:a16="http://schemas.microsoft.com/office/drawing/2014/main" id="{3192060D-7967-4DD7-770B-03D84A5741CF}"/>
              </a:ext>
            </a:extLst>
          </p:cNvPr>
          <p:cNvSpPr txBox="1"/>
          <p:nvPr/>
        </p:nvSpPr>
        <p:spPr>
          <a:xfrm>
            <a:off x="762000" y="4332037"/>
            <a:ext cx="5041900" cy="2171031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 anchorCtr="0">
            <a:noAutofit/>
          </a:bodyPr>
          <a:lstStyle/>
          <a:p>
            <a:r>
              <a:rPr lang="es-CO" sz="1600" b="1">
                <a:solidFill>
                  <a:srgbClr val="1F4E8C"/>
                </a:solidFill>
              </a:rPr>
              <a:t>Arquitectura</a:t>
            </a:r>
            <a:endParaRPr lang="es-CO" sz="1600" b="1" dirty="0">
              <a:solidFill>
                <a:srgbClr val="1F4E8C"/>
              </a:solidFill>
            </a:endParaRPr>
          </a:p>
          <a:p>
            <a:endParaRPr lang="es-CO" sz="1100" b="1" dirty="0">
              <a:solidFill>
                <a:srgbClr val="1F4E8C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s-CO" sz="1400" b="1">
                <a:solidFill>
                  <a:srgbClr val="1F4E8C"/>
                </a:solidFill>
                <a:ea typeface="+mn-lt"/>
                <a:cs typeface="+mn-lt"/>
              </a:rPr>
              <a:t>Entrada y normalización:</a:t>
            </a:r>
            <a:endParaRPr lang="es-CO" sz="1400">
              <a:solidFill>
                <a:srgbClr val="1F4E8C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s-CO" sz="1400" b="1" dirty="0">
                <a:solidFill>
                  <a:srgbClr val="1F4E8C"/>
                </a:solidFill>
                <a:ea typeface="+mn-lt"/>
                <a:cs typeface="+mn-lt"/>
              </a:rPr>
              <a:t>Primera capa:</a:t>
            </a:r>
            <a:r>
              <a:rPr lang="es-CO" sz="1400" dirty="0">
                <a:solidFill>
                  <a:srgbClr val="1F4E8C"/>
                </a:solidFill>
                <a:ea typeface="+mn-lt"/>
                <a:cs typeface="+mn-lt"/>
              </a:rPr>
              <a:t> 64 neuronas con </a:t>
            </a:r>
            <a:r>
              <a:rPr lang="es-CO" sz="1400" dirty="0" err="1">
                <a:solidFill>
                  <a:srgbClr val="1F4E8C"/>
                </a:solidFill>
                <a:ea typeface="+mn-lt"/>
                <a:cs typeface="+mn-lt"/>
              </a:rPr>
              <a:t>ReLU</a:t>
            </a:r>
            <a:r>
              <a:rPr lang="es-CO" sz="1400" dirty="0">
                <a:solidFill>
                  <a:srgbClr val="1F4E8C"/>
                </a:solidFill>
                <a:ea typeface="+mn-lt"/>
                <a:cs typeface="+mn-lt"/>
              </a:rPr>
              <a:t> </a:t>
            </a:r>
            <a:endParaRPr lang="es-CO" sz="1400">
              <a:solidFill>
                <a:srgbClr val="1F4E8C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s-CO" sz="1400" b="1" dirty="0" err="1">
                <a:solidFill>
                  <a:srgbClr val="1F4E8C"/>
                </a:solidFill>
                <a:ea typeface="+mn-lt"/>
                <a:cs typeface="+mn-lt"/>
              </a:rPr>
              <a:t>Dropout</a:t>
            </a:r>
            <a:r>
              <a:rPr lang="es-CO" sz="1400" b="1" dirty="0">
                <a:solidFill>
                  <a:srgbClr val="1F4E8C"/>
                </a:solidFill>
                <a:ea typeface="+mn-lt"/>
                <a:cs typeface="+mn-lt"/>
              </a:rPr>
              <a:t> y segunda capa:</a:t>
            </a:r>
            <a:r>
              <a:rPr lang="es-CO" sz="1400" dirty="0">
                <a:solidFill>
                  <a:srgbClr val="1F4E8C"/>
                </a:solidFill>
                <a:ea typeface="+mn-lt"/>
                <a:cs typeface="+mn-lt"/>
              </a:rPr>
              <a:t> </a:t>
            </a:r>
            <a:r>
              <a:rPr lang="es-CO" sz="1400" dirty="0" err="1">
                <a:solidFill>
                  <a:srgbClr val="1F4E8C"/>
                </a:solidFill>
                <a:ea typeface="+mn-lt"/>
                <a:cs typeface="+mn-lt"/>
              </a:rPr>
              <a:t>Dropout</a:t>
            </a:r>
            <a:r>
              <a:rPr lang="es-CO" sz="1400" dirty="0">
                <a:solidFill>
                  <a:srgbClr val="1F4E8C"/>
                </a:solidFill>
                <a:ea typeface="+mn-lt"/>
                <a:cs typeface="+mn-lt"/>
              </a:rPr>
              <a:t> 0.2 y 32 neuronas con </a:t>
            </a:r>
            <a:r>
              <a:rPr lang="es-CO" sz="1400" dirty="0" err="1">
                <a:solidFill>
                  <a:srgbClr val="1F4E8C"/>
                </a:solidFill>
                <a:ea typeface="+mn-lt"/>
                <a:cs typeface="+mn-lt"/>
              </a:rPr>
              <a:t>ReLU</a:t>
            </a:r>
            <a:r>
              <a:rPr lang="es-CO" sz="1400" dirty="0">
                <a:solidFill>
                  <a:srgbClr val="1F4E8C"/>
                </a:solidFill>
                <a:ea typeface="+mn-lt"/>
                <a:cs typeface="+mn-lt"/>
              </a:rPr>
              <a:t>. </a:t>
            </a:r>
            <a:endParaRPr lang="es-CO" sz="1400"/>
          </a:p>
          <a:p>
            <a:pPr marL="285750" indent="-285750">
              <a:buFont typeface="Arial"/>
              <a:buChar char="•"/>
            </a:pPr>
            <a:r>
              <a:rPr lang="es-CO" sz="1400" b="1" dirty="0">
                <a:solidFill>
                  <a:srgbClr val="1F4E8C"/>
                </a:solidFill>
                <a:ea typeface="+mn-lt"/>
                <a:cs typeface="+mn-lt"/>
              </a:rPr>
              <a:t>Salida y entrenamiento:</a:t>
            </a:r>
            <a:r>
              <a:rPr lang="es-CO" sz="1400" dirty="0">
                <a:solidFill>
                  <a:srgbClr val="1F4E8C"/>
                </a:solidFill>
                <a:ea typeface="+mn-lt"/>
                <a:cs typeface="+mn-lt"/>
              </a:rPr>
              <a:t> predice puntaje global con 1 neurona y se entrena con Adam, MSE, MAE y </a:t>
            </a:r>
            <a:r>
              <a:rPr lang="es-CO" sz="1400" dirty="0" err="1">
                <a:solidFill>
                  <a:srgbClr val="1F4E8C"/>
                </a:solidFill>
                <a:ea typeface="+mn-lt"/>
                <a:cs typeface="+mn-lt"/>
              </a:rPr>
              <a:t>EarlyStopping</a:t>
            </a:r>
            <a:r>
              <a:rPr lang="es-CO" sz="1400" dirty="0">
                <a:solidFill>
                  <a:srgbClr val="1F4E8C"/>
                </a:solidFill>
                <a:ea typeface="+mn-lt"/>
                <a:cs typeface="+mn-lt"/>
              </a:rPr>
              <a:t>. </a:t>
            </a:r>
            <a:endParaRPr lang="es-CO" sz="1400" dirty="0"/>
          </a:p>
          <a:p>
            <a:endParaRPr lang="es-CO" sz="1600" b="1" dirty="0">
              <a:solidFill>
                <a:srgbClr val="1F4E8C"/>
              </a:solidFill>
            </a:endParaRPr>
          </a:p>
          <a:p>
            <a:pPr marL="285750" indent="-285750">
              <a:buFont typeface="Arial"/>
              <a:buChar char="•"/>
            </a:pPr>
            <a:endParaRPr lang="es-CO" sz="1400" dirty="0">
              <a:solidFill>
                <a:srgbClr val="1F4E8C"/>
              </a:solidFill>
            </a:endParaRPr>
          </a:p>
          <a:p>
            <a:pPr>
              <a:buFont typeface="Arial"/>
              <a:buChar char="•"/>
            </a:pPr>
            <a:endParaRPr lang="es-CO" sz="1400" dirty="0">
              <a:solidFill>
                <a:srgbClr val="1F4E8C"/>
              </a:solidFill>
            </a:endParaRPr>
          </a:p>
          <a:p>
            <a:pPr>
              <a:lnSpc>
                <a:spcPts val="1700"/>
              </a:lnSpc>
              <a:spcBef>
                <a:spcPts val="200"/>
              </a:spcBef>
              <a:buClr>
                <a:srgbClr val="3B82C4"/>
              </a:buClr>
            </a:pPr>
            <a:endParaRPr lang="es-CO" sz="1400" b="1" dirty="0">
              <a:solidFill>
                <a:srgbClr val="1F4E8C"/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86F1A96-0BBD-AAB4-730E-D30DED020ADD}"/>
              </a:ext>
            </a:extLst>
          </p:cNvPr>
          <p:cNvSpPr/>
          <p:nvPr/>
        </p:nvSpPr>
        <p:spPr>
          <a:xfrm>
            <a:off x="0" y="6582655"/>
            <a:ext cx="12192000" cy="28768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Card_Variables">
            <a:extLst>
              <a:ext uri="{FF2B5EF4-FFF2-40B4-BE49-F238E27FC236}">
                <a16:creationId xmlns:a16="http://schemas.microsoft.com/office/drawing/2014/main" id="{16BA6D5C-63B0-D86D-ACDA-D0FA060F3734}"/>
              </a:ext>
            </a:extLst>
          </p:cNvPr>
          <p:cNvSpPr txBox="1"/>
          <p:nvPr/>
        </p:nvSpPr>
        <p:spPr>
          <a:xfrm>
            <a:off x="543556" y="1970097"/>
            <a:ext cx="2019421" cy="2031738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ctr" anchorCtr="0">
            <a:noAutofit/>
          </a:bodyPr>
          <a:lstStyle/>
          <a:p>
            <a:pPr algn="ctr"/>
            <a:r>
              <a:rPr lang="es-CO" sz="1600" b="1" dirty="0">
                <a:solidFill>
                  <a:srgbClr val="1F4E8C"/>
                </a:solidFill>
              </a:rPr>
              <a:t>R2 : </a:t>
            </a:r>
            <a:r>
              <a:rPr lang="es-CO" sz="1600">
                <a:solidFill>
                  <a:srgbClr val="1F4E8C"/>
                </a:solidFill>
              </a:rPr>
              <a:t>0.347</a:t>
            </a:r>
            <a:endParaRPr lang="es-CO" sz="1600" dirty="0">
              <a:solidFill>
                <a:srgbClr val="1F4E8C"/>
              </a:solidFill>
            </a:endParaRPr>
          </a:p>
          <a:p>
            <a:pPr algn="ctr"/>
            <a:r>
              <a:rPr lang="es-CO" sz="1600" b="1">
                <a:solidFill>
                  <a:srgbClr val="1F4E8C"/>
                </a:solidFill>
              </a:rPr>
              <a:t>RMSE:</a:t>
            </a:r>
            <a:r>
              <a:rPr lang="es-CO" sz="1600">
                <a:solidFill>
                  <a:srgbClr val="1F4E8C"/>
                </a:solidFill>
              </a:rPr>
              <a:t> 41.787</a:t>
            </a:r>
            <a:endParaRPr lang="es-CO" sz="1600" dirty="0">
              <a:solidFill>
                <a:srgbClr val="1F4E8C"/>
              </a:solidFill>
            </a:endParaRPr>
          </a:p>
          <a:p>
            <a:pPr algn="ctr"/>
            <a:r>
              <a:rPr lang="es-CO" sz="1600" b="1">
                <a:solidFill>
                  <a:srgbClr val="1F4E8C"/>
                </a:solidFill>
              </a:rPr>
              <a:t>MAE:</a:t>
            </a:r>
            <a:r>
              <a:rPr lang="es-CO" sz="1600">
                <a:solidFill>
                  <a:srgbClr val="1F4E8C"/>
                </a:solidFill>
              </a:rPr>
              <a:t> 33.545</a:t>
            </a:r>
            <a:endParaRPr lang="es-CO" sz="1600" dirty="0">
              <a:solidFill>
                <a:srgbClr val="1F4E8C"/>
              </a:solidFill>
            </a:endParaRPr>
          </a:p>
          <a:p>
            <a:pPr algn="ctr"/>
            <a:endParaRPr lang="es-CO" sz="600" dirty="0">
              <a:solidFill>
                <a:srgbClr val="FFFFFF"/>
              </a:solidFill>
            </a:endParaRPr>
          </a:p>
          <a:p>
            <a:pPr algn="ctr">
              <a:lnSpc>
                <a:spcPts val="1700"/>
              </a:lnSpc>
              <a:spcBef>
                <a:spcPts val="200"/>
              </a:spcBef>
              <a:buClr>
                <a:srgbClr val="3B82C4"/>
              </a:buClr>
            </a:pPr>
            <a:endParaRPr lang="es-CO" sz="1400">
              <a:solidFill>
                <a:srgbClr val="1F4E8C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831B24D-B3F9-934F-055E-615A1410F755}"/>
              </a:ext>
            </a:extLst>
          </p:cNvPr>
          <p:cNvSpPr/>
          <p:nvPr/>
        </p:nvSpPr>
        <p:spPr>
          <a:xfrm>
            <a:off x="6129126" y="1581484"/>
            <a:ext cx="5578268" cy="2742375"/>
          </a:xfrm>
          <a:prstGeom prst="rect">
            <a:avLst/>
          </a:prstGeom>
          <a:solidFill>
            <a:srgbClr val="F5F7FA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C9C71B5-2C40-5F7D-D958-3770D4BFF50A}"/>
              </a:ext>
            </a:extLst>
          </p:cNvPr>
          <p:cNvSpPr/>
          <p:nvPr/>
        </p:nvSpPr>
        <p:spPr>
          <a:xfrm>
            <a:off x="6208294" y="1581484"/>
            <a:ext cx="5499100" cy="50800"/>
          </a:xfrm>
          <a:prstGeom prst="rect">
            <a:avLst/>
          </a:prstGeom>
          <a:solidFill>
            <a:srgbClr val="1F4E8C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Card_Resultados">
            <a:extLst>
              <a:ext uri="{FF2B5EF4-FFF2-40B4-BE49-F238E27FC236}">
                <a16:creationId xmlns:a16="http://schemas.microsoft.com/office/drawing/2014/main" id="{9DB54AFB-8A84-8257-D79B-EE0AD6AFF497}"/>
              </a:ext>
            </a:extLst>
          </p:cNvPr>
          <p:cNvSpPr txBox="1"/>
          <p:nvPr/>
        </p:nvSpPr>
        <p:spPr>
          <a:xfrm>
            <a:off x="6436894" y="1735221"/>
            <a:ext cx="5041900" cy="2467914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 anchorCtr="0">
            <a:noAutofit/>
          </a:bodyPr>
          <a:lstStyle/>
          <a:p>
            <a:r>
              <a:rPr lang="es-CO" sz="1600" b="1">
                <a:solidFill>
                  <a:srgbClr val="1F4E8C"/>
                </a:solidFill>
              </a:rPr>
              <a:t>Hallazgos Clave</a:t>
            </a:r>
            <a:endParaRPr lang="es-ES"/>
          </a:p>
          <a:p>
            <a:endParaRPr lang="es-CO" sz="1600" b="1" dirty="0">
              <a:solidFill>
                <a:srgbClr val="1F4E8C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s-CO" sz="1400" b="1">
                <a:solidFill>
                  <a:srgbClr val="1F4E8C"/>
                </a:solidFill>
                <a:ea typeface="+mn-lt"/>
                <a:cs typeface="+mn-lt"/>
              </a:rPr>
              <a:t>Factores tecnológicos e institucionales</a:t>
            </a:r>
            <a:r>
              <a:rPr lang="es-CO" sz="1400">
                <a:solidFill>
                  <a:srgbClr val="1F4E8C"/>
                </a:solidFill>
                <a:ea typeface="+mn-lt"/>
                <a:cs typeface="+mn-lt"/>
              </a:rPr>
              <a:t> como internet, computador y jornada completa se asocian con mayores puntajes. </a:t>
            </a:r>
            <a:endParaRPr lang="es-CO" sz="1400">
              <a:solidFill>
                <a:srgbClr val="FFFFFF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s-CO" sz="1400" b="1">
                <a:solidFill>
                  <a:srgbClr val="1F4E8C"/>
                </a:solidFill>
                <a:ea typeface="+mn-lt"/>
                <a:cs typeface="+mn-lt"/>
              </a:rPr>
              <a:t>Condiciones de vulnerabilidad</a:t>
            </a:r>
            <a:r>
              <a:rPr lang="es-CO" sz="1400">
                <a:solidFill>
                  <a:srgbClr val="1F4E8C"/>
                </a:solidFill>
                <a:ea typeface="+mn-lt"/>
                <a:cs typeface="+mn-lt"/>
              </a:rPr>
              <a:t> como jornada nocturna, falta de internet/computador y mayor edad se asocian con menores resultados. </a:t>
            </a:r>
            <a:endParaRPr lang="es-CO" sz="1400">
              <a:solidFill>
                <a:srgbClr val="FFFFFF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s-CO" sz="1400" b="1">
                <a:solidFill>
                  <a:srgbClr val="1F4E8C"/>
                </a:solidFill>
                <a:ea typeface="+mn-lt"/>
                <a:cs typeface="+mn-lt"/>
              </a:rPr>
              <a:t>El modelo tiene desempeño moderado</a:t>
            </a:r>
            <a:r>
              <a:rPr lang="es-CO" sz="1400">
                <a:solidFill>
                  <a:srgbClr val="1F4E8C"/>
                </a:solidFill>
                <a:ea typeface="+mn-lt"/>
                <a:cs typeface="+mn-lt"/>
              </a:rPr>
              <a:t>, útil para estimar brechas y priorizar apoyo, pero no para predecir con exactitud individual.</a:t>
            </a:r>
            <a:endParaRPr lang="es-CO" sz="1400"/>
          </a:p>
          <a:p>
            <a:endParaRPr lang="es-CO" sz="1400" b="1" dirty="0">
              <a:solidFill>
                <a:srgbClr val="1F4E8C"/>
              </a:solidFill>
            </a:endParaRPr>
          </a:p>
          <a:p>
            <a:pPr marL="285750" indent="-285750">
              <a:buFont typeface="Arial"/>
              <a:buChar char="•"/>
            </a:pPr>
            <a:endParaRPr lang="es-CO" sz="1400" dirty="0">
              <a:solidFill>
                <a:srgbClr val="1F4E8C"/>
              </a:solidFill>
            </a:endParaRPr>
          </a:p>
          <a:p>
            <a:pPr>
              <a:buFont typeface="Arial"/>
              <a:buChar char="•"/>
            </a:pPr>
            <a:endParaRPr lang="es-CO" sz="1400" dirty="0">
              <a:solidFill>
                <a:srgbClr val="1F4E8C"/>
              </a:solidFill>
            </a:endParaRPr>
          </a:p>
          <a:p>
            <a:pPr>
              <a:lnSpc>
                <a:spcPts val="1700"/>
              </a:lnSpc>
              <a:spcBef>
                <a:spcPts val="200"/>
              </a:spcBef>
              <a:buClr>
                <a:srgbClr val="3B82C4"/>
              </a:buClr>
            </a:pPr>
            <a:endParaRPr lang="es-CO" sz="1400" b="1" dirty="0">
              <a:solidFill>
                <a:srgbClr val="1F4E8C"/>
              </a:solidFill>
            </a:endParaRPr>
          </a:p>
        </p:txBody>
      </p:sp>
      <p:pic>
        <p:nvPicPr>
          <p:cNvPr id="10" name="Imagen 9" descr="Icono&#10;&#10;El contenido generado por IA puede ser incorrecto.">
            <a:extLst>
              <a:ext uri="{FF2B5EF4-FFF2-40B4-BE49-F238E27FC236}">
                <a16:creationId xmlns:a16="http://schemas.microsoft.com/office/drawing/2014/main" id="{CC1BCCF1-61B0-7D11-0F94-ACC60E9DEE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1424" y="1733055"/>
            <a:ext cx="2125931" cy="213508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2299FAFD-ED46-1BF9-CD25-E114858BDC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0890" y="4455906"/>
            <a:ext cx="1865417" cy="1855150"/>
          </a:xfrm>
          <a:prstGeom prst="rect">
            <a:avLst/>
          </a:prstGeom>
        </p:spPr>
      </p:pic>
      <p:pic>
        <p:nvPicPr>
          <p:cNvPr id="12" name="Imagen 11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7FC8EF44-7B39-E7F5-3CF6-496D0B11FB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9710" y="4485595"/>
            <a:ext cx="1947802" cy="182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3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F06AC8A-162C-5E86-8A29-04B6BCDD3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s-CO">
                <a:solidFill>
                  <a:srgbClr val="002060"/>
                </a:solidFill>
              </a:rPr>
              <a:t>Comparación de modelos: métricas obtenidas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77AA904F-624B-448A-B332-60A3C5E263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802268"/>
              </p:ext>
            </p:extLst>
          </p:nvPr>
        </p:nvGraphicFramePr>
        <p:xfrm>
          <a:off x="762000" y="1905000"/>
          <a:ext cx="10668000" cy="3556000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365283883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84006075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908582438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1493701952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421259818"/>
                    </a:ext>
                  </a:extLst>
                </a:gridCol>
              </a:tblGrid>
              <a:tr h="8890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Modelo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Tipo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err="1">
                          <a:solidFill>
                            <a:srgbClr val="FFFFFF"/>
                          </a:solidFill>
                        </a:rPr>
                        <a:t>Notas</a:t>
                      </a:r>
                      <a:endParaRPr lang="en-US" sz="14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307316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Institucional</a:t>
                      </a:r>
                      <a:endParaRPr lang="en-US" sz="1400" err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Clasificación</a:t>
                      </a:r>
                      <a:endParaRPr lang="en-US" sz="1400" err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≈ 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≈ 0.74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Variables del colegio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7512230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Familiar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Clasificación</a:t>
                      </a:r>
                      <a:endParaRPr lang="en-US" sz="1400" err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≈ 85%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≈ 0.77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Variables socioeconómicas</a:t>
                      </a:r>
                      <a:endParaRPr lang="en-US" sz="1400" err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954762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General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Regresión</a:t>
                      </a:r>
                      <a:endParaRPr lang="en-US" sz="1400" err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R2 = </a:t>
                      </a:r>
                      <a:r>
                        <a:rPr lang="es-CO" sz="1600" b="0" i="0" u="none" strike="noStrike" noProof="0">
                          <a:solidFill>
                            <a:schemeClr val="bg1"/>
                          </a:solidFill>
                          <a:latin typeface="Century Gothic"/>
                        </a:rPr>
                        <a:t>0.347</a:t>
                      </a:r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RMSE = 41.787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/>
                        <a:t>Combina</a:t>
                      </a:r>
                      <a:r>
                        <a:rPr lang="en-US" sz="1400" dirty="0"/>
                        <a:t> familia + colegio + </a:t>
                      </a:r>
                      <a:r>
                        <a:rPr lang="en-US" sz="1400" dirty="0" err="1"/>
                        <a:t>tecnología</a:t>
                      </a:r>
                      <a:r>
                        <a:rPr lang="en-US" sz="1400" dirty="0"/>
                        <a:t> (RMSE/MAE/R²)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0653295"/>
                  </a:ext>
                </a:extLst>
              </a:tr>
            </a:tbl>
          </a:graphicData>
        </a:graphic>
      </p:graphicFrame>
      <p:sp>
        <p:nvSpPr>
          <p:cNvPr id="2" name="Rectángulo 1">
            <a:extLst>
              <a:ext uri="{FF2B5EF4-FFF2-40B4-BE49-F238E27FC236}">
                <a16:creationId xmlns:a16="http://schemas.microsoft.com/office/drawing/2014/main" id="{04364B98-47BD-F470-99DF-6F0EC60504A6}"/>
              </a:ext>
            </a:extLst>
          </p:cNvPr>
          <p:cNvSpPr/>
          <p:nvPr/>
        </p:nvSpPr>
        <p:spPr>
          <a:xfrm>
            <a:off x="0" y="6582655"/>
            <a:ext cx="12192000" cy="28768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91532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66CB4-7F7D-A6EF-E7AE-1FF4DDD25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D7678-761A-B88A-5829-82FACE3C1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>
                <a:solidFill>
                  <a:srgbClr val="002060"/>
                </a:solidFill>
              </a:rPr>
              <a:t>Tablero interactivo en Dash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85241-AA87-0118-A6FE-3F57344694D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41667" y="2461056"/>
            <a:ext cx="9855468" cy="372153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CO" sz="2000" b="1">
                <a:solidFill>
                  <a:schemeClr val="accent1"/>
                </a:solidFill>
              </a:rPr>
              <a:t>Cuatro pestañas integradas para la Secretaría de Educación</a:t>
            </a:r>
          </a:p>
          <a:p>
            <a:pPr marL="228600" indent="-228600">
              <a:buFont typeface="Arial"/>
              <a:buChar char="•"/>
            </a:pPr>
            <a:r>
              <a:rPr lang="es-CO" sz="1600"/>
              <a:t>Modelo familiar: probabilidad a partir de variables socioeconómicas</a:t>
            </a:r>
          </a:p>
          <a:p>
            <a:pPr marL="228600" indent="-228600">
              <a:buFont typeface="Arial"/>
              <a:buChar char="•"/>
            </a:pPr>
            <a:r>
              <a:rPr lang="es-CO" sz="1600"/>
              <a:t>Modelo institucional: clasificación binaria por características del colegio</a:t>
            </a:r>
          </a:p>
          <a:p>
            <a:pPr marL="228600" indent="-228600">
              <a:buFont typeface="Arial"/>
              <a:buChar char="•"/>
            </a:pPr>
            <a:r>
              <a:rPr lang="es-CO" sz="1600"/>
              <a:t>Modelo general: regresión que combina familia, tecnología e institución</a:t>
            </a:r>
          </a:p>
          <a:p>
            <a:pPr marL="228600" indent="-228600">
              <a:buFont typeface="Arial"/>
              <a:buChar char="•"/>
            </a:pPr>
            <a:r>
              <a:rPr lang="es-CO" sz="1600"/>
              <a:t>Comparación de modelos: </a:t>
            </a:r>
            <a:r>
              <a:rPr lang="es-CO" sz="1600" err="1"/>
              <a:t>Accuracy</a:t>
            </a:r>
            <a:r>
              <a:rPr lang="es-CO" sz="1600"/>
              <a:t>, F1, ROC-AUC, RMSE, MAE y R²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E550D50-7AF7-E6D7-3730-5D4D59D1414A}"/>
              </a:ext>
            </a:extLst>
          </p:cNvPr>
          <p:cNvSpPr/>
          <p:nvPr/>
        </p:nvSpPr>
        <p:spPr>
          <a:xfrm>
            <a:off x="0" y="6582655"/>
            <a:ext cx="12192000" cy="28768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58469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E1BB1-C5B6-C34A-6087-486828876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CO" b="1">
                <a:solidFill>
                  <a:srgbClr val="002060"/>
                </a:solidFill>
              </a:rPr>
              <a:t>Despliegue y mantenimiento</a:t>
            </a:r>
          </a:p>
          <a:p>
            <a:pPr algn="l">
              <a:buNone/>
            </a:pPr>
            <a:r>
              <a:rPr lang="es-CO" sz="1600">
                <a:solidFill>
                  <a:srgbClr val="6B7280"/>
                </a:solidFill>
              </a:rPr>
              <a:t>Ciclo de vida del modelo en producción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A8E2C4C-8ACD-4338-8E63-74CD5FC3C39A}"/>
              </a:ext>
            </a:extLst>
          </p:cNvPr>
          <p:cNvSpPr/>
          <p:nvPr/>
        </p:nvSpPr>
        <p:spPr>
          <a:xfrm>
            <a:off x="711200" y="2540000"/>
            <a:ext cx="2540000" cy="76200"/>
          </a:xfrm>
          <a:prstGeom prst="rect">
            <a:avLst/>
          </a:prstGeom>
          <a:solidFill>
            <a:srgbClr val="1F4E8C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F6DAB1C-DFE4-4EDA-BB37-14E8B6CAE990}"/>
              </a:ext>
            </a:extLst>
          </p:cNvPr>
          <p:cNvSpPr/>
          <p:nvPr/>
        </p:nvSpPr>
        <p:spPr>
          <a:xfrm>
            <a:off x="711200" y="2616200"/>
            <a:ext cx="2540000" cy="3098800"/>
          </a:xfrm>
          <a:prstGeom prst="rect">
            <a:avLst/>
          </a:prstGeom>
          <a:solidFill>
            <a:srgbClr val="F5F7FA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DCC6ED7-5B5B-4FFD-94CE-03967AE62428}"/>
              </a:ext>
            </a:extLst>
          </p:cNvPr>
          <p:cNvSpPr txBox="1"/>
          <p:nvPr/>
        </p:nvSpPr>
        <p:spPr>
          <a:xfrm>
            <a:off x="939800" y="2819400"/>
            <a:ext cx="127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>
                <a:solidFill>
                  <a:srgbClr val="1F4E8C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31BDCF6-E6EC-49E9-B1E5-E065477222E6}"/>
              </a:ext>
            </a:extLst>
          </p:cNvPr>
          <p:cNvSpPr txBox="1"/>
          <p:nvPr/>
        </p:nvSpPr>
        <p:spPr>
          <a:xfrm>
            <a:off x="939800" y="3581400"/>
            <a:ext cx="20828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F2937"/>
                </a:solidFill>
              </a:rPr>
              <a:t>Serialización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B0D2BE5-C418-4892-A7C0-D34F9D4884DC}"/>
              </a:ext>
            </a:extLst>
          </p:cNvPr>
          <p:cNvSpPr txBox="1"/>
          <p:nvPr/>
        </p:nvSpPr>
        <p:spPr>
          <a:xfrm>
            <a:off x="939800" y="3925455"/>
            <a:ext cx="2300514" cy="1754326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es-ES" sz="1200">
                <a:solidFill>
                  <a:srgbClr val="4B5563"/>
                </a:solidFill>
              </a:rPr>
              <a:t>Modelos entrenados guardados en archivos .h5. </a:t>
            </a:r>
            <a:endParaRPr lang="es-ES" dirty="0">
              <a:solidFill>
                <a:srgbClr val="FFFFFF"/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s-ES" sz="1200">
                <a:solidFill>
                  <a:srgbClr val="4B5563"/>
                </a:solidFill>
              </a:rPr>
              <a:t>Columnas y escaladores </a:t>
            </a:r>
            <a:r>
              <a:rPr lang="es-ES" sz="1200" dirty="0">
                <a:solidFill>
                  <a:srgbClr val="4B5563"/>
                </a:solidFill>
              </a:rPr>
              <a:t>almacenados en archivos .</a:t>
            </a:r>
            <a:r>
              <a:rPr lang="es-ES" sz="1200" err="1">
                <a:solidFill>
                  <a:srgbClr val="4B5563"/>
                </a:solidFill>
              </a:rPr>
              <a:t>pkl</a:t>
            </a:r>
            <a:r>
              <a:rPr lang="es-ES" sz="1200" dirty="0">
                <a:solidFill>
                  <a:srgbClr val="4B5563"/>
                </a:solidFill>
              </a:rPr>
              <a:t>. </a:t>
            </a:r>
            <a:endParaRPr lang="es-ES" dirty="0">
              <a:solidFill>
                <a:srgbClr val="FFFFFF"/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s-ES" sz="1200">
                <a:solidFill>
                  <a:srgbClr val="4B5563"/>
                </a:solidFill>
              </a:rPr>
              <a:t>Métricas finales guardadas </a:t>
            </a:r>
            <a:r>
              <a:rPr lang="es-ES" sz="1200" dirty="0">
                <a:solidFill>
                  <a:srgbClr val="4B5563"/>
                </a:solidFill>
              </a:rPr>
              <a:t>en archivos .</a:t>
            </a:r>
            <a:r>
              <a:rPr lang="es-ES" sz="1200" err="1">
                <a:solidFill>
                  <a:srgbClr val="4B5563"/>
                </a:solidFill>
              </a:rPr>
              <a:t>json</a:t>
            </a:r>
            <a:r>
              <a:rPr lang="es-ES" sz="1200" dirty="0">
                <a:solidFill>
                  <a:srgbClr val="4B5563"/>
                </a:solidFill>
              </a:rPr>
              <a:t>. </a:t>
            </a:r>
            <a:endParaRPr lang="es-ES">
              <a:solidFill>
                <a:srgbClr val="FFFFFF"/>
              </a:solidFill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47CFA69-7FA7-41B6-A34E-8D80AFBCC1F5}"/>
              </a:ext>
            </a:extLst>
          </p:cNvPr>
          <p:cNvSpPr/>
          <p:nvPr/>
        </p:nvSpPr>
        <p:spPr>
          <a:xfrm>
            <a:off x="3454400" y="2540000"/>
            <a:ext cx="2540000" cy="76200"/>
          </a:xfrm>
          <a:prstGeom prst="rect">
            <a:avLst/>
          </a:prstGeom>
          <a:solidFill>
            <a:srgbClr val="3B82C4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30EBC3C-0ABA-4642-B559-26D994893F3D}"/>
              </a:ext>
            </a:extLst>
          </p:cNvPr>
          <p:cNvSpPr/>
          <p:nvPr/>
        </p:nvSpPr>
        <p:spPr>
          <a:xfrm>
            <a:off x="3454400" y="2616200"/>
            <a:ext cx="2540000" cy="3098800"/>
          </a:xfrm>
          <a:prstGeom prst="rect">
            <a:avLst/>
          </a:prstGeom>
          <a:solidFill>
            <a:srgbClr val="F5F7FA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BBBC441-D52C-4D2D-8A98-2E9536579151}"/>
              </a:ext>
            </a:extLst>
          </p:cNvPr>
          <p:cNvSpPr txBox="1"/>
          <p:nvPr/>
        </p:nvSpPr>
        <p:spPr>
          <a:xfrm>
            <a:off x="3683000" y="2819400"/>
            <a:ext cx="127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>
                <a:solidFill>
                  <a:srgbClr val="3B82C4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DF850C7-6CA8-4EB3-9EFE-9755C3FAE416}"/>
              </a:ext>
            </a:extLst>
          </p:cNvPr>
          <p:cNvSpPr txBox="1"/>
          <p:nvPr/>
        </p:nvSpPr>
        <p:spPr>
          <a:xfrm>
            <a:off x="3683000" y="3581400"/>
            <a:ext cx="20828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F2937"/>
                </a:solidFill>
              </a:rPr>
              <a:t>Integración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E4D43A0-B3B0-4EA8-9B15-77930AEFDFDE}"/>
              </a:ext>
            </a:extLst>
          </p:cNvPr>
          <p:cNvSpPr txBox="1"/>
          <p:nvPr/>
        </p:nvSpPr>
        <p:spPr>
          <a:xfrm>
            <a:off x="3455390" y="4014521"/>
            <a:ext cx="2439059" cy="1569660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s-ES" sz="1200" dirty="0">
                <a:solidFill>
                  <a:srgbClr val="4B5563"/>
                </a:solidFill>
                <a:ea typeface="+mn-lt"/>
                <a:cs typeface="+mn-lt"/>
              </a:rPr>
              <a:t>Dash carga los modelos desde la carpeta </a:t>
            </a:r>
            <a:r>
              <a:rPr lang="es-ES" sz="1200" dirty="0" err="1">
                <a:solidFill>
                  <a:srgbClr val="4B5563"/>
                </a:solidFill>
                <a:latin typeface="Consolas"/>
              </a:rPr>
              <a:t>models</a:t>
            </a:r>
            <a:r>
              <a:rPr lang="es-ES" sz="1200" dirty="0">
                <a:solidFill>
                  <a:srgbClr val="4B5563"/>
                </a:solidFill>
                <a:latin typeface="Consolas"/>
              </a:rPr>
              <a:t>/</a:t>
            </a:r>
            <a:r>
              <a:rPr lang="es-ES" sz="1200" dirty="0">
                <a:solidFill>
                  <a:srgbClr val="4B5563"/>
                </a:solidFill>
                <a:ea typeface="+mn-lt"/>
                <a:cs typeface="+mn-lt"/>
              </a:rPr>
              <a:t>. </a:t>
            </a:r>
            <a:endParaRPr lang="es-ES" dirty="0"/>
          </a:p>
          <a:p>
            <a:pPr marL="285750" indent="-285750">
              <a:buFont typeface="Arial"/>
              <a:buChar char="•"/>
            </a:pPr>
            <a:r>
              <a:rPr lang="es-ES" sz="1200" dirty="0">
                <a:solidFill>
                  <a:srgbClr val="4B5563"/>
                </a:solidFill>
                <a:ea typeface="+mn-lt"/>
                <a:cs typeface="+mn-lt"/>
              </a:rPr>
              <a:t>El tablero usa modelos </a:t>
            </a:r>
            <a:r>
              <a:rPr lang="es-ES" sz="1200" dirty="0" err="1">
                <a:solidFill>
                  <a:srgbClr val="4B5563"/>
                </a:solidFill>
                <a:ea typeface="+mn-lt"/>
                <a:cs typeface="+mn-lt"/>
              </a:rPr>
              <a:t>preentrenados</a:t>
            </a:r>
            <a:r>
              <a:rPr lang="es-ES" sz="1200" dirty="0">
                <a:solidFill>
                  <a:srgbClr val="4B5563"/>
                </a:solidFill>
                <a:ea typeface="+mn-lt"/>
                <a:cs typeface="+mn-lt"/>
              </a:rPr>
              <a:t>, no reentrena. </a:t>
            </a:r>
            <a:endParaRPr lang="es-ES" dirty="0"/>
          </a:p>
          <a:p>
            <a:pPr marL="285750" indent="-285750">
              <a:buFont typeface="Arial"/>
              <a:buChar char="•"/>
            </a:pPr>
            <a:r>
              <a:rPr lang="es-ES" sz="1200">
                <a:solidFill>
                  <a:srgbClr val="4B5563"/>
                </a:solidFill>
                <a:ea typeface="+mn-lt"/>
                <a:cs typeface="+mn-lt"/>
              </a:rPr>
              <a:t>Las predicciones se generan desde la interfaz web.</a:t>
            </a:r>
            <a:endParaRPr lang="es-ES">
              <a:ea typeface="+mn-lt"/>
              <a:cs typeface="+mn-lt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D17C9FF-79E2-4041-83E9-5D78DE05B9A5}"/>
              </a:ext>
            </a:extLst>
          </p:cNvPr>
          <p:cNvSpPr/>
          <p:nvPr/>
        </p:nvSpPr>
        <p:spPr>
          <a:xfrm>
            <a:off x="6197600" y="2540000"/>
            <a:ext cx="2540000" cy="76200"/>
          </a:xfrm>
          <a:prstGeom prst="rect">
            <a:avLst/>
          </a:prstGeom>
          <a:solidFill>
            <a:srgbClr val="7BB3E0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DFBE690-DE5F-418F-82D0-557155944A73}"/>
              </a:ext>
            </a:extLst>
          </p:cNvPr>
          <p:cNvSpPr/>
          <p:nvPr/>
        </p:nvSpPr>
        <p:spPr>
          <a:xfrm>
            <a:off x="6197600" y="2616200"/>
            <a:ext cx="2540000" cy="3098800"/>
          </a:xfrm>
          <a:prstGeom prst="rect">
            <a:avLst/>
          </a:prstGeom>
          <a:solidFill>
            <a:srgbClr val="F5F7FA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A238B52-666B-464C-9373-060CA11FCF96}"/>
              </a:ext>
            </a:extLst>
          </p:cNvPr>
          <p:cNvSpPr txBox="1"/>
          <p:nvPr/>
        </p:nvSpPr>
        <p:spPr>
          <a:xfrm>
            <a:off x="6426200" y="2819400"/>
            <a:ext cx="127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>
                <a:solidFill>
                  <a:srgbClr val="7BB3E0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0C72AE5-6E5B-445D-A7A6-AA0A2D2CE0A6}"/>
              </a:ext>
            </a:extLst>
          </p:cNvPr>
          <p:cNvSpPr txBox="1"/>
          <p:nvPr/>
        </p:nvSpPr>
        <p:spPr>
          <a:xfrm>
            <a:off x="6426200" y="3581400"/>
            <a:ext cx="20828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F2937"/>
                </a:solidFill>
              </a:rPr>
              <a:t>Despliegue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38A2E27-E669-453D-BA46-0413BBE6623C}"/>
              </a:ext>
            </a:extLst>
          </p:cNvPr>
          <p:cNvSpPr txBox="1"/>
          <p:nvPr/>
        </p:nvSpPr>
        <p:spPr>
          <a:xfrm>
            <a:off x="6426200" y="3925455"/>
            <a:ext cx="2082800" cy="1754326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es-ES" sz="1200">
                <a:solidFill>
                  <a:srgbClr val="4B5563"/>
                </a:solidFill>
                <a:ea typeface="+mn-lt"/>
                <a:cs typeface="+mn-lt"/>
              </a:rPr>
              <a:t>La aplicación se empaquetó en un contenedor Docker. </a:t>
            </a:r>
            <a:endParaRPr lang="es-ES">
              <a:solidFill>
                <a:srgbClr val="FFFFFF"/>
              </a:solidFill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s-ES" sz="1200">
                <a:solidFill>
                  <a:srgbClr val="4B5563"/>
                </a:solidFill>
                <a:ea typeface="+mn-lt"/>
                <a:cs typeface="+mn-lt"/>
              </a:rPr>
              <a:t>El contenedor se ejecutó en una instancia EC2 de AWS. </a:t>
            </a:r>
            <a:endParaRPr lang="es-ES">
              <a:solidFill>
                <a:srgbClr val="FFFFFF"/>
              </a:solidFill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s-ES" sz="1200">
                <a:solidFill>
                  <a:srgbClr val="4B5563"/>
                </a:solidFill>
                <a:ea typeface="+mn-lt"/>
                <a:cs typeface="+mn-lt"/>
              </a:rPr>
              <a:t>El tablero quedó accesible desde una URL pública.</a:t>
            </a:r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9173688-B331-492C-9873-FD35EA9F0536}"/>
              </a:ext>
            </a:extLst>
          </p:cNvPr>
          <p:cNvSpPr/>
          <p:nvPr/>
        </p:nvSpPr>
        <p:spPr>
          <a:xfrm>
            <a:off x="8940800" y="2540000"/>
            <a:ext cx="2540000" cy="76200"/>
          </a:xfrm>
          <a:prstGeom prst="rect">
            <a:avLst/>
          </a:prstGeom>
          <a:solidFill>
            <a:srgbClr val="A8C8E5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DB5589E6-B0F8-4FFC-B4EC-1CE9F3E9F010}"/>
              </a:ext>
            </a:extLst>
          </p:cNvPr>
          <p:cNvSpPr/>
          <p:nvPr/>
        </p:nvSpPr>
        <p:spPr>
          <a:xfrm>
            <a:off x="8940800" y="2616200"/>
            <a:ext cx="2540000" cy="3098800"/>
          </a:xfrm>
          <a:prstGeom prst="rect">
            <a:avLst/>
          </a:prstGeom>
          <a:solidFill>
            <a:srgbClr val="F5F7FA"/>
          </a:solidFill>
          <a:ln w="15875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F264A94-7250-4514-B404-7164EBD21BBF}"/>
              </a:ext>
            </a:extLst>
          </p:cNvPr>
          <p:cNvSpPr txBox="1"/>
          <p:nvPr/>
        </p:nvSpPr>
        <p:spPr>
          <a:xfrm>
            <a:off x="9169400" y="2819400"/>
            <a:ext cx="127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>
                <a:solidFill>
                  <a:srgbClr val="A8C8E5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25ACA12-08AF-4F0E-9F28-108517871157}"/>
              </a:ext>
            </a:extLst>
          </p:cNvPr>
          <p:cNvSpPr txBox="1"/>
          <p:nvPr/>
        </p:nvSpPr>
        <p:spPr>
          <a:xfrm>
            <a:off x="9169400" y="3581400"/>
            <a:ext cx="20828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F2937"/>
                </a:solidFill>
              </a:rPr>
              <a:t>Mantenimiento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59EBCA2A-C3D4-4BA5-8101-4630FEF926F8}"/>
              </a:ext>
            </a:extLst>
          </p:cNvPr>
          <p:cNvSpPr txBox="1"/>
          <p:nvPr/>
        </p:nvSpPr>
        <p:spPr>
          <a:xfrm>
            <a:off x="9169400" y="3925455"/>
            <a:ext cx="2082800" cy="1938992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s-ES" sz="1200">
                <a:solidFill>
                  <a:srgbClr val="4B5563"/>
                </a:solidFill>
                <a:ea typeface="+mn-lt"/>
                <a:cs typeface="+mn-lt"/>
              </a:rPr>
              <a:t>Los cambios se actualizan desde GitHub. </a:t>
            </a:r>
            <a:endParaRPr lang="es-ES"/>
          </a:p>
          <a:p>
            <a:pPr marL="285750" indent="-285750">
              <a:buFont typeface="Arial"/>
              <a:buChar char="•"/>
            </a:pPr>
            <a:r>
              <a:rPr lang="es-ES" sz="1200">
                <a:solidFill>
                  <a:srgbClr val="4B5563"/>
                </a:solidFill>
                <a:ea typeface="+mn-lt"/>
                <a:cs typeface="+mn-lt"/>
              </a:rPr>
              <a:t>La imagen Docker se reconstruye tras cada cambio. </a:t>
            </a:r>
            <a:endParaRPr lang="es-ES"/>
          </a:p>
          <a:p>
            <a:pPr marL="285750" indent="-285750">
              <a:buFont typeface="Arial"/>
              <a:buChar char="•"/>
            </a:pPr>
            <a:r>
              <a:rPr lang="es-ES" sz="1200">
                <a:solidFill>
                  <a:srgbClr val="4B5563"/>
                </a:solidFill>
                <a:ea typeface="+mn-lt"/>
                <a:cs typeface="+mn-lt"/>
              </a:rPr>
              <a:t>El contenedor se reinicia para publicar la nueva versión.</a:t>
            </a:r>
            <a:endParaRPr lang="es-ES"/>
          </a:p>
          <a:p>
            <a:pPr algn="l"/>
            <a:endParaRPr lang="es-ES" sz="1200" dirty="0">
              <a:solidFill>
                <a:srgbClr val="4B55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1105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05011-03FC-652B-2538-4EAE68ABF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s-CO">
                <a:solidFill>
                  <a:srgbClr val="002060"/>
                </a:solidFill>
              </a:rPr>
              <a:t>Gracias!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52184FF-2A54-2175-CBF0-F08164C76EAE}"/>
              </a:ext>
            </a:extLst>
          </p:cNvPr>
          <p:cNvSpPr/>
          <p:nvPr/>
        </p:nvSpPr>
        <p:spPr>
          <a:xfrm>
            <a:off x="0" y="6582655"/>
            <a:ext cx="12192000" cy="28768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866093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table [1779721770161]">
  <a:themeElements>
    <a:clrScheme name="Azul cálido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1F4E8C"/>
      </a:accent1>
      <a:accent2>
        <a:srgbClr val="3B82C4"/>
      </a:accent2>
      <a:accent3>
        <a:srgbClr val="7BB3E0"/>
      </a:accent3>
      <a:accent4>
        <a:srgbClr val="A8D0EC"/>
      </a:accent4>
      <a:accent5>
        <a:srgbClr val="EFB251"/>
      </a:accent5>
      <a:accent6>
        <a:srgbClr val="EF755F"/>
      </a:accent6>
      <a:hlink>
        <a:srgbClr val="9454C3"/>
      </a:hlink>
      <a:folHlink>
        <a:srgbClr val="3EBBF0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381587_Win32_SL_v6" id="{5005B820-A0B7-49EA-8569-DCF0CD2DBB9D}" vid="{2E48C80D-E25D-44C4-BCFD-F1465E9B61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8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8710E57-A03B-4B58-AC8C-6DA909599096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b438b98c-1384-4ace-86b6-fcf3a8cfb345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bdcb1d6-9959-4866-ac5f-d407c1740622" xsi:nil="true"/>
    <_activity xmlns="9bdcb1d6-9959-4866-ac5f-d407c174062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6AD306E560F5D46AEC0D9DB27E01734" ma:contentTypeVersion="16" ma:contentTypeDescription="Crear nuevo documento." ma:contentTypeScope="" ma:versionID="345b85f47f9566ade75de2f77c41851a">
  <xsd:schema xmlns:xsd="http://www.w3.org/2001/XMLSchema" xmlns:xs="http://www.w3.org/2001/XMLSchema" xmlns:p="http://schemas.microsoft.com/office/2006/metadata/properties" xmlns:ns3="9bdcb1d6-9959-4866-ac5f-d407c1740622" xmlns:ns4="0ffe1cf2-44d4-4f0d-af60-d9de06ff6e98" targetNamespace="http://schemas.microsoft.com/office/2006/metadata/properties" ma:root="true" ma:fieldsID="56e38a9654152188a29e9a8fa3e2a6d7" ns3:_="" ns4:_="">
    <xsd:import namespace="9bdcb1d6-9959-4866-ac5f-d407c1740622"/>
    <xsd:import namespace="0ffe1cf2-44d4-4f0d-af60-d9de06ff6e9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dcb1d6-9959-4866-ac5f-d407c17406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fe1cf2-44d4-4f0d-af60-d9de06ff6e9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9F0C84-2C14-4FB8-88C2-9577181F2CC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ACCF44-01D5-4C40-9EAC-D3C3683409FE}">
  <ds:schemaRefs>
    <ds:schemaRef ds:uri="0ffe1cf2-44d4-4f0d-af60-d9de06ff6e98"/>
    <ds:schemaRef ds:uri="9bdcb1d6-9959-4866-ac5f-d407c174062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950E2A0-FD12-4D87-B989-EBF90796F804}">
  <ds:schemaRefs>
    <ds:schemaRef ds:uri="0ffe1cf2-44d4-4f0d-af60-d9de06ff6e98"/>
    <ds:schemaRef ds:uri="9bdcb1d6-9959-4866-ac5f-d407c174062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Panorámica</PresentationFormat>
  <Slides>18</Slides>
  <Notes>17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19" baseType="lpstr">
      <vt:lpstr>Citable [1779721770161]</vt:lpstr>
      <vt:lpstr>Análisis de Resultados Saber 11   Modelos predictivos para la Secretaría de Educación del Atlántico      Isabella Caputi ·       Sofía Vásquez ·       María Paula Ospina</vt:lpstr>
      <vt:lpstr>Agenda</vt:lpstr>
      <vt:lpstr> Contexto y Usuario final</vt:lpstr>
      <vt:lpstr>Presentación de PowerPoint</vt:lpstr>
      <vt:lpstr>Análisis Descriptivo y de Correlación</vt:lpstr>
      <vt:lpstr>Pregunta 1 Variables institucionales</vt:lpstr>
      <vt:lpstr>Modelo institucional          Red neuronal binaria (Saber 11 ≥ 300)</vt:lpstr>
      <vt:lpstr>Modelo institucional          Red neuronal binaria (Saber 11 ≥ 300)</vt:lpstr>
      <vt:lpstr>Pregunta 2 Variables familiares</vt:lpstr>
      <vt:lpstr>Modelo familiar                Red neuronal binaria (Saber 11 ≥ 300)</vt:lpstr>
      <vt:lpstr>Modelo familiar          Red neuronal binaria (Saber 11 ≥ 300)</vt:lpstr>
      <vt:lpstr>Pregunta 3 Modelo General</vt:lpstr>
      <vt:lpstr>Modelo General              Red neuronal de Regresión Lineal</vt:lpstr>
      <vt:lpstr>Modelo General              Red neuronal de Regresión </vt:lpstr>
      <vt:lpstr>Comparación de modelos: métricas obtenidas</vt:lpstr>
      <vt:lpstr>Tablero interactivo en Dash</vt:lpstr>
      <vt:lpstr>Despliegue y mantenimiento Ciclo de vida del modelo en producción</vt:lpstr>
      <vt:lpstr>Gracias!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Sofia Vasquez Toro</dc:creator>
  <cp:revision>1295</cp:revision>
  <dcterms:created xsi:type="dcterms:W3CDTF">2026-05-25T14:16:55Z</dcterms:created>
  <dcterms:modified xsi:type="dcterms:W3CDTF">2026-05-26T00:11:19Z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0x01010086AD306E560F5D46AEC0D9DB27E01734</vt:lpwstr>
  </property>
</Properties>
</file>